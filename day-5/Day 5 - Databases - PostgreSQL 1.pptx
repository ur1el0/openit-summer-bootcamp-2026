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4816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1</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Shape 5"/>
          <p:cNvSpPr/>
          <p:nvPr/>
        </p:nvSpPr>
        <p:spPr>
          <a:xfrm>
            <a:off x="320040" y="201168"/>
            <a:ext cx="6858000" cy="4617720"/>
          </a:xfrm>
          <a:prstGeom prst="roundRect">
            <a:avLst>
              <a:gd name="adj" fmla="val 3564"/>
            </a:avLst>
          </a:prstGeom>
          <a:solidFill>
            <a:srgbClr val="FFFFFF"/>
          </a:solidFill>
          <a:ln w="6350">
            <a:solidFill>
              <a:srgbClr val="E5E5E5"/>
            </a:solidFill>
            <a:prstDash val="solid"/>
          </a:ln>
        </p:spPr>
        <p:txBody>
          <a:bodyPr/>
          <a:lstStyle/>
          <a:p>
            <a:endParaRPr lang="en-PH"/>
          </a:p>
        </p:txBody>
      </p:sp>
      <p:sp>
        <p:nvSpPr>
          <p:cNvPr id="8" name="Shape 6"/>
          <p:cNvSpPr/>
          <p:nvPr/>
        </p:nvSpPr>
        <p:spPr>
          <a:xfrm>
            <a:off x="320040" y="201168"/>
            <a:ext cx="6858000" cy="73152"/>
          </a:xfrm>
          <a:prstGeom prst="rect">
            <a:avLst/>
          </a:prstGeom>
          <a:solidFill>
            <a:srgbClr val="CD172D"/>
          </a:solidFill>
          <a:ln/>
        </p:spPr>
        <p:txBody>
          <a:bodyPr/>
          <a:lstStyle/>
          <a:p>
            <a:endParaRPr lang="en-PH"/>
          </a:p>
        </p:txBody>
      </p:sp>
      <p:sp>
        <p:nvSpPr>
          <p:cNvPr id="9" name="Text 7"/>
          <p:cNvSpPr/>
          <p:nvPr/>
        </p:nvSpPr>
        <p:spPr>
          <a:xfrm>
            <a:off x="548640" y="420624"/>
            <a:ext cx="4572000" cy="201168"/>
          </a:xfrm>
          <a:prstGeom prst="rect">
            <a:avLst/>
          </a:prstGeom>
          <a:noFill/>
          <a:ln/>
        </p:spPr>
        <p:txBody>
          <a:bodyPr wrap="square" lIns="0" tIns="0" rIns="0" bIns="0" rtlCol="0" anchor="ctr"/>
          <a:lstStyle/>
          <a:p>
            <a:pPr marL="0" indent="0">
              <a:buNone/>
            </a:pPr>
            <a:r>
              <a:rPr lang="en-US" sz="1100" b="1" dirty="0">
                <a:solidFill>
                  <a:srgbClr val="404040"/>
                </a:solidFill>
                <a:latin typeface="Calibri" pitchFamily="34" charset="0"/>
                <a:ea typeface="Calibri" pitchFamily="34" charset="-122"/>
                <a:cs typeface="Calibri" pitchFamily="34" charset="-120"/>
              </a:rPr>
              <a:t>OPEN IT SUMMER</a:t>
            </a:r>
            <a:endParaRPr lang="en-US" sz="1100" dirty="0"/>
          </a:p>
        </p:txBody>
      </p:sp>
      <p:sp>
        <p:nvSpPr>
          <p:cNvPr id="10" name="Text 8"/>
          <p:cNvSpPr/>
          <p:nvPr/>
        </p:nvSpPr>
        <p:spPr>
          <a:xfrm>
            <a:off x="548640" y="603504"/>
            <a:ext cx="4572000" cy="475488"/>
          </a:xfrm>
          <a:prstGeom prst="rect">
            <a:avLst/>
          </a:prstGeom>
          <a:noFill/>
          <a:ln/>
        </p:spPr>
        <p:txBody>
          <a:bodyPr wrap="square" lIns="0" tIns="0" rIns="0" bIns="0" rtlCol="0" anchor="ctr"/>
          <a:lstStyle/>
          <a:p>
            <a:pPr marL="0" indent="0">
              <a:buNone/>
            </a:pPr>
            <a:r>
              <a:rPr lang="en-US" sz="2800" b="1" dirty="0">
                <a:solidFill>
                  <a:srgbClr val="CD172D"/>
                </a:solidFill>
                <a:latin typeface="Calibri Black" pitchFamily="34" charset="0"/>
                <a:ea typeface="Calibri Black" pitchFamily="34" charset="-122"/>
                <a:cs typeface="Calibri Black" pitchFamily="34" charset="-120"/>
              </a:rPr>
              <a:t>BOOTCAMP</a:t>
            </a:r>
            <a:endParaRPr lang="en-US" sz="2800" dirty="0"/>
          </a:p>
        </p:txBody>
      </p:sp>
      <p:sp>
        <p:nvSpPr>
          <p:cNvPr id="11" name="Shape 9"/>
          <p:cNvSpPr/>
          <p:nvPr/>
        </p:nvSpPr>
        <p:spPr>
          <a:xfrm>
            <a:off x="548640" y="1188720"/>
            <a:ext cx="1005840" cy="329184"/>
          </a:xfrm>
          <a:prstGeom prst="rect">
            <a:avLst/>
          </a:prstGeom>
          <a:solidFill>
            <a:srgbClr val="CD172D"/>
          </a:solidFill>
          <a:ln/>
        </p:spPr>
        <p:txBody>
          <a:bodyPr/>
          <a:lstStyle/>
          <a:p>
            <a:endParaRPr lang="en-PH"/>
          </a:p>
        </p:txBody>
      </p:sp>
      <p:sp>
        <p:nvSpPr>
          <p:cNvPr id="12" name="Text 10"/>
          <p:cNvSpPr/>
          <p:nvPr/>
        </p:nvSpPr>
        <p:spPr>
          <a:xfrm>
            <a:off x="548640" y="1188720"/>
            <a:ext cx="10058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DAY 6</a:t>
            </a:r>
            <a:endParaRPr lang="en-US" sz="1200" dirty="0"/>
          </a:p>
        </p:txBody>
      </p:sp>
      <p:sp>
        <p:nvSpPr>
          <p:cNvPr id="13" name="Text 11"/>
          <p:cNvSpPr/>
          <p:nvPr/>
        </p:nvSpPr>
        <p:spPr>
          <a:xfrm>
            <a:off x="548640" y="1627632"/>
            <a:ext cx="6217920" cy="1508760"/>
          </a:xfrm>
          <a:prstGeom prst="rect">
            <a:avLst/>
          </a:prstGeom>
          <a:noFill/>
          <a:ln/>
        </p:spPr>
        <p:txBody>
          <a:bodyPr wrap="square" lIns="0" tIns="0" rIns="0" bIns="0" rtlCol="0" anchor="ctr"/>
          <a:lstStyle/>
          <a:p>
            <a:pPr marL="0" indent="0">
              <a:buNone/>
            </a:pPr>
            <a:r>
              <a:rPr lang="en-US" sz="3400" b="1" dirty="0">
                <a:solidFill>
                  <a:srgbClr val="0E0F30"/>
                </a:solidFill>
                <a:latin typeface="Calibri Black" pitchFamily="34" charset="0"/>
                <a:ea typeface="Calibri Black" pitchFamily="34" charset="-122"/>
                <a:cs typeface="Calibri Black" pitchFamily="34" charset="-120"/>
              </a:rPr>
              <a:t>Databases &amp;</a:t>
            </a:r>
            <a:endParaRPr lang="en-US" sz="3400" dirty="0"/>
          </a:p>
          <a:p>
            <a:pPr marL="0" indent="0">
              <a:buNone/>
            </a:pPr>
            <a:r>
              <a:rPr lang="en-US" sz="3400" b="1" dirty="0">
                <a:solidFill>
                  <a:srgbClr val="0E0F30"/>
                </a:solidFill>
                <a:latin typeface="Calibri Black" pitchFamily="34" charset="0"/>
                <a:ea typeface="Calibri Black" pitchFamily="34" charset="-122"/>
                <a:cs typeface="Calibri Black" pitchFamily="34" charset="-120"/>
              </a:rPr>
              <a:t>PostgreSQL</a:t>
            </a:r>
            <a:endParaRPr lang="en-US" sz="3400" dirty="0"/>
          </a:p>
        </p:txBody>
      </p:sp>
      <p:sp>
        <p:nvSpPr>
          <p:cNvPr id="14" name="Text 12"/>
          <p:cNvSpPr/>
          <p:nvPr/>
        </p:nvSpPr>
        <p:spPr>
          <a:xfrm>
            <a:off x="548640" y="3246120"/>
            <a:ext cx="621792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Relational Model • Schema Design • SQL • JOINs • Indexes • Normalization</a:t>
            </a:r>
            <a:endParaRPr lang="en-US" sz="1100" dirty="0"/>
          </a:p>
        </p:txBody>
      </p:sp>
      <p:sp>
        <p:nvSpPr>
          <p:cNvPr id="15" name="Text 13"/>
          <p:cNvSpPr/>
          <p:nvPr/>
        </p:nvSpPr>
        <p:spPr>
          <a:xfrm>
            <a:off x="548640" y="3566160"/>
            <a:ext cx="6217920" cy="256032"/>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Duration: ~2 hrs  |  PostgreSQL setup → Schema → Queries → pgAdmin testing</a:t>
            </a:r>
            <a:endParaRPr lang="en-US" sz="1050" dirty="0"/>
          </a:p>
        </p:txBody>
      </p:sp>
      <p:sp>
        <p:nvSpPr>
          <p:cNvPr id="16" name="Shape 14"/>
          <p:cNvSpPr/>
          <p:nvPr/>
        </p:nvSpPr>
        <p:spPr>
          <a:xfrm>
            <a:off x="548640" y="3931920"/>
            <a:ext cx="6217920" cy="566928"/>
          </a:xfrm>
          <a:prstGeom prst="rect">
            <a:avLst/>
          </a:prstGeom>
          <a:solidFill>
            <a:srgbClr val="F5F5F5"/>
          </a:solidFill>
          <a:ln w="6350">
            <a:solidFill>
              <a:srgbClr val="E0E0E0"/>
            </a:solidFill>
            <a:prstDash val="solid"/>
          </a:ln>
        </p:spPr>
        <p:txBody>
          <a:bodyPr/>
          <a:lstStyle/>
          <a:p>
            <a:endParaRPr lang="en-PH"/>
          </a:p>
        </p:txBody>
      </p:sp>
      <p:sp>
        <p:nvSpPr>
          <p:cNvPr id="17" name="Text 15"/>
          <p:cNvSpPr/>
          <p:nvPr/>
        </p:nvSpPr>
        <p:spPr>
          <a:xfrm>
            <a:off x="685800" y="3959352"/>
            <a:ext cx="5943600" cy="201168"/>
          </a:xfrm>
          <a:prstGeom prst="rect">
            <a:avLst/>
          </a:prstGeom>
          <a:noFill/>
          <a:ln/>
        </p:spPr>
        <p:txBody>
          <a:bodyPr wrap="square" lIns="0" tIns="0" rIns="0" bIns="0" rtlCol="0" anchor="ctr"/>
          <a:lstStyle/>
          <a:p>
            <a:pPr marL="0" indent="0">
              <a:buNone/>
            </a:pPr>
            <a:r>
              <a:rPr lang="en-US" sz="1000" b="1" dirty="0">
                <a:solidFill>
                  <a:srgbClr val="0E0F30"/>
                </a:solidFill>
                <a:latin typeface="Calibri" pitchFamily="34" charset="0"/>
                <a:ea typeface="Calibri" pitchFamily="34" charset="-122"/>
                <a:cs typeface="Calibri" pitchFamily="34" charset="-120"/>
              </a:rPr>
              <a:t>🗺  Bootcamp Roadmap — Where Day 6 Fits</a:t>
            </a:r>
            <a:endParaRPr lang="en-US" sz="1000" dirty="0"/>
          </a:p>
        </p:txBody>
      </p:sp>
      <p:sp>
        <p:nvSpPr>
          <p:cNvPr id="18" name="Text 16"/>
          <p:cNvSpPr/>
          <p:nvPr/>
        </p:nvSpPr>
        <p:spPr>
          <a:xfrm>
            <a:off x="685800" y="4160520"/>
            <a:ext cx="5943600" cy="25603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Day 2: C# + API (static list)  →  Day 6: DB concepts + SQL  →  Day 7: EF Core connects your API to PostgreSQL</a:t>
            </a:r>
            <a:endParaRPr lang="en-US" sz="900" dirty="0"/>
          </a:p>
        </p:txBody>
      </p:sp>
      <p:sp>
        <p:nvSpPr>
          <p:cNvPr id="19" name="Shape 17"/>
          <p:cNvSpPr/>
          <p:nvPr/>
        </p:nvSpPr>
        <p:spPr>
          <a:xfrm>
            <a:off x="7452360" y="118872"/>
            <a:ext cx="1691640" cy="4773168"/>
          </a:xfrm>
          <a:prstGeom prst="rect">
            <a:avLst/>
          </a:prstGeom>
          <a:solidFill>
            <a:srgbClr val="CD172D"/>
          </a:solidFill>
          <a:ln/>
        </p:spPr>
        <p:txBody>
          <a:bodyPr/>
          <a:lstStyle/>
          <a:p>
            <a:endParaRPr lang="en-PH"/>
          </a:p>
        </p:txBody>
      </p:sp>
      <p:sp>
        <p:nvSpPr>
          <p:cNvPr id="20" name="Text 18"/>
          <p:cNvSpPr/>
          <p:nvPr/>
        </p:nvSpPr>
        <p:spPr>
          <a:xfrm rot="16200000">
            <a:off x="7223760" y="1371600"/>
            <a:ext cx="2103120" cy="1371600"/>
          </a:xfrm>
          <a:prstGeom prst="rect">
            <a:avLst/>
          </a:prstGeom>
          <a:noFill/>
          <a:ln/>
        </p:spPr>
        <p:txBody>
          <a:bodyPr wrap="square" lIns="0" tIns="0" rIns="0" bIns="0" rtlCol="0" anchor="ctr"/>
          <a:lstStyle/>
          <a:p>
            <a:pPr marL="0" indent="0" algn="ctr">
              <a:buNone/>
            </a:pPr>
            <a:r>
              <a:rPr lang="en-US" sz="800" b="1" dirty="0">
                <a:solidFill>
                  <a:srgbClr val="FFAAAA"/>
                </a:solidFill>
                <a:latin typeface="Calibri" pitchFamily="34" charset="0"/>
                <a:ea typeface="Calibri" pitchFamily="34" charset="-122"/>
                <a:cs typeface="Calibri" pitchFamily="34" charset="-120"/>
              </a:rPr>
              <a:t>DATABASES &amp; POSTGRESQL</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2</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Shape 5"/>
          <p:cNvSpPr/>
          <p:nvPr/>
        </p:nvSpPr>
        <p:spPr>
          <a:xfrm>
            <a:off x="0" y="0"/>
            <a:ext cx="2926080" cy="5143500"/>
          </a:xfrm>
          <a:prstGeom prst="rect">
            <a:avLst/>
          </a:prstGeom>
          <a:solidFill>
            <a:srgbClr val="CD172D"/>
          </a:solidFill>
          <a:ln/>
        </p:spPr>
        <p:txBody>
          <a:bodyPr/>
          <a:lstStyle/>
          <a:p>
            <a:endParaRPr lang="en-PH"/>
          </a:p>
        </p:txBody>
      </p:sp>
      <p:sp>
        <p:nvSpPr>
          <p:cNvPr id="8" name="Shape 6"/>
          <p:cNvSpPr/>
          <p:nvPr/>
        </p:nvSpPr>
        <p:spPr>
          <a:xfrm>
            <a:off x="0" y="0"/>
            <a:ext cx="2926080" cy="9144"/>
          </a:xfrm>
          <a:prstGeom prst="rect">
            <a:avLst/>
          </a:prstGeom>
          <a:solidFill>
            <a:srgbClr val="9B1120"/>
          </a:solidFill>
          <a:ln/>
        </p:spPr>
        <p:txBody>
          <a:bodyPr/>
          <a:lstStyle/>
          <a:p>
            <a:endParaRPr lang="en-PH"/>
          </a:p>
        </p:txBody>
      </p:sp>
      <p:sp>
        <p:nvSpPr>
          <p:cNvPr id="9" name="Shape 7"/>
          <p:cNvSpPr/>
          <p:nvPr/>
        </p:nvSpPr>
        <p:spPr>
          <a:xfrm>
            <a:off x="0" y="182880"/>
            <a:ext cx="2926080" cy="9144"/>
          </a:xfrm>
          <a:prstGeom prst="rect">
            <a:avLst/>
          </a:prstGeom>
          <a:solidFill>
            <a:srgbClr val="9B1120"/>
          </a:solidFill>
          <a:ln/>
        </p:spPr>
        <p:txBody>
          <a:bodyPr/>
          <a:lstStyle/>
          <a:p>
            <a:endParaRPr lang="en-PH"/>
          </a:p>
        </p:txBody>
      </p:sp>
      <p:sp>
        <p:nvSpPr>
          <p:cNvPr id="10" name="Shape 8"/>
          <p:cNvSpPr/>
          <p:nvPr/>
        </p:nvSpPr>
        <p:spPr>
          <a:xfrm>
            <a:off x="0" y="365760"/>
            <a:ext cx="2926080" cy="9144"/>
          </a:xfrm>
          <a:prstGeom prst="rect">
            <a:avLst/>
          </a:prstGeom>
          <a:solidFill>
            <a:srgbClr val="9B1120"/>
          </a:solidFill>
          <a:ln/>
        </p:spPr>
        <p:txBody>
          <a:bodyPr/>
          <a:lstStyle/>
          <a:p>
            <a:endParaRPr lang="en-PH"/>
          </a:p>
        </p:txBody>
      </p:sp>
      <p:sp>
        <p:nvSpPr>
          <p:cNvPr id="11" name="Shape 9"/>
          <p:cNvSpPr/>
          <p:nvPr/>
        </p:nvSpPr>
        <p:spPr>
          <a:xfrm>
            <a:off x="0" y="548640"/>
            <a:ext cx="2926080" cy="9144"/>
          </a:xfrm>
          <a:prstGeom prst="rect">
            <a:avLst/>
          </a:prstGeom>
          <a:solidFill>
            <a:srgbClr val="9B1120"/>
          </a:solidFill>
          <a:ln/>
        </p:spPr>
        <p:txBody>
          <a:bodyPr/>
          <a:lstStyle/>
          <a:p>
            <a:endParaRPr lang="en-PH"/>
          </a:p>
        </p:txBody>
      </p:sp>
      <p:sp>
        <p:nvSpPr>
          <p:cNvPr id="12" name="Shape 10"/>
          <p:cNvSpPr/>
          <p:nvPr/>
        </p:nvSpPr>
        <p:spPr>
          <a:xfrm>
            <a:off x="0" y="731520"/>
            <a:ext cx="2926080" cy="9144"/>
          </a:xfrm>
          <a:prstGeom prst="rect">
            <a:avLst/>
          </a:prstGeom>
          <a:solidFill>
            <a:srgbClr val="9B1120"/>
          </a:solidFill>
          <a:ln/>
        </p:spPr>
        <p:txBody>
          <a:bodyPr/>
          <a:lstStyle/>
          <a:p>
            <a:endParaRPr lang="en-PH"/>
          </a:p>
        </p:txBody>
      </p:sp>
      <p:sp>
        <p:nvSpPr>
          <p:cNvPr id="13" name="Shape 11"/>
          <p:cNvSpPr/>
          <p:nvPr/>
        </p:nvSpPr>
        <p:spPr>
          <a:xfrm>
            <a:off x="0" y="914400"/>
            <a:ext cx="2926080" cy="9144"/>
          </a:xfrm>
          <a:prstGeom prst="rect">
            <a:avLst/>
          </a:prstGeom>
          <a:solidFill>
            <a:srgbClr val="9B1120"/>
          </a:solidFill>
          <a:ln/>
        </p:spPr>
        <p:txBody>
          <a:bodyPr/>
          <a:lstStyle/>
          <a:p>
            <a:endParaRPr lang="en-PH"/>
          </a:p>
        </p:txBody>
      </p:sp>
      <p:sp>
        <p:nvSpPr>
          <p:cNvPr id="14" name="Shape 12"/>
          <p:cNvSpPr/>
          <p:nvPr/>
        </p:nvSpPr>
        <p:spPr>
          <a:xfrm>
            <a:off x="0" y="1097280"/>
            <a:ext cx="2926080" cy="9144"/>
          </a:xfrm>
          <a:prstGeom prst="rect">
            <a:avLst/>
          </a:prstGeom>
          <a:solidFill>
            <a:srgbClr val="9B1120"/>
          </a:solidFill>
          <a:ln/>
        </p:spPr>
        <p:txBody>
          <a:bodyPr/>
          <a:lstStyle/>
          <a:p>
            <a:endParaRPr lang="en-PH"/>
          </a:p>
        </p:txBody>
      </p:sp>
      <p:sp>
        <p:nvSpPr>
          <p:cNvPr id="15" name="Shape 13"/>
          <p:cNvSpPr/>
          <p:nvPr/>
        </p:nvSpPr>
        <p:spPr>
          <a:xfrm>
            <a:off x="0" y="1280160"/>
            <a:ext cx="2926080" cy="9144"/>
          </a:xfrm>
          <a:prstGeom prst="rect">
            <a:avLst/>
          </a:prstGeom>
          <a:solidFill>
            <a:srgbClr val="9B1120"/>
          </a:solidFill>
          <a:ln/>
        </p:spPr>
        <p:txBody>
          <a:bodyPr/>
          <a:lstStyle/>
          <a:p>
            <a:endParaRPr lang="en-PH"/>
          </a:p>
        </p:txBody>
      </p:sp>
      <p:sp>
        <p:nvSpPr>
          <p:cNvPr id="16" name="Shape 14"/>
          <p:cNvSpPr/>
          <p:nvPr/>
        </p:nvSpPr>
        <p:spPr>
          <a:xfrm>
            <a:off x="0" y="1463040"/>
            <a:ext cx="2926080" cy="9144"/>
          </a:xfrm>
          <a:prstGeom prst="rect">
            <a:avLst/>
          </a:prstGeom>
          <a:solidFill>
            <a:srgbClr val="9B1120"/>
          </a:solidFill>
          <a:ln/>
        </p:spPr>
        <p:txBody>
          <a:bodyPr/>
          <a:lstStyle/>
          <a:p>
            <a:endParaRPr lang="en-PH"/>
          </a:p>
        </p:txBody>
      </p:sp>
      <p:sp>
        <p:nvSpPr>
          <p:cNvPr id="17" name="Shape 15"/>
          <p:cNvSpPr/>
          <p:nvPr/>
        </p:nvSpPr>
        <p:spPr>
          <a:xfrm>
            <a:off x="0" y="1645920"/>
            <a:ext cx="2926080" cy="9144"/>
          </a:xfrm>
          <a:prstGeom prst="rect">
            <a:avLst/>
          </a:prstGeom>
          <a:solidFill>
            <a:srgbClr val="9B1120"/>
          </a:solidFill>
          <a:ln/>
        </p:spPr>
        <p:txBody>
          <a:bodyPr/>
          <a:lstStyle/>
          <a:p>
            <a:endParaRPr lang="en-PH"/>
          </a:p>
        </p:txBody>
      </p:sp>
      <p:sp>
        <p:nvSpPr>
          <p:cNvPr id="18" name="Shape 16"/>
          <p:cNvSpPr/>
          <p:nvPr/>
        </p:nvSpPr>
        <p:spPr>
          <a:xfrm>
            <a:off x="0" y="1828800"/>
            <a:ext cx="2926080" cy="9144"/>
          </a:xfrm>
          <a:prstGeom prst="rect">
            <a:avLst/>
          </a:prstGeom>
          <a:solidFill>
            <a:srgbClr val="9B1120"/>
          </a:solidFill>
          <a:ln/>
        </p:spPr>
        <p:txBody>
          <a:bodyPr/>
          <a:lstStyle/>
          <a:p>
            <a:endParaRPr lang="en-PH"/>
          </a:p>
        </p:txBody>
      </p:sp>
      <p:sp>
        <p:nvSpPr>
          <p:cNvPr id="19" name="Shape 17"/>
          <p:cNvSpPr/>
          <p:nvPr/>
        </p:nvSpPr>
        <p:spPr>
          <a:xfrm>
            <a:off x="0" y="2011680"/>
            <a:ext cx="2926080" cy="9144"/>
          </a:xfrm>
          <a:prstGeom prst="rect">
            <a:avLst/>
          </a:prstGeom>
          <a:solidFill>
            <a:srgbClr val="9B1120"/>
          </a:solidFill>
          <a:ln/>
        </p:spPr>
        <p:txBody>
          <a:bodyPr/>
          <a:lstStyle/>
          <a:p>
            <a:endParaRPr lang="en-PH"/>
          </a:p>
        </p:txBody>
      </p:sp>
      <p:sp>
        <p:nvSpPr>
          <p:cNvPr id="20" name="Shape 18"/>
          <p:cNvSpPr/>
          <p:nvPr/>
        </p:nvSpPr>
        <p:spPr>
          <a:xfrm>
            <a:off x="0" y="2194560"/>
            <a:ext cx="2926080" cy="9144"/>
          </a:xfrm>
          <a:prstGeom prst="rect">
            <a:avLst/>
          </a:prstGeom>
          <a:solidFill>
            <a:srgbClr val="9B1120"/>
          </a:solidFill>
          <a:ln/>
        </p:spPr>
        <p:txBody>
          <a:bodyPr/>
          <a:lstStyle/>
          <a:p>
            <a:endParaRPr lang="en-PH"/>
          </a:p>
        </p:txBody>
      </p:sp>
      <p:sp>
        <p:nvSpPr>
          <p:cNvPr id="21" name="Shape 19"/>
          <p:cNvSpPr/>
          <p:nvPr/>
        </p:nvSpPr>
        <p:spPr>
          <a:xfrm>
            <a:off x="0" y="2377440"/>
            <a:ext cx="2926080" cy="9144"/>
          </a:xfrm>
          <a:prstGeom prst="rect">
            <a:avLst/>
          </a:prstGeom>
          <a:solidFill>
            <a:srgbClr val="9B1120"/>
          </a:solidFill>
          <a:ln/>
        </p:spPr>
        <p:txBody>
          <a:bodyPr/>
          <a:lstStyle/>
          <a:p>
            <a:endParaRPr lang="en-PH"/>
          </a:p>
        </p:txBody>
      </p:sp>
      <p:sp>
        <p:nvSpPr>
          <p:cNvPr id="22" name="Shape 20"/>
          <p:cNvSpPr/>
          <p:nvPr/>
        </p:nvSpPr>
        <p:spPr>
          <a:xfrm>
            <a:off x="0" y="2560320"/>
            <a:ext cx="2926080" cy="9144"/>
          </a:xfrm>
          <a:prstGeom prst="rect">
            <a:avLst/>
          </a:prstGeom>
          <a:solidFill>
            <a:srgbClr val="9B1120"/>
          </a:solidFill>
          <a:ln/>
        </p:spPr>
        <p:txBody>
          <a:bodyPr/>
          <a:lstStyle/>
          <a:p>
            <a:endParaRPr lang="en-PH"/>
          </a:p>
        </p:txBody>
      </p:sp>
      <p:sp>
        <p:nvSpPr>
          <p:cNvPr id="23" name="Shape 21"/>
          <p:cNvSpPr/>
          <p:nvPr/>
        </p:nvSpPr>
        <p:spPr>
          <a:xfrm>
            <a:off x="0" y="2743200"/>
            <a:ext cx="2926080" cy="9144"/>
          </a:xfrm>
          <a:prstGeom prst="rect">
            <a:avLst/>
          </a:prstGeom>
          <a:solidFill>
            <a:srgbClr val="9B1120"/>
          </a:solidFill>
          <a:ln/>
        </p:spPr>
        <p:txBody>
          <a:bodyPr/>
          <a:lstStyle/>
          <a:p>
            <a:endParaRPr lang="en-PH"/>
          </a:p>
        </p:txBody>
      </p:sp>
      <p:sp>
        <p:nvSpPr>
          <p:cNvPr id="24" name="Shape 22"/>
          <p:cNvSpPr/>
          <p:nvPr/>
        </p:nvSpPr>
        <p:spPr>
          <a:xfrm>
            <a:off x="0" y="2926080"/>
            <a:ext cx="2926080" cy="9144"/>
          </a:xfrm>
          <a:prstGeom prst="rect">
            <a:avLst/>
          </a:prstGeom>
          <a:solidFill>
            <a:srgbClr val="9B1120"/>
          </a:solidFill>
          <a:ln/>
        </p:spPr>
        <p:txBody>
          <a:bodyPr/>
          <a:lstStyle/>
          <a:p>
            <a:endParaRPr lang="en-PH"/>
          </a:p>
        </p:txBody>
      </p:sp>
      <p:sp>
        <p:nvSpPr>
          <p:cNvPr id="25" name="Shape 23"/>
          <p:cNvSpPr/>
          <p:nvPr/>
        </p:nvSpPr>
        <p:spPr>
          <a:xfrm>
            <a:off x="0" y="3108960"/>
            <a:ext cx="2926080" cy="9144"/>
          </a:xfrm>
          <a:prstGeom prst="rect">
            <a:avLst/>
          </a:prstGeom>
          <a:solidFill>
            <a:srgbClr val="9B1120"/>
          </a:solidFill>
          <a:ln/>
        </p:spPr>
        <p:txBody>
          <a:bodyPr/>
          <a:lstStyle/>
          <a:p>
            <a:endParaRPr lang="en-PH"/>
          </a:p>
        </p:txBody>
      </p:sp>
      <p:sp>
        <p:nvSpPr>
          <p:cNvPr id="26" name="Shape 24"/>
          <p:cNvSpPr/>
          <p:nvPr/>
        </p:nvSpPr>
        <p:spPr>
          <a:xfrm>
            <a:off x="0" y="3291840"/>
            <a:ext cx="2926080" cy="9144"/>
          </a:xfrm>
          <a:prstGeom prst="rect">
            <a:avLst/>
          </a:prstGeom>
          <a:solidFill>
            <a:srgbClr val="9B1120"/>
          </a:solidFill>
          <a:ln/>
        </p:spPr>
        <p:txBody>
          <a:bodyPr/>
          <a:lstStyle/>
          <a:p>
            <a:endParaRPr lang="en-PH"/>
          </a:p>
        </p:txBody>
      </p:sp>
      <p:sp>
        <p:nvSpPr>
          <p:cNvPr id="27" name="Shape 25"/>
          <p:cNvSpPr/>
          <p:nvPr/>
        </p:nvSpPr>
        <p:spPr>
          <a:xfrm>
            <a:off x="0" y="3474720"/>
            <a:ext cx="2926080" cy="9144"/>
          </a:xfrm>
          <a:prstGeom prst="rect">
            <a:avLst/>
          </a:prstGeom>
          <a:solidFill>
            <a:srgbClr val="9B1120"/>
          </a:solidFill>
          <a:ln/>
        </p:spPr>
        <p:txBody>
          <a:bodyPr/>
          <a:lstStyle/>
          <a:p>
            <a:endParaRPr lang="en-PH"/>
          </a:p>
        </p:txBody>
      </p:sp>
      <p:sp>
        <p:nvSpPr>
          <p:cNvPr id="28" name="Shape 26"/>
          <p:cNvSpPr/>
          <p:nvPr/>
        </p:nvSpPr>
        <p:spPr>
          <a:xfrm>
            <a:off x="0" y="3657600"/>
            <a:ext cx="2926080" cy="9144"/>
          </a:xfrm>
          <a:prstGeom prst="rect">
            <a:avLst/>
          </a:prstGeom>
          <a:solidFill>
            <a:srgbClr val="9B1120"/>
          </a:solidFill>
          <a:ln/>
        </p:spPr>
        <p:txBody>
          <a:bodyPr/>
          <a:lstStyle/>
          <a:p>
            <a:endParaRPr lang="en-PH"/>
          </a:p>
        </p:txBody>
      </p:sp>
      <p:sp>
        <p:nvSpPr>
          <p:cNvPr id="29" name="Shape 27"/>
          <p:cNvSpPr/>
          <p:nvPr/>
        </p:nvSpPr>
        <p:spPr>
          <a:xfrm>
            <a:off x="0" y="3840480"/>
            <a:ext cx="2926080" cy="9144"/>
          </a:xfrm>
          <a:prstGeom prst="rect">
            <a:avLst/>
          </a:prstGeom>
          <a:solidFill>
            <a:srgbClr val="9B1120"/>
          </a:solidFill>
          <a:ln/>
        </p:spPr>
        <p:txBody>
          <a:bodyPr/>
          <a:lstStyle/>
          <a:p>
            <a:endParaRPr lang="en-PH"/>
          </a:p>
        </p:txBody>
      </p:sp>
      <p:sp>
        <p:nvSpPr>
          <p:cNvPr id="30" name="Shape 28"/>
          <p:cNvSpPr/>
          <p:nvPr/>
        </p:nvSpPr>
        <p:spPr>
          <a:xfrm>
            <a:off x="0" y="4023360"/>
            <a:ext cx="2926080" cy="9144"/>
          </a:xfrm>
          <a:prstGeom prst="rect">
            <a:avLst/>
          </a:prstGeom>
          <a:solidFill>
            <a:srgbClr val="9B1120"/>
          </a:solidFill>
          <a:ln/>
        </p:spPr>
        <p:txBody>
          <a:bodyPr/>
          <a:lstStyle/>
          <a:p>
            <a:endParaRPr lang="en-PH"/>
          </a:p>
        </p:txBody>
      </p:sp>
      <p:sp>
        <p:nvSpPr>
          <p:cNvPr id="31" name="Shape 29"/>
          <p:cNvSpPr/>
          <p:nvPr/>
        </p:nvSpPr>
        <p:spPr>
          <a:xfrm>
            <a:off x="0" y="4206240"/>
            <a:ext cx="2926080" cy="9144"/>
          </a:xfrm>
          <a:prstGeom prst="rect">
            <a:avLst/>
          </a:prstGeom>
          <a:solidFill>
            <a:srgbClr val="9B1120"/>
          </a:solidFill>
          <a:ln/>
        </p:spPr>
        <p:txBody>
          <a:bodyPr/>
          <a:lstStyle/>
          <a:p>
            <a:endParaRPr lang="en-PH"/>
          </a:p>
        </p:txBody>
      </p:sp>
      <p:sp>
        <p:nvSpPr>
          <p:cNvPr id="32" name="Shape 30"/>
          <p:cNvSpPr/>
          <p:nvPr/>
        </p:nvSpPr>
        <p:spPr>
          <a:xfrm>
            <a:off x="0" y="4389120"/>
            <a:ext cx="2926080" cy="9144"/>
          </a:xfrm>
          <a:prstGeom prst="rect">
            <a:avLst/>
          </a:prstGeom>
          <a:solidFill>
            <a:srgbClr val="9B1120"/>
          </a:solidFill>
          <a:ln/>
        </p:spPr>
        <p:txBody>
          <a:bodyPr/>
          <a:lstStyle/>
          <a:p>
            <a:endParaRPr lang="en-PH"/>
          </a:p>
        </p:txBody>
      </p:sp>
      <p:sp>
        <p:nvSpPr>
          <p:cNvPr id="33" name="Shape 31"/>
          <p:cNvSpPr/>
          <p:nvPr/>
        </p:nvSpPr>
        <p:spPr>
          <a:xfrm>
            <a:off x="0" y="4572000"/>
            <a:ext cx="2926080" cy="9144"/>
          </a:xfrm>
          <a:prstGeom prst="rect">
            <a:avLst/>
          </a:prstGeom>
          <a:solidFill>
            <a:srgbClr val="9B1120"/>
          </a:solidFill>
          <a:ln/>
        </p:spPr>
        <p:txBody>
          <a:bodyPr/>
          <a:lstStyle/>
          <a:p>
            <a:endParaRPr lang="en-PH"/>
          </a:p>
        </p:txBody>
      </p:sp>
      <p:sp>
        <p:nvSpPr>
          <p:cNvPr id="34" name="Shape 32"/>
          <p:cNvSpPr/>
          <p:nvPr/>
        </p:nvSpPr>
        <p:spPr>
          <a:xfrm>
            <a:off x="0" y="4754880"/>
            <a:ext cx="2926080" cy="9144"/>
          </a:xfrm>
          <a:prstGeom prst="rect">
            <a:avLst/>
          </a:prstGeom>
          <a:solidFill>
            <a:srgbClr val="9B1120"/>
          </a:solidFill>
          <a:ln/>
        </p:spPr>
        <p:txBody>
          <a:bodyPr/>
          <a:lstStyle/>
          <a:p>
            <a:endParaRPr lang="en-PH"/>
          </a:p>
        </p:txBody>
      </p:sp>
      <p:sp>
        <p:nvSpPr>
          <p:cNvPr id="35" name="Shape 33"/>
          <p:cNvSpPr/>
          <p:nvPr/>
        </p:nvSpPr>
        <p:spPr>
          <a:xfrm>
            <a:off x="0" y="4937760"/>
            <a:ext cx="2926080" cy="9144"/>
          </a:xfrm>
          <a:prstGeom prst="rect">
            <a:avLst/>
          </a:prstGeom>
          <a:solidFill>
            <a:srgbClr val="9B1120"/>
          </a:solidFill>
          <a:ln/>
        </p:spPr>
        <p:txBody>
          <a:bodyPr/>
          <a:lstStyle/>
          <a:p>
            <a:endParaRPr lang="en-PH"/>
          </a:p>
        </p:txBody>
      </p:sp>
      <p:sp>
        <p:nvSpPr>
          <p:cNvPr id="36" name="Text 34"/>
          <p:cNvSpPr/>
          <p:nvPr/>
        </p:nvSpPr>
        <p:spPr>
          <a:xfrm>
            <a:off x="182880" y="640080"/>
            <a:ext cx="2606040" cy="1097280"/>
          </a:xfrm>
          <a:prstGeom prst="rect">
            <a:avLst/>
          </a:prstGeom>
          <a:noFill/>
          <a:ln/>
        </p:spPr>
        <p:txBody>
          <a:bodyPr wrap="square" lIns="0" tIns="0" rIns="0" bIns="0" rtlCol="0" anchor="ctr"/>
          <a:lstStyle/>
          <a:p>
            <a:pPr marL="0" indent="0">
              <a:buNone/>
            </a:pPr>
            <a:r>
              <a:rPr lang="en-US" sz="2700" b="1" dirty="0">
                <a:solidFill>
                  <a:srgbClr val="FFFFFF"/>
                </a:solidFill>
                <a:latin typeface="Calibri Black" pitchFamily="34" charset="0"/>
                <a:ea typeface="Calibri Black" pitchFamily="34" charset="-122"/>
                <a:cs typeface="Calibri Black" pitchFamily="34" charset="-120"/>
              </a:rPr>
              <a:t>Session</a:t>
            </a:r>
            <a:endParaRPr lang="en-US" sz="2700" dirty="0"/>
          </a:p>
          <a:p>
            <a:pPr marL="0" indent="0">
              <a:buNone/>
            </a:pPr>
            <a:r>
              <a:rPr lang="en-US" sz="2700" b="1" dirty="0">
                <a:solidFill>
                  <a:srgbClr val="FFFFFF"/>
                </a:solidFill>
                <a:latin typeface="Calibri Black" pitchFamily="34" charset="0"/>
                <a:ea typeface="Calibri Black" pitchFamily="34" charset="-122"/>
                <a:cs typeface="Calibri Black" pitchFamily="34" charset="-120"/>
              </a:rPr>
              <a:t>Overview</a:t>
            </a:r>
            <a:endParaRPr lang="en-US" sz="2700" dirty="0"/>
          </a:p>
        </p:txBody>
      </p:sp>
      <p:sp>
        <p:nvSpPr>
          <p:cNvPr id="37" name="Text 35"/>
          <p:cNvSpPr/>
          <p:nvPr/>
        </p:nvSpPr>
        <p:spPr>
          <a:xfrm>
            <a:off x="201168" y="4526280"/>
            <a:ext cx="2560320" cy="228600"/>
          </a:xfrm>
          <a:prstGeom prst="rect">
            <a:avLst/>
          </a:prstGeom>
          <a:noFill/>
          <a:ln/>
        </p:spPr>
        <p:txBody>
          <a:bodyPr wrap="square" lIns="0" tIns="0" rIns="0" bIns="0" rtlCol="0" anchor="ctr"/>
          <a:lstStyle/>
          <a:p>
            <a:pPr marL="0" indent="0">
              <a:buNone/>
            </a:pPr>
            <a:r>
              <a:rPr lang="en-US" sz="950" i="1" dirty="0">
                <a:solidFill>
                  <a:srgbClr val="FFAAAA"/>
                </a:solidFill>
                <a:latin typeface="Calibri" pitchFamily="34" charset="0"/>
                <a:ea typeface="Calibri" pitchFamily="34" charset="-122"/>
                <a:cs typeface="Calibri" pitchFamily="34" charset="-120"/>
              </a:rPr>
              <a:t>Day 6 of 15</a:t>
            </a:r>
            <a:endParaRPr lang="en-US" sz="950" dirty="0"/>
          </a:p>
        </p:txBody>
      </p:sp>
      <p:sp>
        <p:nvSpPr>
          <p:cNvPr id="38" name="Shape 36"/>
          <p:cNvSpPr/>
          <p:nvPr/>
        </p:nvSpPr>
        <p:spPr>
          <a:xfrm>
            <a:off x="3108960" y="256032"/>
            <a:ext cx="5806440" cy="484632"/>
          </a:xfrm>
          <a:prstGeom prst="rect">
            <a:avLst/>
          </a:prstGeom>
          <a:solidFill>
            <a:srgbClr val="FFFFFF"/>
          </a:solidFill>
          <a:ln/>
        </p:spPr>
        <p:txBody>
          <a:bodyPr/>
          <a:lstStyle/>
          <a:p>
            <a:endParaRPr lang="en-PH"/>
          </a:p>
        </p:txBody>
      </p:sp>
      <p:sp>
        <p:nvSpPr>
          <p:cNvPr id="39" name="Shape 37"/>
          <p:cNvSpPr/>
          <p:nvPr/>
        </p:nvSpPr>
        <p:spPr>
          <a:xfrm>
            <a:off x="3108960" y="256032"/>
            <a:ext cx="438912" cy="484632"/>
          </a:xfrm>
          <a:prstGeom prst="rect">
            <a:avLst/>
          </a:prstGeom>
          <a:solidFill>
            <a:srgbClr val="CD172D"/>
          </a:solidFill>
          <a:ln/>
        </p:spPr>
        <p:txBody>
          <a:bodyPr/>
          <a:lstStyle/>
          <a:p>
            <a:endParaRPr lang="en-PH"/>
          </a:p>
        </p:txBody>
      </p:sp>
      <p:sp>
        <p:nvSpPr>
          <p:cNvPr id="40" name="Text 38"/>
          <p:cNvSpPr/>
          <p:nvPr/>
        </p:nvSpPr>
        <p:spPr>
          <a:xfrm>
            <a:off x="3108960" y="256032"/>
            <a:ext cx="438912" cy="4846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41" name="Text 39"/>
          <p:cNvSpPr/>
          <p:nvPr/>
        </p:nvSpPr>
        <p:spPr>
          <a:xfrm>
            <a:off x="3675888" y="283464"/>
            <a:ext cx="5166360" cy="219456"/>
          </a:xfrm>
          <a:prstGeom prst="rect">
            <a:avLst/>
          </a:prstGeom>
          <a:noFill/>
          <a:ln/>
        </p:spPr>
        <p:txBody>
          <a:bodyPr wrap="square" lIns="0" tIns="0" rIns="0" bIns="0" rtlCol="0" anchor="ctr"/>
          <a:lstStyle/>
          <a:p>
            <a:pPr marL="0" indent="0">
              <a:buNone/>
            </a:pPr>
            <a:r>
              <a:rPr lang="en-US" sz="1150" b="1" dirty="0">
                <a:solidFill>
                  <a:srgbClr val="0E0F30"/>
                </a:solidFill>
                <a:latin typeface="Calibri" pitchFamily="34" charset="0"/>
                <a:ea typeface="Calibri" pitchFamily="34" charset="-122"/>
                <a:cs typeface="Calibri" pitchFamily="34" charset="-120"/>
              </a:rPr>
              <a:t>Why a Database? — From _books List to PostgreSQL</a:t>
            </a:r>
            <a:endParaRPr lang="en-US" sz="1150" dirty="0"/>
          </a:p>
        </p:txBody>
      </p:sp>
      <p:sp>
        <p:nvSpPr>
          <p:cNvPr id="42" name="Text 40"/>
          <p:cNvSpPr/>
          <p:nvPr/>
        </p:nvSpPr>
        <p:spPr>
          <a:xfrm>
            <a:off x="3675888" y="521208"/>
            <a:ext cx="5166360" cy="173736"/>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The problem with in-memory data</a:t>
            </a:r>
            <a:endParaRPr lang="en-US" sz="850" dirty="0"/>
          </a:p>
        </p:txBody>
      </p:sp>
      <p:sp>
        <p:nvSpPr>
          <p:cNvPr id="43" name="Shape 41"/>
          <p:cNvSpPr/>
          <p:nvPr/>
        </p:nvSpPr>
        <p:spPr>
          <a:xfrm>
            <a:off x="3108960" y="795528"/>
            <a:ext cx="5806440" cy="484632"/>
          </a:xfrm>
          <a:prstGeom prst="rect">
            <a:avLst/>
          </a:prstGeom>
          <a:solidFill>
            <a:srgbClr val="F5F5F5"/>
          </a:solidFill>
          <a:ln/>
        </p:spPr>
        <p:txBody>
          <a:bodyPr/>
          <a:lstStyle/>
          <a:p>
            <a:endParaRPr lang="en-PH"/>
          </a:p>
        </p:txBody>
      </p:sp>
      <p:sp>
        <p:nvSpPr>
          <p:cNvPr id="44" name="Shape 42"/>
          <p:cNvSpPr/>
          <p:nvPr/>
        </p:nvSpPr>
        <p:spPr>
          <a:xfrm>
            <a:off x="3108960" y="795528"/>
            <a:ext cx="438912" cy="484632"/>
          </a:xfrm>
          <a:prstGeom prst="rect">
            <a:avLst/>
          </a:prstGeom>
          <a:solidFill>
            <a:srgbClr val="CD172D"/>
          </a:solidFill>
          <a:ln/>
        </p:spPr>
        <p:txBody>
          <a:bodyPr/>
          <a:lstStyle/>
          <a:p>
            <a:endParaRPr lang="en-PH"/>
          </a:p>
        </p:txBody>
      </p:sp>
      <p:sp>
        <p:nvSpPr>
          <p:cNvPr id="45" name="Text 43"/>
          <p:cNvSpPr/>
          <p:nvPr/>
        </p:nvSpPr>
        <p:spPr>
          <a:xfrm>
            <a:off x="3108960" y="795528"/>
            <a:ext cx="438912" cy="4846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46" name="Text 44"/>
          <p:cNvSpPr/>
          <p:nvPr/>
        </p:nvSpPr>
        <p:spPr>
          <a:xfrm>
            <a:off x="3675888" y="822960"/>
            <a:ext cx="5166360" cy="219456"/>
          </a:xfrm>
          <a:prstGeom prst="rect">
            <a:avLst/>
          </a:prstGeom>
          <a:noFill/>
          <a:ln/>
        </p:spPr>
        <p:txBody>
          <a:bodyPr wrap="square" lIns="0" tIns="0" rIns="0" bIns="0" rtlCol="0" anchor="ctr"/>
          <a:lstStyle/>
          <a:p>
            <a:pPr marL="0" indent="0">
              <a:buNone/>
            </a:pPr>
            <a:r>
              <a:rPr lang="en-US" sz="1150" b="1" dirty="0">
                <a:solidFill>
                  <a:srgbClr val="0E0F30"/>
                </a:solidFill>
                <a:latin typeface="Calibri" pitchFamily="34" charset="0"/>
                <a:ea typeface="Calibri" pitchFamily="34" charset="-122"/>
                <a:cs typeface="Calibri" pitchFamily="34" charset="-120"/>
              </a:rPr>
              <a:t>The Relational Model</a:t>
            </a:r>
            <a:endParaRPr lang="en-US" sz="1150" dirty="0"/>
          </a:p>
        </p:txBody>
      </p:sp>
      <p:sp>
        <p:nvSpPr>
          <p:cNvPr id="47" name="Text 45"/>
          <p:cNvSpPr/>
          <p:nvPr/>
        </p:nvSpPr>
        <p:spPr>
          <a:xfrm>
            <a:off x="3675888" y="1060704"/>
            <a:ext cx="5166360" cy="173736"/>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Tables, rows, columns, keys, relationships</a:t>
            </a:r>
            <a:endParaRPr lang="en-US" sz="850" dirty="0"/>
          </a:p>
        </p:txBody>
      </p:sp>
      <p:sp>
        <p:nvSpPr>
          <p:cNvPr id="48" name="Shape 46"/>
          <p:cNvSpPr/>
          <p:nvPr/>
        </p:nvSpPr>
        <p:spPr>
          <a:xfrm>
            <a:off x="3108960" y="1335024"/>
            <a:ext cx="5806440" cy="484632"/>
          </a:xfrm>
          <a:prstGeom prst="rect">
            <a:avLst/>
          </a:prstGeom>
          <a:solidFill>
            <a:srgbClr val="FFFFFF"/>
          </a:solidFill>
          <a:ln/>
        </p:spPr>
        <p:txBody>
          <a:bodyPr/>
          <a:lstStyle/>
          <a:p>
            <a:endParaRPr lang="en-PH"/>
          </a:p>
        </p:txBody>
      </p:sp>
      <p:sp>
        <p:nvSpPr>
          <p:cNvPr id="49" name="Shape 47"/>
          <p:cNvSpPr/>
          <p:nvPr/>
        </p:nvSpPr>
        <p:spPr>
          <a:xfrm>
            <a:off x="3108960" y="1335024"/>
            <a:ext cx="438912" cy="484632"/>
          </a:xfrm>
          <a:prstGeom prst="rect">
            <a:avLst/>
          </a:prstGeom>
          <a:solidFill>
            <a:srgbClr val="CD172D"/>
          </a:solidFill>
          <a:ln/>
        </p:spPr>
        <p:txBody>
          <a:bodyPr/>
          <a:lstStyle/>
          <a:p>
            <a:endParaRPr lang="en-PH"/>
          </a:p>
        </p:txBody>
      </p:sp>
      <p:sp>
        <p:nvSpPr>
          <p:cNvPr id="50" name="Text 48"/>
          <p:cNvSpPr/>
          <p:nvPr/>
        </p:nvSpPr>
        <p:spPr>
          <a:xfrm>
            <a:off x="3108960" y="1335024"/>
            <a:ext cx="438912" cy="4846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51" name="Text 49"/>
          <p:cNvSpPr/>
          <p:nvPr/>
        </p:nvSpPr>
        <p:spPr>
          <a:xfrm>
            <a:off x="3675888" y="1362456"/>
            <a:ext cx="5166360" cy="219456"/>
          </a:xfrm>
          <a:prstGeom prst="rect">
            <a:avLst/>
          </a:prstGeom>
          <a:noFill/>
          <a:ln/>
        </p:spPr>
        <p:txBody>
          <a:bodyPr wrap="square" lIns="0" tIns="0" rIns="0" bIns="0" rtlCol="0" anchor="ctr"/>
          <a:lstStyle/>
          <a:p>
            <a:pPr marL="0" indent="0">
              <a:buNone/>
            </a:pPr>
            <a:r>
              <a:rPr lang="en-US" sz="1150" b="1" dirty="0">
                <a:solidFill>
                  <a:srgbClr val="0E0F30"/>
                </a:solidFill>
                <a:latin typeface="Calibri" pitchFamily="34" charset="0"/>
                <a:ea typeface="Calibri" pitchFamily="34" charset="-122"/>
                <a:cs typeface="Calibri" pitchFamily="34" charset="-120"/>
              </a:rPr>
              <a:t>PostgreSQL Setup &amp; pgAdmin</a:t>
            </a:r>
            <a:endParaRPr lang="en-US" sz="1150" dirty="0"/>
          </a:p>
        </p:txBody>
      </p:sp>
      <p:sp>
        <p:nvSpPr>
          <p:cNvPr id="52" name="Text 50"/>
          <p:cNvSpPr/>
          <p:nvPr/>
        </p:nvSpPr>
        <p:spPr>
          <a:xfrm>
            <a:off x="3675888" y="1600200"/>
            <a:ext cx="5166360" cy="173736"/>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Install, connect, and verify</a:t>
            </a:r>
            <a:endParaRPr lang="en-US" sz="850" dirty="0"/>
          </a:p>
        </p:txBody>
      </p:sp>
      <p:sp>
        <p:nvSpPr>
          <p:cNvPr id="53" name="Shape 51"/>
          <p:cNvSpPr/>
          <p:nvPr/>
        </p:nvSpPr>
        <p:spPr>
          <a:xfrm>
            <a:off x="3108960" y="1874520"/>
            <a:ext cx="5806440" cy="484632"/>
          </a:xfrm>
          <a:prstGeom prst="rect">
            <a:avLst/>
          </a:prstGeom>
          <a:solidFill>
            <a:srgbClr val="F5F5F5"/>
          </a:solidFill>
          <a:ln/>
        </p:spPr>
        <p:txBody>
          <a:bodyPr/>
          <a:lstStyle/>
          <a:p>
            <a:endParaRPr lang="en-PH"/>
          </a:p>
        </p:txBody>
      </p:sp>
      <p:sp>
        <p:nvSpPr>
          <p:cNvPr id="54" name="Shape 52"/>
          <p:cNvSpPr/>
          <p:nvPr/>
        </p:nvSpPr>
        <p:spPr>
          <a:xfrm>
            <a:off x="3108960" y="1874520"/>
            <a:ext cx="438912" cy="484632"/>
          </a:xfrm>
          <a:prstGeom prst="rect">
            <a:avLst/>
          </a:prstGeom>
          <a:solidFill>
            <a:srgbClr val="CD172D"/>
          </a:solidFill>
          <a:ln/>
        </p:spPr>
        <p:txBody>
          <a:bodyPr/>
          <a:lstStyle/>
          <a:p>
            <a:endParaRPr lang="en-PH"/>
          </a:p>
        </p:txBody>
      </p:sp>
      <p:sp>
        <p:nvSpPr>
          <p:cNvPr id="55" name="Text 53"/>
          <p:cNvSpPr/>
          <p:nvPr/>
        </p:nvSpPr>
        <p:spPr>
          <a:xfrm>
            <a:off x="3108960" y="1874520"/>
            <a:ext cx="438912" cy="4846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56" name="Text 54"/>
          <p:cNvSpPr/>
          <p:nvPr/>
        </p:nvSpPr>
        <p:spPr>
          <a:xfrm>
            <a:off x="3675888" y="1901952"/>
            <a:ext cx="5166360" cy="219456"/>
          </a:xfrm>
          <a:prstGeom prst="rect">
            <a:avLst/>
          </a:prstGeom>
          <a:noFill/>
          <a:ln/>
        </p:spPr>
        <p:txBody>
          <a:bodyPr wrap="square" lIns="0" tIns="0" rIns="0" bIns="0" rtlCol="0" anchor="ctr"/>
          <a:lstStyle/>
          <a:p>
            <a:pPr marL="0" indent="0">
              <a:buNone/>
            </a:pPr>
            <a:r>
              <a:rPr lang="en-US" sz="1150" b="1" dirty="0">
                <a:solidFill>
                  <a:srgbClr val="0E0F30"/>
                </a:solidFill>
                <a:latin typeface="Calibri" pitchFamily="34" charset="0"/>
                <a:ea typeface="Calibri" pitchFamily="34" charset="-122"/>
                <a:cs typeface="Calibri" pitchFamily="34" charset="-120"/>
              </a:rPr>
              <a:t>Data Types &amp; Schema Design</a:t>
            </a:r>
            <a:endParaRPr lang="en-US" sz="1150" dirty="0"/>
          </a:p>
        </p:txBody>
      </p:sp>
      <p:sp>
        <p:nvSpPr>
          <p:cNvPr id="57" name="Text 55"/>
          <p:cNvSpPr/>
          <p:nvPr/>
        </p:nvSpPr>
        <p:spPr>
          <a:xfrm>
            <a:off x="3675888" y="2139696"/>
            <a:ext cx="5166360" cy="173736"/>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int, varchar, boolean, timestamp, serial</a:t>
            </a:r>
            <a:endParaRPr lang="en-US" sz="850" dirty="0"/>
          </a:p>
        </p:txBody>
      </p:sp>
      <p:sp>
        <p:nvSpPr>
          <p:cNvPr id="58" name="Shape 56"/>
          <p:cNvSpPr/>
          <p:nvPr/>
        </p:nvSpPr>
        <p:spPr>
          <a:xfrm>
            <a:off x="3108960" y="2414016"/>
            <a:ext cx="5806440" cy="484632"/>
          </a:xfrm>
          <a:prstGeom prst="rect">
            <a:avLst/>
          </a:prstGeom>
          <a:solidFill>
            <a:srgbClr val="FFFFFF"/>
          </a:solidFill>
          <a:ln/>
        </p:spPr>
        <p:txBody>
          <a:bodyPr/>
          <a:lstStyle/>
          <a:p>
            <a:endParaRPr lang="en-PH"/>
          </a:p>
        </p:txBody>
      </p:sp>
      <p:sp>
        <p:nvSpPr>
          <p:cNvPr id="59" name="Shape 57"/>
          <p:cNvSpPr/>
          <p:nvPr/>
        </p:nvSpPr>
        <p:spPr>
          <a:xfrm>
            <a:off x="3108960" y="2414016"/>
            <a:ext cx="438912" cy="484632"/>
          </a:xfrm>
          <a:prstGeom prst="rect">
            <a:avLst/>
          </a:prstGeom>
          <a:solidFill>
            <a:srgbClr val="CD172D"/>
          </a:solidFill>
          <a:ln/>
        </p:spPr>
        <p:txBody>
          <a:bodyPr/>
          <a:lstStyle/>
          <a:p>
            <a:endParaRPr lang="en-PH"/>
          </a:p>
        </p:txBody>
      </p:sp>
      <p:sp>
        <p:nvSpPr>
          <p:cNvPr id="60" name="Text 58"/>
          <p:cNvSpPr/>
          <p:nvPr/>
        </p:nvSpPr>
        <p:spPr>
          <a:xfrm>
            <a:off x="3108960" y="2414016"/>
            <a:ext cx="438912" cy="4846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61" name="Text 59"/>
          <p:cNvSpPr/>
          <p:nvPr/>
        </p:nvSpPr>
        <p:spPr>
          <a:xfrm>
            <a:off x="3675888" y="2441448"/>
            <a:ext cx="5166360" cy="219456"/>
          </a:xfrm>
          <a:prstGeom prst="rect">
            <a:avLst/>
          </a:prstGeom>
          <a:noFill/>
          <a:ln/>
        </p:spPr>
        <p:txBody>
          <a:bodyPr wrap="square" lIns="0" tIns="0" rIns="0" bIns="0" rtlCol="0" anchor="ctr"/>
          <a:lstStyle/>
          <a:p>
            <a:pPr marL="0" indent="0">
              <a:buNone/>
            </a:pPr>
            <a:r>
              <a:rPr lang="en-US" sz="1150" b="1" dirty="0">
                <a:solidFill>
                  <a:srgbClr val="0E0F30"/>
                </a:solidFill>
                <a:latin typeface="Calibri" pitchFamily="34" charset="0"/>
                <a:ea typeface="Calibri" pitchFamily="34" charset="-122"/>
                <a:cs typeface="Calibri" pitchFamily="34" charset="-120"/>
              </a:rPr>
              <a:t>SQL — CREATE, INSERT, SELECT</a:t>
            </a:r>
            <a:endParaRPr lang="en-US" sz="1150" dirty="0"/>
          </a:p>
        </p:txBody>
      </p:sp>
      <p:sp>
        <p:nvSpPr>
          <p:cNvPr id="62" name="Text 60"/>
          <p:cNvSpPr/>
          <p:nvPr/>
        </p:nvSpPr>
        <p:spPr>
          <a:xfrm>
            <a:off x="3675888" y="2679192"/>
            <a:ext cx="5166360" cy="173736"/>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Writing your first queries</a:t>
            </a:r>
            <a:endParaRPr lang="en-US" sz="850" dirty="0"/>
          </a:p>
        </p:txBody>
      </p:sp>
      <p:sp>
        <p:nvSpPr>
          <p:cNvPr id="63" name="Shape 61"/>
          <p:cNvSpPr/>
          <p:nvPr/>
        </p:nvSpPr>
        <p:spPr>
          <a:xfrm>
            <a:off x="3108960" y="2953512"/>
            <a:ext cx="5806440" cy="484632"/>
          </a:xfrm>
          <a:prstGeom prst="rect">
            <a:avLst/>
          </a:prstGeom>
          <a:solidFill>
            <a:srgbClr val="F5F5F5"/>
          </a:solidFill>
          <a:ln/>
        </p:spPr>
        <p:txBody>
          <a:bodyPr/>
          <a:lstStyle/>
          <a:p>
            <a:endParaRPr lang="en-PH"/>
          </a:p>
        </p:txBody>
      </p:sp>
      <p:sp>
        <p:nvSpPr>
          <p:cNvPr id="64" name="Shape 62"/>
          <p:cNvSpPr/>
          <p:nvPr/>
        </p:nvSpPr>
        <p:spPr>
          <a:xfrm>
            <a:off x="3108960" y="2953512"/>
            <a:ext cx="438912" cy="484632"/>
          </a:xfrm>
          <a:prstGeom prst="rect">
            <a:avLst/>
          </a:prstGeom>
          <a:solidFill>
            <a:srgbClr val="CD172D"/>
          </a:solidFill>
          <a:ln/>
        </p:spPr>
        <p:txBody>
          <a:bodyPr/>
          <a:lstStyle/>
          <a:p>
            <a:endParaRPr lang="en-PH"/>
          </a:p>
        </p:txBody>
      </p:sp>
      <p:sp>
        <p:nvSpPr>
          <p:cNvPr id="65" name="Text 63"/>
          <p:cNvSpPr/>
          <p:nvPr/>
        </p:nvSpPr>
        <p:spPr>
          <a:xfrm>
            <a:off x="3108960" y="2953512"/>
            <a:ext cx="438912" cy="4846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66" name="Text 64"/>
          <p:cNvSpPr/>
          <p:nvPr/>
        </p:nvSpPr>
        <p:spPr>
          <a:xfrm>
            <a:off x="3675888" y="2980944"/>
            <a:ext cx="5166360" cy="219456"/>
          </a:xfrm>
          <a:prstGeom prst="rect">
            <a:avLst/>
          </a:prstGeom>
          <a:noFill/>
          <a:ln/>
        </p:spPr>
        <p:txBody>
          <a:bodyPr wrap="square" lIns="0" tIns="0" rIns="0" bIns="0" rtlCol="0" anchor="ctr"/>
          <a:lstStyle/>
          <a:p>
            <a:pPr marL="0" indent="0">
              <a:buNone/>
            </a:pPr>
            <a:r>
              <a:rPr lang="en-US" sz="1150" b="1" dirty="0">
                <a:solidFill>
                  <a:srgbClr val="0E0F30"/>
                </a:solidFill>
                <a:latin typeface="Calibri" pitchFamily="34" charset="0"/>
                <a:ea typeface="Calibri" pitchFamily="34" charset="-122"/>
                <a:cs typeface="Calibri" pitchFamily="34" charset="-120"/>
              </a:rPr>
              <a:t>WHERE, ORDER BY, LIMIT &amp; Filtering</a:t>
            </a:r>
            <a:endParaRPr lang="en-US" sz="1150" dirty="0"/>
          </a:p>
        </p:txBody>
      </p:sp>
      <p:sp>
        <p:nvSpPr>
          <p:cNvPr id="67" name="Text 65"/>
          <p:cNvSpPr/>
          <p:nvPr/>
        </p:nvSpPr>
        <p:spPr>
          <a:xfrm>
            <a:off x="3675888" y="3218688"/>
            <a:ext cx="5166360" cy="173736"/>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Reading specific data</a:t>
            </a:r>
            <a:endParaRPr lang="en-US" sz="850" dirty="0"/>
          </a:p>
        </p:txBody>
      </p:sp>
      <p:sp>
        <p:nvSpPr>
          <p:cNvPr id="68" name="Shape 66"/>
          <p:cNvSpPr/>
          <p:nvPr/>
        </p:nvSpPr>
        <p:spPr>
          <a:xfrm>
            <a:off x="3108960" y="3493008"/>
            <a:ext cx="5806440" cy="484632"/>
          </a:xfrm>
          <a:prstGeom prst="rect">
            <a:avLst/>
          </a:prstGeom>
          <a:solidFill>
            <a:srgbClr val="FFFFFF"/>
          </a:solidFill>
          <a:ln/>
        </p:spPr>
        <p:txBody>
          <a:bodyPr/>
          <a:lstStyle/>
          <a:p>
            <a:endParaRPr lang="en-PH"/>
          </a:p>
        </p:txBody>
      </p:sp>
      <p:sp>
        <p:nvSpPr>
          <p:cNvPr id="69" name="Shape 67"/>
          <p:cNvSpPr/>
          <p:nvPr/>
        </p:nvSpPr>
        <p:spPr>
          <a:xfrm>
            <a:off x="3108960" y="3493008"/>
            <a:ext cx="438912" cy="484632"/>
          </a:xfrm>
          <a:prstGeom prst="rect">
            <a:avLst/>
          </a:prstGeom>
          <a:solidFill>
            <a:srgbClr val="CD172D"/>
          </a:solidFill>
          <a:ln/>
        </p:spPr>
        <p:txBody>
          <a:bodyPr/>
          <a:lstStyle/>
          <a:p>
            <a:endParaRPr lang="en-PH"/>
          </a:p>
        </p:txBody>
      </p:sp>
      <p:sp>
        <p:nvSpPr>
          <p:cNvPr id="70" name="Text 68"/>
          <p:cNvSpPr/>
          <p:nvPr/>
        </p:nvSpPr>
        <p:spPr>
          <a:xfrm>
            <a:off x="3108960" y="3493008"/>
            <a:ext cx="438912" cy="4846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71" name="Text 69"/>
          <p:cNvSpPr/>
          <p:nvPr/>
        </p:nvSpPr>
        <p:spPr>
          <a:xfrm>
            <a:off x="3675888" y="3520440"/>
            <a:ext cx="5166360" cy="219456"/>
          </a:xfrm>
          <a:prstGeom prst="rect">
            <a:avLst/>
          </a:prstGeom>
          <a:noFill/>
          <a:ln/>
        </p:spPr>
        <p:txBody>
          <a:bodyPr wrap="square" lIns="0" tIns="0" rIns="0" bIns="0" rtlCol="0" anchor="ctr"/>
          <a:lstStyle/>
          <a:p>
            <a:pPr marL="0" indent="0">
              <a:buNone/>
            </a:pPr>
            <a:r>
              <a:rPr lang="en-US" sz="1150" b="1" dirty="0">
                <a:solidFill>
                  <a:srgbClr val="0E0F30"/>
                </a:solidFill>
                <a:latin typeface="Calibri" pitchFamily="34" charset="0"/>
                <a:ea typeface="Calibri" pitchFamily="34" charset="-122"/>
                <a:cs typeface="Calibri" pitchFamily="34" charset="-120"/>
              </a:rPr>
              <a:t>JOINs — Connecting Tables</a:t>
            </a:r>
            <a:endParaRPr lang="en-US" sz="1150" dirty="0"/>
          </a:p>
        </p:txBody>
      </p:sp>
      <p:sp>
        <p:nvSpPr>
          <p:cNvPr id="72" name="Text 70"/>
          <p:cNvSpPr/>
          <p:nvPr/>
        </p:nvSpPr>
        <p:spPr>
          <a:xfrm>
            <a:off x="3675888" y="3758184"/>
            <a:ext cx="5166360" cy="173736"/>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INNER, LEFT, combining related data</a:t>
            </a:r>
            <a:endParaRPr lang="en-US" sz="850" dirty="0"/>
          </a:p>
        </p:txBody>
      </p:sp>
      <p:sp>
        <p:nvSpPr>
          <p:cNvPr id="73" name="Shape 71"/>
          <p:cNvSpPr/>
          <p:nvPr/>
        </p:nvSpPr>
        <p:spPr>
          <a:xfrm>
            <a:off x="3108960" y="4032504"/>
            <a:ext cx="5806440" cy="484632"/>
          </a:xfrm>
          <a:prstGeom prst="rect">
            <a:avLst/>
          </a:prstGeom>
          <a:solidFill>
            <a:srgbClr val="F5F5F5"/>
          </a:solidFill>
          <a:ln/>
        </p:spPr>
        <p:txBody>
          <a:bodyPr/>
          <a:lstStyle/>
          <a:p>
            <a:endParaRPr lang="en-PH"/>
          </a:p>
        </p:txBody>
      </p:sp>
      <p:sp>
        <p:nvSpPr>
          <p:cNvPr id="74" name="Shape 72"/>
          <p:cNvSpPr/>
          <p:nvPr/>
        </p:nvSpPr>
        <p:spPr>
          <a:xfrm>
            <a:off x="3108960" y="4032504"/>
            <a:ext cx="438912" cy="484632"/>
          </a:xfrm>
          <a:prstGeom prst="rect">
            <a:avLst/>
          </a:prstGeom>
          <a:solidFill>
            <a:srgbClr val="CD172D"/>
          </a:solidFill>
          <a:ln/>
        </p:spPr>
        <p:txBody>
          <a:bodyPr/>
          <a:lstStyle/>
          <a:p>
            <a:endParaRPr lang="en-PH"/>
          </a:p>
        </p:txBody>
      </p:sp>
      <p:sp>
        <p:nvSpPr>
          <p:cNvPr id="75" name="Text 73"/>
          <p:cNvSpPr/>
          <p:nvPr/>
        </p:nvSpPr>
        <p:spPr>
          <a:xfrm>
            <a:off x="3108960" y="4032504"/>
            <a:ext cx="438912" cy="4846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76" name="Text 74"/>
          <p:cNvSpPr/>
          <p:nvPr/>
        </p:nvSpPr>
        <p:spPr>
          <a:xfrm>
            <a:off x="3675888" y="4059936"/>
            <a:ext cx="5166360" cy="219456"/>
          </a:xfrm>
          <a:prstGeom prst="rect">
            <a:avLst/>
          </a:prstGeom>
          <a:noFill/>
          <a:ln/>
        </p:spPr>
        <p:txBody>
          <a:bodyPr wrap="square" lIns="0" tIns="0" rIns="0" bIns="0" rtlCol="0" anchor="ctr"/>
          <a:lstStyle/>
          <a:p>
            <a:pPr marL="0" indent="0">
              <a:buNone/>
            </a:pPr>
            <a:r>
              <a:rPr lang="en-US" sz="1150" b="1" dirty="0">
                <a:solidFill>
                  <a:srgbClr val="0E0F30"/>
                </a:solidFill>
                <a:latin typeface="Calibri" pitchFamily="34" charset="0"/>
                <a:ea typeface="Calibri" pitchFamily="34" charset="-122"/>
                <a:cs typeface="Calibri" pitchFamily="34" charset="-120"/>
              </a:rPr>
              <a:t>Aggregates, GROUP BY &amp; Indexes</a:t>
            </a:r>
            <a:endParaRPr lang="en-US" sz="1150" dirty="0"/>
          </a:p>
        </p:txBody>
      </p:sp>
      <p:sp>
        <p:nvSpPr>
          <p:cNvPr id="77" name="Text 75"/>
          <p:cNvSpPr/>
          <p:nvPr/>
        </p:nvSpPr>
        <p:spPr>
          <a:xfrm>
            <a:off x="3675888" y="4297680"/>
            <a:ext cx="5166360" cy="173736"/>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COUNT, SUM, AVG + performance</a:t>
            </a:r>
            <a:endParaRPr lang="en-US" sz="850" dirty="0"/>
          </a:p>
        </p:txBody>
      </p:sp>
      <p:sp>
        <p:nvSpPr>
          <p:cNvPr id="78" name="Shape 76"/>
          <p:cNvSpPr/>
          <p:nvPr/>
        </p:nvSpPr>
        <p:spPr>
          <a:xfrm>
            <a:off x="3108960" y="4572000"/>
            <a:ext cx="5806440" cy="484632"/>
          </a:xfrm>
          <a:prstGeom prst="rect">
            <a:avLst/>
          </a:prstGeom>
          <a:solidFill>
            <a:srgbClr val="FFFFFF"/>
          </a:solidFill>
          <a:ln/>
        </p:spPr>
        <p:txBody>
          <a:bodyPr/>
          <a:lstStyle/>
          <a:p>
            <a:endParaRPr lang="en-PH"/>
          </a:p>
        </p:txBody>
      </p:sp>
      <p:sp>
        <p:nvSpPr>
          <p:cNvPr id="79" name="Shape 77"/>
          <p:cNvSpPr/>
          <p:nvPr/>
        </p:nvSpPr>
        <p:spPr>
          <a:xfrm>
            <a:off x="3108960" y="4572000"/>
            <a:ext cx="438912" cy="484632"/>
          </a:xfrm>
          <a:prstGeom prst="rect">
            <a:avLst/>
          </a:prstGeom>
          <a:solidFill>
            <a:srgbClr val="CD172D"/>
          </a:solidFill>
          <a:ln/>
        </p:spPr>
        <p:txBody>
          <a:bodyPr/>
          <a:lstStyle/>
          <a:p>
            <a:endParaRPr lang="en-PH"/>
          </a:p>
        </p:txBody>
      </p:sp>
      <p:sp>
        <p:nvSpPr>
          <p:cNvPr id="80" name="Text 78"/>
          <p:cNvSpPr/>
          <p:nvPr/>
        </p:nvSpPr>
        <p:spPr>
          <a:xfrm>
            <a:off x="3108960" y="4572000"/>
            <a:ext cx="438912" cy="4846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09</a:t>
            </a:r>
            <a:endParaRPr lang="en-US" sz="1100" dirty="0"/>
          </a:p>
        </p:txBody>
      </p:sp>
      <p:sp>
        <p:nvSpPr>
          <p:cNvPr id="81" name="Text 79"/>
          <p:cNvSpPr/>
          <p:nvPr/>
        </p:nvSpPr>
        <p:spPr>
          <a:xfrm>
            <a:off x="3675888" y="4599432"/>
            <a:ext cx="5166360" cy="219456"/>
          </a:xfrm>
          <a:prstGeom prst="rect">
            <a:avLst/>
          </a:prstGeom>
          <a:noFill/>
          <a:ln/>
        </p:spPr>
        <p:txBody>
          <a:bodyPr wrap="square" lIns="0" tIns="0" rIns="0" bIns="0" rtlCol="0" anchor="ctr"/>
          <a:lstStyle/>
          <a:p>
            <a:pPr marL="0" indent="0">
              <a:buNone/>
            </a:pPr>
            <a:r>
              <a:rPr lang="en-US" sz="1150" b="1" dirty="0">
                <a:solidFill>
                  <a:srgbClr val="0E0F30"/>
                </a:solidFill>
                <a:latin typeface="Calibri" pitchFamily="34" charset="0"/>
                <a:ea typeface="Calibri" pitchFamily="34" charset="-122"/>
                <a:cs typeface="Calibri" pitchFamily="34" charset="-120"/>
              </a:rPr>
              <a:t>2-Hour Hands-On Lab</a:t>
            </a:r>
            <a:endParaRPr lang="en-US" sz="1150" dirty="0"/>
          </a:p>
        </p:txBody>
      </p:sp>
      <p:sp>
        <p:nvSpPr>
          <p:cNvPr id="82" name="Text 80"/>
          <p:cNvSpPr/>
          <p:nvPr/>
        </p:nvSpPr>
        <p:spPr>
          <a:xfrm>
            <a:off x="3675888" y="4837176"/>
            <a:ext cx="5166360" cy="173736"/>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Design + build + query your own schema</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3</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Text 5"/>
          <p:cNvSpPr/>
          <p:nvPr/>
        </p:nvSpPr>
        <p:spPr>
          <a:xfrm>
            <a:off x="274320" y="164592"/>
            <a:ext cx="7772400" cy="457200"/>
          </a:xfrm>
          <a:prstGeom prst="rect">
            <a:avLst/>
          </a:prstGeom>
          <a:noFill/>
          <a:ln/>
        </p:spPr>
        <p:txBody>
          <a:bodyPr wrap="square" lIns="0" tIns="0" rIns="0" bIns="0" rtlCol="0" anchor="ctr"/>
          <a:lstStyle/>
          <a:p>
            <a:pPr marL="0" indent="0">
              <a:buNone/>
            </a:pPr>
            <a:r>
              <a:rPr lang="en-US" sz="2200" b="1" dirty="0">
                <a:solidFill>
                  <a:srgbClr val="0E0F30"/>
                </a:solidFill>
                <a:latin typeface="Calibri" pitchFamily="34" charset="0"/>
                <a:ea typeface="Calibri" pitchFamily="34" charset="-122"/>
                <a:cs typeface="Calibri" pitchFamily="34" charset="-120"/>
              </a:rPr>
              <a:t>Why Do We Need a Database?</a:t>
            </a:r>
            <a:endParaRPr lang="en-US" sz="2200" dirty="0"/>
          </a:p>
        </p:txBody>
      </p:sp>
      <p:sp>
        <p:nvSpPr>
          <p:cNvPr id="8" name="Shape 6"/>
          <p:cNvSpPr/>
          <p:nvPr/>
        </p:nvSpPr>
        <p:spPr>
          <a:xfrm>
            <a:off x="274320" y="640080"/>
            <a:ext cx="1645920" cy="36576"/>
          </a:xfrm>
          <a:prstGeom prst="rect">
            <a:avLst/>
          </a:prstGeom>
          <a:solidFill>
            <a:srgbClr val="CD172D"/>
          </a:solidFill>
          <a:ln/>
        </p:spPr>
        <p:txBody>
          <a:bodyPr/>
          <a:lstStyle/>
          <a:p>
            <a:endParaRPr lang="en-PH"/>
          </a:p>
        </p:txBody>
      </p:sp>
      <p:sp>
        <p:nvSpPr>
          <p:cNvPr id="9" name="Text 7"/>
          <p:cNvSpPr/>
          <p:nvPr/>
        </p:nvSpPr>
        <p:spPr>
          <a:xfrm>
            <a:off x="274320" y="694944"/>
            <a:ext cx="82296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The problem with the static _books list from Day 2</a:t>
            </a:r>
            <a:endParaRPr lang="en-US" sz="1100" dirty="0"/>
          </a:p>
        </p:txBody>
      </p:sp>
      <p:sp>
        <p:nvSpPr>
          <p:cNvPr id="10" name="Shape 8"/>
          <p:cNvSpPr/>
          <p:nvPr/>
        </p:nvSpPr>
        <p:spPr>
          <a:xfrm>
            <a:off x="6949440" y="164592"/>
            <a:ext cx="1920240" cy="347472"/>
          </a:xfrm>
          <a:prstGeom prst="rect">
            <a:avLst/>
          </a:prstGeom>
          <a:solidFill>
            <a:srgbClr val="1E3A5F"/>
          </a:solidFill>
          <a:ln/>
        </p:spPr>
        <p:txBody>
          <a:bodyPr/>
          <a:lstStyle/>
          <a:p>
            <a:endParaRPr lang="en-PH"/>
          </a:p>
        </p:txBody>
      </p:sp>
      <p:sp>
        <p:nvSpPr>
          <p:cNvPr id="11" name="Text 9"/>
          <p:cNvSpPr/>
          <p:nvPr/>
        </p:nvSpPr>
        <p:spPr>
          <a:xfrm>
            <a:off x="6967728" y="182880"/>
            <a:ext cx="1883664" cy="310896"/>
          </a:xfrm>
          <a:prstGeom prst="rect">
            <a:avLst/>
          </a:prstGeom>
          <a:noFill/>
          <a:ln/>
        </p:spPr>
        <p:txBody>
          <a:bodyPr wrap="square" lIns="0" tIns="0" rIns="0" bIns="0" rtlCol="0" anchor="ctr"/>
          <a:lstStyle/>
          <a:p>
            <a:pPr marL="0" indent="0" algn="ctr">
              <a:buNone/>
            </a:pPr>
            <a:r>
              <a:rPr lang="en-US" sz="800" b="1" dirty="0">
                <a:solidFill>
                  <a:srgbClr val="93C5FD"/>
                </a:solidFill>
                <a:latin typeface="Calibri" pitchFamily="34" charset="0"/>
                <a:ea typeface="Calibri" pitchFamily="34" charset="-122"/>
                <a:cs typeface="Calibri" pitchFamily="34" charset="-120"/>
              </a:rPr>
              <a:t>📍 Fixes Day 2 limitation</a:t>
            </a:r>
            <a:endParaRPr lang="en-US" sz="800" dirty="0"/>
          </a:p>
        </p:txBody>
      </p:sp>
      <p:sp>
        <p:nvSpPr>
          <p:cNvPr id="12" name="Shape 10"/>
          <p:cNvSpPr/>
          <p:nvPr/>
        </p:nvSpPr>
        <p:spPr>
          <a:xfrm>
            <a:off x="228600" y="987552"/>
            <a:ext cx="2743200" cy="1554480"/>
          </a:xfrm>
          <a:prstGeom prst="rect">
            <a:avLst/>
          </a:prstGeom>
          <a:solidFill>
            <a:srgbClr val="FFFFFF"/>
          </a:solidFill>
          <a:ln w="6350">
            <a:solidFill>
              <a:srgbClr val="E0E0E0"/>
            </a:solidFill>
            <a:prstDash val="solid"/>
          </a:ln>
        </p:spPr>
        <p:txBody>
          <a:bodyPr/>
          <a:lstStyle/>
          <a:p>
            <a:endParaRPr lang="en-PH"/>
          </a:p>
        </p:txBody>
      </p:sp>
      <p:sp>
        <p:nvSpPr>
          <p:cNvPr id="13" name="Shape 11"/>
          <p:cNvSpPr/>
          <p:nvPr/>
        </p:nvSpPr>
        <p:spPr>
          <a:xfrm>
            <a:off x="228600" y="987552"/>
            <a:ext cx="2743200" cy="54864"/>
          </a:xfrm>
          <a:prstGeom prst="rect">
            <a:avLst/>
          </a:prstGeom>
          <a:solidFill>
            <a:srgbClr val="CD172D"/>
          </a:solidFill>
          <a:ln/>
        </p:spPr>
        <p:txBody>
          <a:bodyPr/>
          <a:lstStyle/>
          <a:p>
            <a:endParaRPr lang="en-PH"/>
          </a:p>
        </p:txBody>
      </p:sp>
      <p:sp>
        <p:nvSpPr>
          <p:cNvPr id="14" name="Text 12"/>
          <p:cNvSpPr/>
          <p:nvPr/>
        </p:nvSpPr>
        <p:spPr>
          <a:xfrm>
            <a:off x="356616" y="1097280"/>
            <a:ext cx="2487168" cy="256032"/>
          </a:xfrm>
          <a:prstGeom prst="rect">
            <a:avLst/>
          </a:prstGeom>
          <a:noFill/>
          <a:ln/>
        </p:spPr>
        <p:txBody>
          <a:bodyPr wrap="square" lIns="0" tIns="0" rIns="0" bIns="0" rtlCol="0" anchor="ctr"/>
          <a:lstStyle/>
          <a:p>
            <a:pPr marL="0" indent="0">
              <a:buNone/>
            </a:pPr>
            <a:r>
              <a:rPr lang="en-US" sz="1100" b="1" dirty="0">
                <a:solidFill>
                  <a:srgbClr val="CD172D"/>
                </a:solidFill>
                <a:latin typeface="Calibri" pitchFamily="34" charset="0"/>
                <a:ea typeface="Calibri" pitchFamily="34" charset="-122"/>
                <a:cs typeface="Calibri" pitchFamily="34" charset="-120"/>
              </a:rPr>
              <a:t> Data Dies on Restart</a:t>
            </a:r>
            <a:endParaRPr lang="en-US" sz="1100" dirty="0"/>
          </a:p>
        </p:txBody>
      </p:sp>
      <p:sp>
        <p:nvSpPr>
          <p:cNvPr id="15" name="Text 13"/>
          <p:cNvSpPr/>
          <p:nvPr/>
        </p:nvSpPr>
        <p:spPr>
          <a:xfrm>
            <a:off x="356616" y="1408176"/>
            <a:ext cx="2487168" cy="100584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Every time you stop dotnet run, your _books list resets to the 5 seeded books. POST a new book, restart — it is gone.</a:t>
            </a:r>
            <a:endParaRPr lang="en-US" sz="950" dirty="0"/>
          </a:p>
        </p:txBody>
      </p:sp>
      <p:sp>
        <p:nvSpPr>
          <p:cNvPr id="16" name="Shape 14"/>
          <p:cNvSpPr/>
          <p:nvPr/>
        </p:nvSpPr>
        <p:spPr>
          <a:xfrm>
            <a:off x="3172968" y="987552"/>
            <a:ext cx="2743200" cy="1554480"/>
          </a:xfrm>
          <a:prstGeom prst="rect">
            <a:avLst/>
          </a:prstGeom>
          <a:solidFill>
            <a:srgbClr val="FFFFFF"/>
          </a:solidFill>
          <a:ln w="6350">
            <a:solidFill>
              <a:srgbClr val="E0E0E0"/>
            </a:solidFill>
            <a:prstDash val="solid"/>
          </a:ln>
        </p:spPr>
        <p:txBody>
          <a:bodyPr/>
          <a:lstStyle/>
          <a:p>
            <a:endParaRPr lang="en-PH"/>
          </a:p>
        </p:txBody>
      </p:sp>
      <p:sp>
        <p:nvSpPr>
          <p:cNvPr id="17" name="Shape 15"/>
          <p:cNvSpPr/>
          <p:nvPr/>
        </p:nvSpPr>
        <p:spPr>
          <a:xfrm>
            <a:off x="3172968" y="987552"/>
            <a:ext cx="2743200" cy="54864"/>
          </a:xfrm>
          <a:prstGeom prst="rect">
            <a:avLst/>
          </a:prstGeom>
          <a:solidFill>
            <a:srgbClr val="B45309"/>
          </a:solidFill>
          <a:ln/>
        </p:spPr>
        <p:txBody>
          <a:bodyPr/>
          <a:lstStyle/>
          <a:p>
            <a:endParaRPr lang="en-PH"/>
          </a:p>
        </p:txBody>
      </p:sp>
      <p:sp>
        <p:nvSpPr>
          <p:cNvPr id="18" name="Text 16"/>
          <p:cNvSpPr/>
          <p:nvPr/>
        </p:nvSpPr>
        <p:spPr>
          <a:xfrm>
            <a:off x="3300984" y="1097280"/>
            <a:ext cx="2487168" cy="256032"/>
          </a:xfrm>
          <a:prstGeom prst="rect">
            <a:avLst/>
          </a:prstGeom>
          <a:noFill/>
          <a:ln/>
        </p:spPr>
        <p:txBody>
          <a:bodyPr wrap="square" lIns="0" tIns="0" rIns="0" bIns="0" rtlCol="0" anchor="ctr"/>
          <a:lstStyle/>
          <a:p>
            <a:pPr marL="0" indent="0">
              <a:buNone/>
            </a:pPr>
            <a:r>
              <a:rPr lang="en-US" sz="1100" b="1" dirty="0">
                <a:solidFill>
                  <a:srgbClr val="B45309"/>
                </a:solidFill>
                <a:latin typeface="Calibri" pitchFamily="34" charset="0"/>
                <a:ea typeface="Calibri" pitchFamily="34" charset="-122"/>
                <a:cs typeface="Calibri" pitchFamily="34" charset="-120"/>
              </a:rPr>
              <a:t>No Multi-User Support</a:t>
            </a:r>
            <a:endParaRPr lang="en-US" sz="1100" dirty="0"/>
          </a:p>
        </p:txBody>
      </p:sp>
      <p:sp>
        <p:nvSpPr>
          <p:cNvPr id="19" name="Text 17"/>
          <p:cNvSpPr/>
          <p:nvPr/>
        </p:nvSpPr>
        <p:spPr>
          <a:xfrm>
            <a:off x="3300984" y="1408176"/>
            <a:ext cx="2487168" cy="100584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Two people using the API at the same time get different lists if the static field ever diverges. Shared mutable state causes bugs.</a:t>
            </a:r>
            <a:endParaRPr lang="en-US" sz="950" dirty="0"/>
          </a:p>
        </p:txBody>
      </p:sp>
      <p:sp>
        <p:nvSpPr>
          <p:cNvPr id="20" name="Shape 18"/>
          <p:cNvSpPr/>
          <p:nvPr/>
        </p:nvSpPr>
        <p:spPr>
          <a:xfrm>
            <a:off x="6117336" y="987552"/>
            <a:ext cx="2743200" cy="1554480"/>
          </a:xfrm>
          <a:prstGeom prst="rect">
            <a:avLst/>
          </a:prstGeom>
          <a:solidFill>
            <a:srgbClr val="FFFFFF"/>
          </a:solidFill>
          <a:ln w="6350">
            <a:solidFill>
              <a:srgbClr val="E0E0E0"/>
            </a:solidFill>
            <a:prstDash val="solid"/>
          </a:ln>
        </p:spPr>
        <p:txBody>
          <a:bodyPr/>
          <a:lstStyle/>
          <a:p>
            <a:endParaRPr lang="en-PH"/>
          </a:p>
        </p:txBody>
      </p:sp>
      <p:sp>
        <p:nvSpPr>
          <p:cNvPr id="21" name="Shape 19"/>
          <p:cNvSpPr/>
          <p:nvPr/>
        </p:nvSpPr>
        <p:spPr>
          <a:xfrm>
            <a:off x="6117336" y="987552"/>
            <a:ext cx="2743200" cy="54864"/>
          </a:xfrm>
          <a:prstGeom prst="rect">
            <a:avLst/>
          </a:prstGeom>
          <a:solidFill>
            <a:srgbClr val="6B21A8"/>
          </a:solidFill>
          <a:ln/>
        </p:spPr>
        <p:txBody>
          <a:bodyPr/>
          <a:lstStyle/>
          <a:p>
            <a:endParaRPr lang="en-PH"/>
          </a:p>
        </p:txBody>
      </p:sp>
      <p:sp>
        <p:nvSpPr>
          <p:cNvPr id="22" name="Text 20"/>
          <p:cNvSpPr/>
          <p:nvPr/>
        </p:nvSpPr>
        <p:spPr>
          <a:xfrm>
            <a:off x="6245352" y="1097280"/>
            <a:ext cx="2487168" cy="256032"/>
          </a:xfrm>
          <a:prstGeom prst="rect">
            <a:avLst/>
          </a:prstGeom>
          <a:noFill/>
          <a:ln/>
        </p:spPr>
        <p:txBody>
          <a:bodyPr wrap="square" lIns="0" tIns="0" rIns="0" bIns="0" rtlCol="0" anchor="ctr"/>
          <a:lstStyle/>
          <a:p>
            <a:pPr marL="0" indent="0">
              <a:buNone/>
            </a:pPr>
            <a:r>
              <a:rPr lang="en-US" sz="1100" b="1" dirty="0">
                <a:solidFill>
                  <a:srgbClr val="6B21A8"/>
                </a:solidFill>
                <a:latin typeface="Calibri" pitchFamily="34" charset="0"/>
                <a:ea typeface="Calibri" pitchFamily="34" charset="-122"/>
                <a:cs typeface="Calibri" pitchFamily="34" charset="-120"/>
              </a:rPr>
              <a:t>No Real Querying</a:t>
            </a:r>
            <a:endParaRPr lang="en-US" sz="1100" dirty="0"/>
          </a:p>
        </p:txBody>
      </p:sp>
      <p:sp>
        <p:nvSpPr>
          <p:cNvPr id="23" name="Text 21"/>
          <p:cNvSpPr/>
          <p:nvPr/>
        </p:nvSpPr>
        <p:spPr>
          <a:xfrm>
            <a:off x="6245352" y="1408176"/>
            <a:ext cx="2487168" cy="100584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You wrote LINQ filters by hand. A real DB can search millions of rows in milliseconds using indexes. LINQ on a list is O(n) — slow.</a:t>
            </a:r>
            <a:endParaRPr lang="en-US" sz="950" dirty="0"/>
          </a:p>
        </p:txBody>
      </p:sp>
      <p:sp>
        <p:nvSpPr>
          <p:cNvPr id="24" name="Shape 22"/>
          <p:cNvSpPr/>
          <p:nvPr/>
        </p:nvSpPr>
        <p:spPr>
          <a:xfrm>
            <a:off x="228600" y="2679192"/>
            <a:ext cx="2743200" cy="1554480"/>
          </a:xfrm>
          <a:prstGeom prst="rect">
            <a:avLst/>
          </a:prstGeom>
          <a:solidFill>
            <a:srgbClr val="FFFFFF"/>
          </a:solidFill>
          <a:ln w="6350">
            <a:solidFill>
              <a:srgbClr val="E0E0E0"/>
            </a:solidFill>
            <a:prstDash val="solid"/>
          </a:ln>
        </p:spPr>
        <p:txBody>
          <a:bodyPr/>
          <a:lstStyle/>
          <a:p>
            <a:endParaRPr lang="en-PH"/>
          </a:p>
        </p:txBody>
      </p:sp>
      <p:sp>
        <p:nvSpPr>
          <p:cNvPr id="25" name="Shape 23"/>
          <p:cNvSpPr/>
          <p:nvPr/>
        </p:nvSpPr>
        <p:spPr>
          <a:xfrm>
            <a:off x="228600" y="2679192"/>
            <a:ext cx="2743200" cy="54864"/>
          </a:xfrm>
          <a:prstGeom prst="rect">
            <a:avLst/>
          </a:prstGeom>
          <a:solidFill>
            <a:srgbClr val="0369A1"/>
          </a:solidFill>
          <a:ln/>
        </p:spPr>
        <p:txBody>
          <a:bodyPr/>
          <a:lstStyle/>
          <a:p>
            <a:endParaRPr lang="en-PH"/>
          </a:p>
        </p:txBody>
      </p:sp>
      <p:sp>
        <p:nvSpPr>
          <p:cNvPr id="26" name="Text 24"/>
          <p:cNvSpPr/>
          <p:nvPr/>
        </p:nvSpPr>
        <p:spPr>
          <a:xfrm>
            <a:off x="356616" y="2788920"/>
            <a:ext cx="2487168" cy="256032"/>
          </a:xfrm>
          <a:prstGeom prst="rect">
            <a:avLst/>
          </a:prstGeom>
          <a:noFill/>
          <a:ln/>
        </p:spPr>
        <p:txBody>
          <a:bodyPr wrap="square" lIns="0" tIns="0" rIns="0" bIns="0" rtlCol="0" anchor="ctr"/>
          <a:lstStyle/>
          <a:p>
            <a:pPr marL="0" indent="0">
              <a:buNone/>
            </a:pPr>
            <a:r>
              <a:rPr lang="en-US" sz="1100" b="1" dirty="0">
                <a:solidFill>
                  <a:srgbClr val="0369A1"/>
                </a:solidFill>
                <a:latin typeface="Calibri" pitchFamily="34" charset="0"/>
                <a:ea typeface="Calibri" pitchFamily="34" charset="-122"/>
                <a:cs typeface="Calibri" pitchFamily="34" charset="-120"/>
              </a:rPr>
              <a:t>No Relationships</a:t>
            </a:r>
            <a:endParaRPr lang="en-US" sz="1100" dirty="0"/>
          </a:p>
        </p:txBody>
      </p:sp>
      <p:sp>
        <p:nvSpPr>
          <p:cNvPr id="27" name="Text 25"/>
          <p:cNvSpPr/>
          <p:nvPr/>
        </p:nvSpPr>
        <p:spPr>
          <a:xfrm>
            <a:off x="356616" y="3099816"/>
            <a:ext cx="2487168" cy="100584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A Book has an Author. With a list you store the author as a string. A database stores Authors in their own table and links them properly.</a:t>
            </a:r>
            <a:endParaRPr lang="en-US" sz="950" dirty="0"/>
          </a:p>
        </p:txBody>
      </p:sp>
      <p:sp>
        <p:nvSpPr>
          <p:cNvPr id="28" name="Shape 26"/>
          <p:cNvSpPr/>
          <p:nvPr/>
        </p:nvSpPr>
        <p:spPr>
          <a:xfrm>
            <a:off x="3172968" y="2679192"/>
            <a:ext cx="2743200" cy="1554480"/>
          </a:xfrm>
          <a:prstGeom prst="rect">
            <a:avLst/>
          </a:prstGeom>
          <a:solidFill>
            <a:srgbClr val="FFFFFF"/>
          </a:solidFill>
          <a:ln w="6350">
            <a:solidFill>
              <a:srgbClr val="E0E0E0"/>
            </a:solidFill>
            <a:prstDash val="solid"/>
          </a:ln>
        </p:spPr>
        <p:txBody>
          <a:bodyPr/>
          <a:lstStyle/>
          <a:p>
            <a:endParaRPr lang="en-PH"/>
          </a:p>
        </p:txBody>
      </p:sp>
      <p:sp>
        <p:nvSpPr>
          <p:cNvPr id="29" name="Shape 27"/>
          <p:cNvSpPr/>
          <p:nvPr/>
        </p:nvSpPr>
        <p:spPr>
          <a:xfrm>
            <a:off x="3172968" y="2679192"/>
            <a:ext cx="2743200" cy="54864"/>
          </a:xfrm>
          <a:prstGeom prst="rect">
            <a:avLst/>
          </a:prstGeom>
          <a:solidFill>
            <a:srgbClr val="2D7D32"/>
          </a:solidFill>
          <a:ln/>
        </p:spPr>
        <p:txBody>
          <a:bodyPr/>
          <a:lstStyle/>
          <a:p>
            <a:endParaRPr lang="en-PH"/>
          </a:p>
        </p:txBody>
      </p:sp>
      <p:sp>
        <p:nvSpPr>
          <p:cNvPr id="30" name="Text 28"/>
          <p:cNvSpPr/>
          <p:nvPr/>
        </p:nvSpPr>
        <p:spPr>
          <a:xfrm>
            <a:off x="3300984" y="2788920"/>
            <a:ext cx="2487168" cy="256032"/>
          </a:xfrm>
          <a:prstGeom prst="rect">
            <a:avLst/>
          </a:prstGeom>
          <a:noFill/>
          <a:ln/>
        </p:spPr>
        <p:txBody>
          <a:bodyPr wrap="square" lIns="0" tIns="0" rIns="0" bIns="0" rtlCol="0" anchor="ctr"/>
          <a:lstStyle/>
          <a:p>
            <a:pPr marL="0" indent="0">
              <a:buNone/>
            </a:pPr>
            <a:r>
              <a:rPr lang="en-US" sz="1100" b="1" dirty="0">
                <a:solidFill>
                  <a:srgbClr val="2D7D32"/>
                </a:solidFill>
                <a:latin typeface="Calibri" pitchFamily="34" charset="0"/>
                <a:ea typeface="Calibri" pitchFamily="34" charset="-122"/>
                <a:cs typeface="Calibri" pitchFamily="34" charset="-120"/>
              </a:rPr>
              <a:t>No Persistence</a:t>
            </a:r>
            <a:endParaRPr lang="en-US" sz="1100" dirty="0"/>
          </a:p>
        </p:txBody>
      </p:sp>
      <p:sp>
        <p:nvSpPr>
          <p:cNvPr id="31" name="Text 29"/>
          <p:cNvSpPr/>
          <p:nvPr/>
        </p:nvSpPr>
        <p:spPr>
          <a:xfrm>
            <a:off x="3300984" y="3099816"/>
            <a:ext cx="2487168" cy="100584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The list lives in RAM. RAM is lost on crash, restart, or deployment. A database writes to disk — data survives anything short of hardware failure.</a:t>
            </a:r>
            <a:endParaRPr lang="en-US" sz="950" dirty="0"/>
          </a:p>
        </p:txBody>
      </p:sp>
      <p:sp>
        <p:nvSpPr>
          <p:cNvPr id="32" name="Shape 30"/>
          <p:cNvSpPr/>
          <p:nvPr/>
        </p:nvSpPr>
        <p:spPr>
          <a:xfrm>
            <a:off x="6117336" y="2679192"/>
            <a:ext cx="2743200" cy="1554480"/>
          </a:xfrm>
          <a:prstGeom prst="rect">
            <a:avLst/>
          </a:prstGeom>
          <a:solidFill>
            <a:srgbClr val="FFFFFF"/>
          </a:solidFill>
          <a:ln w="6350">
            <a:solidFill>
              <a:srgbClr val="E0E0E0"/>
            </a:solidFill>
            <a:prstDash val="solid"/>
          </a:ln>
        </p:spPr>
        <p:txBody>
          <a:bodyPr/>
          <a:lstStyle/>
          <a:p>
            <a:endParaRPr lang="en-PH"/>
          </a:p>
        </p:txBody>
      </p:sp>
      <p:sp>
        <p:nvSpPr>
          <p:cNvPr id="33" name="Shape 31"/>
          <p:cNvSpPr/>
          <p:nvPr/>
        </p:nvSpPr>
        <p:spPr>
          <a:xfrm>
            <a:off x="6117336" y="2679192"/>
            <a:ext cx="2743200" cy="54864"/>
          </a:xfrm>
          <a:prstGeom prst="rect">
            <a:avLst/>
          </a:prstGeom>
          <a:solidFill>
            <a:srgbClr val="404040"/>
          </a:solidFill>
          <a:ln/>
        </p:spPr>
        <p:txBody>
          <a:bodyPr/>
          <a:lstStyle/>
          <a:p>
            <a:endParaRPr lang="en-PH"/>
          </a:p>
        </p:txBody>
      </p:sp>
      <p:sp>
        <p:nvSpPr>
          <p:cNvPr id="34" name="Text 32"/>
          <p:cNvSpPr/>
          <p:nvPr/>
        </p:nvSpPr>
        <p:spPr>
          <a:xfrm>
            <a:off x="6245352" y="2788920"/>
            <a:ext cx="2487168" cy="256032"/>
          </a:xfrm>
          <a:prstGeom prst="rect">
            <a:avLst/>
          </a:prstGeom>
          <a:noFill/>
          <a:ln/>
        </p:spPr>
        <p:txBody>
          <a:bodyPr wrap="square" lIns="0" tIns="0" rIns="0" bIns="0" rtlCol="0" anchor="ctr"/>
          <a:lstStyle/>
          <a:p>
            <a:pPr marL="0" indent="0">
              <a:buNone/>
            </a:pPr>
            <a:r>
              <a:rPr lang="en-US" sz="1100" b="1" dirty="0">
                <a:solidFill>
                  <a:srgbClr val="404040"/>
                </a:solidFill>
                <a:latin typeface="Calibri" pitchFamily="34" charset="0"/>
                <a:ea typeface="Calibri" pitchFamily="34" charset="-122"/>
                <a:cs typeface="Calibri" pitchFamily="34" charset="-120"/>
              </a:rPr>
              <a:t>No Scale</a:t>
            </a:r>
            <a:endParaRPr lang="en-US" sz="1100" dirty="0"/>
          </a:p>
        </p:txBody>
      </p:sp>
      <p:sp>
        <p:nvSpPr>
          <p:cNvPr id="35" name="Text 33"/>
          <p:cNvSpPr/>
          <p:nvPr/>
        </p:nvSpPr>
        <p:spPr>
          <a:xfrm>
            <a:off x="6245352" y="3099816"/>
            <a:ext cx="2487168" cy="100584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A static list in one server cannot be shared with a second server. Databases are external services — multiple API instances connect to the same DB.</a:t>
            </a:r>
            <a:endParaRPr lang="en-US" sz="950" dirty="0"/>
          </a:p>
        </p:txBody>
      </p:sp>
      <p:sp>
        <p:nvSpPr>
          <p:cNvPr id="36" name="Shape 34"/>
          <p:cNvSpPr/>
          <p:nvPr/>
        </p:nvSpPr>
        <p:spPr>
          <a:xfrm>
            <a:off x="228600" y="4572000"/>
            <a:ext cx="8686800" cy="237744"/>
          </a:xfrm>
          <a:prstGeom prst="rect">
            <a:avLst/>
          </a:prstGeom>
          <a:solidFill>
            <a:srgbClr val="CD172D"/>
          </a:solidFill>
          <a:ln/>
        </p:spPr>
        <p:txBody>
          <a:bodyPr/>
          <a:lstStyle/>
          <a:p>
            <a:endParaRPr lang="en-PH"/>
          </a:p>
        </p:txBody>
      </p:sp>
      <p:sp>
        <p:nvSpPr>
          <p:cNvPr id="37" name="Text 35"/>
          <p:cNvSpPr/>
          <p:nvPr/>
        </p:nvSpPr>
        <p:spPr>
          <a:xfrm>
            <a:off x="347472" y="4590288"/>
            <a:ext cx="841248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Day 7: your BooksController stops using _books and starts using EF Core + PostgreSQL. Same endpoints, same Postman requests — real persistence.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4</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Text 5"/>
          <p:cNvSpPr/>
          <p:nvPr/>
        </p:nvSpPr>
        <p:spPr>
          <a:xfrm>
            <a:off x="274320" y="164592"/>
            <a:ext cx="7772400" cy="457200"/>
          </a:xfrm>
          <a:prstGeom prst="rect">
            <a:avLst/>
          </a:prstGeom>
          <a:noFill/>
          <a:ln/>
        </p:spPr>
        <p:txBody>
          <a:bodyPr wrap="square" lIns="0" tIns="0" rIns="0" bIns="0" rtlCol="0" anchor="ctr"/>
          <a:lstStyle/>
          <a:p>
            <a:pPr marL="0" indent="0">
              <a:buNone/>
            </a:pPr>
            <a:r>
              <a:rPr lang="en-US" sz="2200" b="1" dirty="0">
                <a:solidFill>
                  <a:srgbClr val="0E0F30"/>
                </a:solidFill>
                <a:latin typeface="Calibri" pitchFamily="34" charset="0"/>
                <a:ea typeface="Calibri" pitchFamily="34" charset="-122"/>
                <a:cs typeface="Calibri" pitchFamily="34" charset="-120"/>
              </a:rPr>
              <a:t>The Relational Model — Core Concepts</a:t>
            </a:r>
            <a:endParaRPr lang="en-US" sz="2200" dirty="0"/>
          </a:p>
        </p:txBody>
      </p:sp>
      <p:sp>
        <p:nvSpPr>
          <p:cNvPr id="8" name="Shape 6"/>
          <p:cNvSpPr/>
          <p:nvPr/>
        </p:nvSpPr>
        <p:spPr>
          <a:xfrm>
            <a:off x="274320" y="640080"/>
            <a:ext cx="1645920" cy="36576"/>
          </a:xfrm>
          <a:prstGeom prst="rect">
            <a:avLst/>
          </a:prstGeom>
          <a:solidFill>
            <a:srgbClr val="CD172D"/>
          </a:solidFill>
          <a:ln/>
        </p:spPr>
        <p:txBody>
          <a:bodyPr/>
          <a:lstStyle/>
          <a:p>
            <a:endParaRPr lang="en-PH"/>
          </a:p>
        </p:txBody>
      </p:sp>
      <p:sp>
        <p:nvSpPr>
          <p:cNvPr id="9" name="Text 7"/>
          <p:cNvSpPr/>
          <p:nvPr/>
        </p:nvSpPr>
        <p:spPr>
          <a:xfrm>
            <a:off x="274320" y="694944"/>
            <a:ext cx="82296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Edgar Codd, 1970. Every modern database is built on these ideas.</a:t>
            </a:r>
            <a:endParaRPr lang="en-US" sz="1100" dirty="0"/>
          </a:p>
        </p:txBody>
      </p:sp>
      <p:sp>
        <p:nvSpPr>
          <p:cNvPr id="10" name="Shape 8"/>
          <p:cNvSpPr/>
          <p:nvPr/>
        </p:nvSpPr>
        <p:spPr>
          <a:xfrm>
            <a:off x="228600" y="987552"/>
            <a:ext cx="4983480" cy="3749040"/>
          </a:xfrm>
          <a:prstGeom prst="rect">
            <a:avLst/>
          </a:prstGeom>
          <a:solidFill>
            <a:srgbClr val="0E0F30"/>
          </a:solidFill>
          <a:ln/>
        </p:spPr>
        <p:txBody>
          <a:bodyPr/>
          <a:lstStyle/>
          <a:p>
            <a:endParaRPr lang="en-PH"/>
          </a:p>
        </p:txBody>
      </p:sp>
      <p:sp>
        <p:nvSpPr>
          <p:cNvPr id="11" name="Shape 9"/>
          <p:cNvSpPr/>
          <p:nvPr/>
        </p:nvSpPr>
        <p:spPr>
          <a:xfrm>
            <a:off x="228600" y="987552"/>
            <a:ext cx="4983480" cy="256032"/>
          </a:xfrm>
          <a:prstGeom prst="rect">
            <a:avLst/>
          </a:prstGeom>
          <a:solidFill>
            <a:srgbClr val="CD172D"/>
          </a:solidFill>
          <a:ln/>
        </p:spPr>
        <p:txBody>
          <a:bodyPr/>
          <a:lstStyle/>
          <a:p>
            <a:endParaRPr lang="en-PH"/>
          </a:p>
        </p:txBody>
      </p:sp>
      <p:sp>
        <p:nvSpPr>
          <p:cNvPr id="12" name="Shape 10"/>
          <p:cNvSpPr/>
          <p:nvPr/>
        </p:nvSpPr>
        <p:spPr>
          <a:xfrm>
            <a:off x="228600" y="1115568"/>
            <a:ext cx="4983480" cy="128016"/>
          </a:xfrm>
          <a:prstGeom prst="rect">
            <a:avLst/>
          </a:prstGeom>
          <a:solidFill>
            <a:srgbClr val="CD172D"/>
          </a:solidFill>
          <a:ln/>
        </p:spPr>
        <p:txBody>
          <a:bodyPr/>
          <a:lstStyle/>
          <a:p>
            <a:endParaRPr lang="en-PH"/>
          </a:p>
        </p:txBody>
      </p:sp>
      <p:sp>
        <p:nvSpPr>
          <p:cNvPr id="13" name="Text 11"/>
          <p:cNvSpPr/>
          <p:nvPr/>
        </p:nvSpPr>
        <p:spPr>
          <a:xfrm>
            <a:off x="338328" y="1005840"/>
            <a:ext cx="484632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 Table = rows + columns with rules</a:t>
            </a:r>
            <a:endParaRPr lang="en-US" sz="900" dirty="0"/>
          </a:p>
        </p:txBody>
      </p:sp>
      <p:sp>
        <p:nvSpPr>
          <p:cNvPr id="14" name="Text 12"/>
          <p:cNvSpPr/>
          <p:nvPr/>
        </p:nvSpPr>
        <p:spPr>
          <a:xfrm>
            <a:off x="338328" y="1280160"/>
            <a:ext cx="4800600" cy="3383280"/>
          </a:xfrm>
          <a:prstGeom prst="rect">
            <a:avLst/>
          </a:prstGeom>
          <a:noFill/>
          <a:ln/>
        </p:spPr>
        <p:txBody>
          <a:bodyPr wrap="square" lIns="0" tIns="0" rIns="0" bIns="0" rtlCol="0" anchor="ctr"/>
          <a:lstStyle/>
          <a:p>
            <a:pPr marL="0" indent="0">
              <a:buNone/>
            </a:pPr>
            <a:r>
              <a:rPr lang="en-US" sz="900" dirty="0">
                <a:solidFill>
                  <a:srgbClr val="7DD3FC"/>
                </a:solidFill>
                <a:latin typeface="Consolas" pitchFamily="34" charset="0"/>
                <a:ea typeface="Consolas" pitchFamily="34" charset="-122"/>
                <a:cs typeface="Consolas" pitchFamily="34" charset="-120"/>
              </a:rPr>
              <a:t>-- A table is like a C# class definition:</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columns = properties</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rows    = individual objects</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rules   = data type + constraints</a:t>
            </a:r>
            <a:endParaRPr lang="en-US" sz="900" dirty="0"/>
          </a:p>
          <a:p>
            <a:pPr marL="0" indent="0">
              <a:buNone/>
            </a:pP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This table stores books</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SELECT * FROM books;</a:t>
            </a:r>
            <a:endParaRPr lang="en-US" sz="900" dirty="0"/>
          </a:p>
          <a:p>
            <a:pPr marL="0" indent="0">
              <a:buNone/>
            </a:pP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id | title          | author         | available | year</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1 | Clean Code     | Robert Martin  | true      | 2008</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2 | C# in Depth    | Jon Skeet      | false     | 2019</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3 | Dune           | Frank Herbert  | true      | 1965</a:t>
            </a:r>
            <a:endParaRPr lang="en-US" sz="900" dirty="0"/>
          </a:p>
          <a:p>
            <a:pPr marL="0" indent="0">
              <a:buNone/>
            </a:pP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Compare to your Day 2 C# class:</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public class Book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public int    Id        { get; set;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public string Title     { get; set;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public string Author    { get; set;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public bool   Available { get; set;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The mental model is IDENTICAL.</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Table  = class definition</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Row    = one object instance</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Column = one property</a:t>
            </a:r>
            <a:endParaRPr lang="en-US" sz="900" dirty="0"/>
          </a:p>
        </p:txBody>
      </p:sp>
      <p:sp>
        <p:nvSpPr>
          <p:cNvPr id="15" name="Shape 13"/>
          <p:cNvSpPr/>
          <p:nvPr/>
        </p:nvSpPr>
        <p:spPr>
          <a:xfrm>
            <a:off x="5486400" y="987552"/>
            <a:ext cx="3429000" cy="3749040"/>
          </a:xfrm>
          <a:prstGeom prst="rect">
            <a:avLst/>
          </a:prstGeom>
          <a:solidFill>
            <a:srgbClr val="FFFFFF"/>
          </a:solidFill>
          <a:ln w="6350">
            <a:solidFill>
              <a:srgbClr val="E0E0E0"/>
            </a:solidFill>
            <a:prstDash val="solid"/>
          </a:ln>
        </p:spPr>
        <p:txBody>
          <a:bodyPr/>
          <a:lstStyle/>
          <a:p>
            <a:endParaRPr lang="en-PH"/>
          </a:p>
        </p:txBody>
      </p:sp>
      <p:sp>
        <p:nvSpPr>
          <p:cNvPr id="16" name="Text 14"/>
          <p:cNvSpPr/>
          <p:nvPr/>
        </p:nvSpPr>
        <p:spPr>
          <a:xfrm>
            <a:off x="5614416" y="1033272"/>
            <a:ext cx="3200400" cy="256032"/>
          </a:xfrm>
          <a:prstGeom prst="rect">
            <a:avLst/>
          </a:prstGeom>
          <a:noFill/>
          <a:ln/>
        </p:spPr>
        <p:txBody>
          <a:bodyPr wrap="square" lIns="0" tIns="0" rIns="0" bIns="0" rtlCol="0" anchor="ctr"/>
          <a:lstStyle/>
          <a:p>
            <a:pPr marL="0" indent="0">
              <a:buNone/>
            </a:pPr>
            <a:r>
              <a:rPr lang="en-US" sz="1200" b="1" dirty="0">
                <a:solidFill>
                  <a:srgbClr val="CD172D"/>
                </a:solidFill>
                <a:latin typeface="Calibri" pitchFamily="34" charset="0"/>
                <a:ea typeface="Calibri" pitchFamily="34" charset="-122"/>
                <a:cs typeface="Calibri" pitchFamily="34" charset="-120"/>
              </a:rPr>
              <a:t>Key Concepts</a:t>
            </a:r>
            <a:endParaRPr lang="en-US" sz="1200" dirty="0"/>
          </a:p>
        </p:txBody>
      </p:sp>
      <p:sp>
        <p:nvSpPr>
          <p:cNvPr id="17" name="Text 15"/>
          <p:cNvSpPr/>
          <p:nvPr/>
        </p:nvSpPr>
        <p:spPr>
          <a:xfrm>
            <a:off x="5614416" y="1389888"/>
            <a:ext cx="3200400" cy="201168"/>
          </a:xfrm>
          <a:prstGeom prst="rect">
            <a:avLst/>
          </a:prstGeom>
          <a:noFill/>
          <a:ln/>
        </p:spPr>
        <p:txBody>
          <a:bodyPr wrap="square" lIns="0" tIns="0" rIns="0" bIns="0" rtlCol="0" anchor="ctr"/>
          <a:lstStyle/>
          <a:p>
            <a:pPr marL="0" indent="0">
              <a:buNone/>
            </a:pPr>
            <a:r>
              <a:rPr lang="en-US" sz="950" b="1" dirty="0">
                <a:solidFill>
                  <a:srgbClr val="0E0F30"/>
                </a:solidFill>
                <a:latin typeface="Calibri" pitchFamily="34" charset="0"/>
                <a:ea typeface="Calibri" pitchFamily="34" charset="-122"/>
                <a:cs typeface="Calibri" pitchFamily="34" charset="-120"/>
              </a:rPr>
              <a:t>Table (Relation)</a:t>
            </a:r>
            <a:endParaRPr lang="en-US" sz="950" dirty="0"/>
          </a:p>
        </p:txBody>
      </p:sp>
      <p:sp>
        <p:nvSpPr>
          <p:cNvPr id="18" name="Text 16"/>
          <p:cNvSpPr/>
          <p:nvPr/>
        </p:nvSpPr>
        <p:spPr>
          <a:xfrm>
            <a:off x="5614416" y="1581912"/>
            <a:ext cx="3200400" cy="320040"/>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A named grid of rows and columns. One table per entity type (books, authors, loans).</a:t>
            </a:r>
            <a:endParaRPr lang="en-US" sz="850" dirty="0"/>
          </a:p>
        </p:txBody>
      </p:sp>
      <p:sp>
        <p:nvSpPr>
          <p:cNvPr id="19" name="Text 17"/>
          <p:cNvSpPr/>
          <p:nvPr/>
        </p:nvSpPr>
        <p:spPr>
          <a:xfrm>
            <a:off x="5614416" y="1938528"/>
            <a:ext cx="3200400" cy="201168"/>
          </a:xfrm>
          <a:prstGeom prst="rect">
            <a:avLst/>
          </a:prstGeom>
          <a:noFill/>
          <a:ln/>
        </p:spPr>
        <p:txBody>
          <a:bodyPr wrap="square" lIns="0" tIns="0" rIns="0" bIns="0" rtlCol="0" anchor="ctr"/>
          <a:lstStyle/>
          <a:p>
            <a:pPr marL="0" indent="0">
              <a:buNone/>
            </a:pPr>
            <a:r>
              <a:rPr lang="en-US" sz="950" b="1" dirty="0">
                <a:solidFill>
                  <a:srgbClr val="0E0F30"/>
                </a:solidFill>
                <a:latin typeface="Calibri" pitchFamily="34" charset="0"/>
                <a:ea typeface="Calibri" pitchFamily="34" charset="-122"/>
                <a:cs typeface="Calibri" pitchFamily="34" charset="-120"/>
              </a:rPr>
              <a:t>Row (Record / Tuple)</a:t>
            </a:r>
            <a:endParaRPr lang="en-US" sz="950" dirty="0"/>
          </a:p>
        </p:txBody>
      </p:sp>
      <p:sp>
        <p:nvSpPr>
          <p:cNvPr id="20" name="Text 18"/>
          <p:cNvSpPr/>
          <p:nvPr/>
        </p:nvSpPr>
        <p:spPr>
          <a:xfrm>
            <a:off x="5614416" y="2130552"/>
            <a:ext cx="3200400" cy="320040"/>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One single entry in the table. Equivalent to one C# object instance.</a:t>
            </a:r>
            <a:endParaRPr lang="en-US" sz="850" dirty="0"/>
          </a:p>
        </p:txBody>
      </p:sp>
      <p:sp>
        <p:nvSpPr>
          <p:cNvPr id="21" name="Text 19"/>
          <p:cNvSpPr/>
          <p:nvPr/>
        </p:nvSpPr>
        <p:spPr>
          <a:xfrm>
            <a:off x="5614416" y="2487168"/>
            <a:ext cx="3200400" cy="201168"/>
          </a:xfrm>
          <a:prstGeom prst="rect">
            <a:avLst/>
          </a:prstGeom>
          <a:noFill/>
          <a:ln/>
        </p:spPr>
        <p:txBody>
          <a:bodyPr wrap="square" lIns="0" tIns="0" rIns="0" bIns="0" rtlCol="0" anchor="ctr"/>
          <a:lstStyle/>
          <a:p>
            <a:pPr marL="0" indent="0">
              <a:buNone/>
            </a:pPr>
            <a:r>
              <a:rPr lang="en-US" sz="950" b="1" dirty="0">
                <a:solidFill>
                  <a:srgbClr val="0E0F30"/>
                </a:solidFill>
                <a:latin typeface="Calibri" pitchFamily="34" charset="0"/>
                <a:ea typeface="Calibri" pitchFamily="34" charset="-122"/>
                <a:cs typeface="Calibri" pitchFamily="34" charset="-120"/>
              </a:rPr>
              <a:t>Column (Attribute)</a:t>
            </a:r>
            <a:endParaRPr lang="en-US" sz="950" dirty="0"/>
          </a:p>
        </p:txBody>
      </p:sp>
      <p:sp>
        <p:nvSpPr>
          <p:cNvPr id="22" name="Text 20"/>
          <p:cNvSpPr/>
          <p:nvPr/>
        </p:nvSpPr>
        <p:spPr>
          <a:xfrm>
            <a:off x="5614416" y="2679192"/>
            <a:ext cx="3200400" cy="320040"/>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A named, typed field. Every row has the same columns. Equivalent to a C# property.</a:t>
            </a:r>
            <a:endParaRPr lang="en-US" sz="850" dirty="0"/>
          </a:p>
        </p:txBody>
      </p:sp>
      <p:sp>
        <p:nvSpPr>
          <p:cNvPr id="23" name="Text 21"/>
          <p:cNvSpPr/>
          <p:nvPr/>
        </p:nvSpPr>
        <p:spPr>
          <a:xfrm>
            <a:off x="5614416" y="3035808"/>
            <a:ext cx="3200400" cy="201168"/>
          </a:xfrm>
          <a:prstGeom prst="rect">
            <a:avLst/>
          </a:prstGeom>
          <a:noFill/>
          <a:ln/>
        </p:spPr>
        <p:txBody>
          <a:bodyPr wrap="square" lIns="0" tIns="0" rIns="0" bIns="0" rtlCol="0" anchor="ctr"/>
          <a:lstStyle/>
          <a:p>
            <a:pPr marL="0" indent="0">
              <a:buNone/>
            </a:pPr>
            <a:r>
              <a:rPr lang="en-US" sz="950" b="1" dirty="0">
                <a:solidFill>
                  <a:srgbClr val="0E0F30"/>
                </a:solidFill>
                <a:latin typeface="Calibri" pitchFamily="34" charset="0"/>
                <a:ea typeface="Calibri" pitchFamily="34" charset="-122"/>
                <a:cs typeface="Calibri" pitchFamily="34" charset="-120"/>
              </a:rPr>
              <a:t>Primary Key (PK)</a:t>
            </a:r>
            <a:endParaRPr lang="en-US" sz="950" dirty="0"/>
          </a:p>
        </p:txBody>
      </p:sp>
      <p:sp>
        <p:nvSpPr>
          <p:cNvPr id="24" name="Text 22"/>
          <p:cNvSpPr/>
          <p:nvPr/>
        </p:nvSpPr>
        <p:spPr>
          <a:xfrm>
            <a:off x="5614416" y="3227832"/>
            <a:ext cx="3200400" cy="320040"/>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A column (or combination) that uniquely identifies each row. Usually "id SERIAL". No two rows can share a PK.</a:t>
            </a:r>
            <a:endParaRPr lang="en-US" sz="850" dirty="0"/>
          </a:p>
        </p:txBody>
      </p:sp>
      <p:sp>
        <p:nvSpPr>
          <p:cNvPr id="25" name="Text 23"/>
          <p:cNvSpPr/>
          <p:nvPr/>
        </p:nvSpPr>
        <p:spPr>
          <a:xfrm>
            <a:off x="5614416" y="3584448"/>
            <a:ext cx="3200400" cy="201168"/>
          </a:xfrm>
          <a:prstGeom prst="rect">
            <a:avLst/>
          </a:prstGeom>
          <a:noFill/>
          <a:ln/>
        </p:spPr>
        <p:txBody>
          <a:bodyPr wrap="square" lIns="0" tIns="0" rIns="0" bIns="0" rtlCol="0" anchor="ctr"/>
          <a:lstStyle/>
          <a:p>
            <a:pPr marL="0" indent="0">
              <a:buNone/>
            </a:pPr>
            <a:r>
              <a:rPr lang="en-US" sz="950" b="1" dirty="0">
                <a:solidFill>
                  <a:srgbClr val="0E0F30"/>
                </a:solidFill>
                <a:latin typeface="Calibri" pitchFamily="34" charset="0"/>
                <a:ea typeface="Calibri" pitchFamily="34" charset="-122"/>
                <a:cs typeface="Calibri" pitchFamily="34" charset="-120"/>
              </a:rPr>
              <a:t>Foreign Key (FK)</a:t>
            </a:r>
            <a:endParaRPr lang="en-US" sz="950" dirty="0"/>
          </a:p>
        </p:txBody>
      </p:sp>
      <p:sp>
        <p:nvSpPr>
          <p:cNvPr id="26" name="Text 24"/>
          <p:cNvSpPr/>
          <p:nvPr/>
        </p:nvSpPr>
        <p:spPr>
          <a:xfrm>
            <a:off x="5614416" y="3776472"/>
            <a:ext cx="3200400" cy="320040"/>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A column that references the PK of another table. Creates a relationship. author_id in books references id in authors.</a:t>
            </a:r>
            <a:endParaRPr lang="en-US" sz="850" dirty="0"/>
          </a:p>
        </p:txBody>
      </p:sp>
      <p:sp>
        <p:nvSpPr>
          <p:cNvPr id="27" name="Text 25"/>
          <p:cNvSpPr/>
          <p:nvPr/>
        </p:nvSpPr>
        <p:spPr>
          <a:xfrm>
            <a:off x="5614416" y="4133088"/>
            <a:ext cx="3200400" cy="201168"/>
          </a:xfrm>
          <a:prstGeom prst="rect">
            <a:avLst/>
          </a:prstGeom>
          <a:noFill/>
          <a:ln/>
        </p:spPr>
        <p:txBody>
          <a:bodyPr wrap="square" lIns="0" tIns="0" rIns="0" bIns="0" rtlCol="0" anchor="ctr"/>
          <a:lstStyle/>
          <a:p>
            <a:pPr marL="0" indent="0">
              <a:buNone/>
            </a:pPr>
            <a:r>
              <a:rPr lang="en-US" sz="950" b="1" dirty="0">
                <a:solidFill>
                  <a:srgbClr val="0E0F30"/>
                </a:solidFill>
                <a:latin typeface="Calibri" pitchFamily="34" charset="0"/>
                <a:ea typeface="Calibri" pitchFamily="34" charset="-122"/>
                <a:cs typeface="Calibri" pitchFamily="34" charset="-120"/>
              </a:rPr>
              <a:t>Schema</a:t>
            </a:r>
            <a:endParaRPr lang="en-US" sz="950" dirty="0"/>
          </a:p>
        </p:txBody>
      </p:sp>
      <p:sp>
        <p:nvSpPr>
          <p:cNvPr id="28" name="Text 26"/>
          <p:cNvSpPr/>
          <p:nvPr/>
        </p:nvSpPr>
        <p:spPr>
          <a:xfrm>
            <a:off x="5614416" y="4325112"/>
            <a:ext cx="3200400" cy="320040"/>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The overall structure — all tables, their columns, types, and relationships. Like a C# class definition but for the database.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5</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Text 5"/>
          <p:cNvSpPr/>
          <p:nvPr/>
        </p:nvSpPr>
        <p:spPr>
          <a:xfrm>
            <a:off x="274320" y="164592"/>
            <a:ext cx="7772400" cy="457200"/>
          </a:xfrm>
          <a:prstGeom prst="rect">
            <a:avLst/>
          </a:prstGeom>
          <a:noFill/>
          <a:ln/>
        </p:spPr>
        <p:txBody>
          <a:bodyPr wrap="square" lIns="0" tIns="0" rIns="0" bIns="0" rtlCol="0" anchor="ctr"/>
          <a:lstStyle/>
          <a:p>
            <a:pPr marL="0" indent="0">
              <a:buNone/>
            </a:pPr>
            <a:r>
              <a:rPr lang="en-US" sz="2200" b="1" dirty="0">
                <a:solidFill>
                  <a:srgbClr val="0E0F30"/>
                </a:solidFill>
                <a:latin typeface="Calibri" pitchFamily="34" charset="0"/>
                <a:ea typeface="Calibri" pitchFamily="34" charset="-122"/>
                <a:cs typeface="Calibri" pitchFamily="34" charset="-120"/>
              </a:rPr>
              <a:t>PostgreSQL Setup — Install &amp; Connect</a:t>
            </a:r>
            <a:endParaRPr lang="en-US" sz="2200" dirty="0"/>
          </a:p>
        </p:txBody>
      </p:sp>
      <p:sp>
        <p:nvSpPr>
          <p:cNvPr id="8" name="Shape 6"/>
          <p:cNvSpPr/>
          <p:nvPr/>
        </p:nvSpPr>
        <p:spPr>
          <a:xfrm>
            <a:off x="274320" y="640080"/>
            <a:ext cx="1645920" cy="36576"/>
          </a:xfrm>
          <a:prstGeom prst="rect">
            <a:avLst/>
          </a:prstGeom>
          <a:solidFill>
            <a:srgbClr val="CD172D"/>
          </a:solidFill>
          <a:ln/>
        </p:spPr>
        <p:txBody>
          <a:bodyPr/>
          <a:lstStyle/>
          <a:p>
            <a:endParaRPr lang="en-PH"/>
          </a:p>
        </p:txBody>
      </p:sp>
      <p:sp>
        <p:nvSpPr>
          <p:cNvPr id="9" name="Text 7"/>
          <p:cNvSpPr/>
          <p:nvPr/>
        </p:nvSpPr>
        <p:spPr>
          <a:xfrm>
            <a:off x="274320" y="694944"/>
            <a:ext cx="82296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Everything you need running before you can write SQL</a:t>
            </a:r>
            <a:endParaRPr lang="en-US" sz="1100" dirty="0"/>
          </a:p>
        </p:txBody>
      </p:sp>
      <p:sp>
        <p:nvSpPr>
          <p:cNvPr id="10" name="Shape 8"/>
          <p:cNvSpPr/>
          <p:nvPr/>
        </p:nvSpPr>
        <p:spPr>
          <a:xfrm>
            <a:off x="6949440" y="164592"/>
            <a:ext cx="1920240" cy="347472"/>
          </a:xfrm>
          <a:prstGeom prst="rect">
            <a:avLst/>
          </a:prstGeom>
          <a:solidFill>
            <a:srgbClr val="1E3A5F"/>
          </a:solidFill>
          <a:ln/>
        </p:spPr>
        <p:txBody>
          <a:bodyPr/>
          <a:lstStyle/>
          <a:p>
            <a:endParaRPr lang="en-PH"/>
          </a:p>
        </p:txBody>
      </p:sp>
      <p:sp>
        <p:nvSpPr>
          <p:cNvPr id="11" name="Text 9"/>
          <p:cNvSpPr/>
          <p:nvPr/>
        </p:nvSpPr>
        <p:spPr>
          <a:xfrm>
            <a:off x="6967728" y="182880"/>
            <a:ext cx="1883664" cy="310896"/>
          </a:xfrm>
          <a:prstGeom prst="rect">
            <a:avLst/>
          </a:prstGeom>
          <a:noFill/>
          <a:ln/>
        </p:spPr>
        <p:txBody>
          <a:bodyPr wrap="square" lIns="0" tIns="0" rIns="0" bIns="0" rtlCol="0" anchor="ctr"/>
          <a:lstStyle/>
          <a:p>
            <a:pPr marL="0" indent="0" algn="ctr">
              <a:buNone/>
            </a:pPr>
            <a:r>
              <a:rPr lang="en-US" sz="800" b="1" dirty="0">
                <a:solidFill>
                  <a:srgbClr val="93C5FD"/>
                </a:solidFill>
                <a:latin typeface="Calibri" pitchFamily="34" charset="0"/>
                <a:ea typeface="Calibri" pitchFamily="34" charset="-122"/>
                <a:cs typeface="Calibri" pitchFamily="34" charset="-120"/>
              </a:rPr>
              <a:t>📍 Required for Day 7</a:t>
            </a:r>
            <a:endParaRPr lang="en-US" sz="800" dirty="0"/>
          </a:p>
        </p:txBody>
      </p:sp>
      <p:sp>
        <p:nvSpPr>
          <p:cNvPr id="12" name="Shape 10"/>
          <p:cNvSpPr/>
          <p:nvPr/>
        </p:nvSpPr>
        <p:spPr>
          <a:xfrm>
            <a:off x="228600" y="987552"/>
            <a:ext cx="4251960" cy="2331720"/>
          </a:xfrm>
          <a:prstGeom prst="rect">
            <a:avLst/>
          </a:prstGeom>
          <a:solidFill>
            <a:srgbClr val="0E0F30"/>
          </a:solidFill>
          <a:ln/>
        </p:spPr>
        <p:txBody>
          <a:bodyPr/>
          <a:lstStyle/>
          <a:p>
            <a:endParaRPr lang="en-PH"/>
          </a:p>
        </p:txBody>
      </p:sp>
      <p:sp>
        <p:nvSpPr>
          <p:cNvPr id="13" name="Shape 11"/>
          <p:cNvSpPr/>
          <p:nvPr/>
        </p:nvSpPr>
        <p:spPr>
          <a:xfrm>
            <a:off x="228600" y="987552"/>
            <a:ext cx="4251960" cy="256032"/>
          </a:xfrm>
          <a:prstGeom prst="rect">
            <a:avLst/>
          </a:prstGeom>
          <a:solidFill>
            <a:srgbClr val="CD172D"/>
          </a:solidFill>
          <a:ln/>
        </p:spPr>
        <p:txBody>
          <a:bodyPr/>
          <a:lstStyle/>
          <a:p>
            <a:endParaRPr lang="en-PH"/>
          </a:p>
        </p:txBody>
      </p:sp>
      <p:sp>
        <p:nvSpPr>
          <p:cNvPr id="14" name="Shape 12"/>
          <p:cNvSpPr/>
          <p:nvPr/>
        </p:nvSpPr>
        <p:spPr>
          <a:xfrm>
            <a:off x="228600" y="1115568"/>
            <a:ext cx="4251960" cy="128016"/>
          </a:xfrm>
          <a:prstGeom prst="rect">
            <a:avLst/>
          </a:prstGeom>
          <a:solidFill>
            <a:srgbClr val="CD172D"/>
          </a:solidFill>
          <a:ln/>
        </p:spPr>
        <p:txBody>
          <a:bodyPr/>
          <a:lstStyle/>
          <a:p>
            <a:endParaRPr lang="en-PH"/>
          </a:p>
        </p:txBody>
      </p:sp>
      <p:sp>
        <p:nvSpPr>
          <p:cNvPr id="15" name="Text 13"/>
          <p:cNvSpPr/>
          <p:nvPr/>
        </p:nvSpPr>
        <p:spPr>
          <a:xfrm>
            <a:off x="338328" y="1005840"/>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Install PostgreSQL</a:t>
            </a:r>
            <a:endParaRPr lang="en-US" sz="900" dirty="0"/>
          </a:p>
        </p:txBody>
      </p:sp>
      <p:sp>
        <p:nvSpPr>
          <p:cNvPr id="16" name="Text 14"/>
          <p:cNvSpPr/>
          <p:nvPr/>
        </p:nvSpPr>
        <p:spPr>
          <a:xfrm>
            <a:off x="338328" y="1280160"/>
            <a:ext cx="4069080" cy="1965960"/>
          </a:xfrm>
          <a:prstGeom prst="rect">
            <a:avLst/>
          </a:prstGeom>
          <a:noFill/>
          <a:ln/>
        </p:spPr>
        <p:txBody>
          <a:bodyPr wrap="square" lIns="0" tIns="0" rIns="0" bIns="0" rtlCol="0" anchor="ctr"/>
          <a:lstStyle/>
          <a:p>
            <a:pPr marL="0" indent="0">
              <a:buNone/>
            </a:pPr>
            <a:r>
              <a:rPr lang="en-US" sz="900" dirty="0">
                <a:solidFill>
                  <a:srgbClr val="7DD3FC"/>
                </a:solidFill>
                <a:latin typeface="Consolas" pitchFamily="34" charset="0"/>
                <a:ea typeface="Consolas" pitchFamily="34" charset="-122"/>
                <a:cs typeface="Consolas" pitchFamily="34" charset="-120"/>
              </a:rPr>
              <a:t># Windows — download the installer:</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postgresql.org/download/windows</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 Download → PostgreSQL 16 → Run installer</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 Remember the password you set for "postgres"</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 Default port: 5432 (leave as-is)</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 → Default locale: leave as-is → Finish</a:t>
            </a:r>
            <a:endParaRPr lang="en-US" sz="900" dirty="0"/>
          </a:p>
          <a:p>
            <a:pPr marL="0" indent="0">
              <a:buNone/>
            </a:pPr>
            <a:endParaRPr lang="en-US" sz="900" dirty="0"/>
          </a:p>
        </p:txBody>
      </p:sp>
      <p:sp>
        <p:nvSpPr>
          <p:cNvPr id="17" name="Shape 15"/>
          <p:cNvSpPr/>
          <p:nvPr/>
        </p:nvSpPr>
        <p:spPr>
          <a:xfrm>
            <a:off x="4663440" y="987552"/>
            <a:ext cx="4251960" cy="2331720"/>
          </a:xfrm>
          <a:prstGeom prst="rect">
            <a:avLst/>
          </a:prstGeom>
          <a:solidFill>
            <a:srgbClr val="0E0F30"/>
          </a:solidFill>
          <a:ln/>
        </p:spPr>
        <p:txBody>
          <a:bodyPr/>
          <a:lstStyle/>
          <a:p>
            <a:endParaRPr lang="en-PH"/>
          </a:p>
        </p:txBody>
      </p:sp>
      <p:sp>
        <p:nvSpPr>
          <p:cNvPr id="18" name="Shape 16"/>
          <p:cNvSpPr/>
          <p:nvPr/>
        </p:nvSpPr>
        <p:spPr>
          <a:xfrm>
            <a:off x="4663440" y="987552"/>
            <a:ext cx="4251960" cy="256032"/>
          </a:xfrm>
          <a:prstGeom prst="rect">
            <a:avLst/>
          </a:prstGeom>
          <a:solidFill>
            <a:srgbClr val="CD172D"/>
          </a:solidFill>
          <a:ln/>
        </p:spPr>
        <p:txBody>
          <a:bodyPr/>
          <a:lstStyle/>
          <a:p>
            <a:endParaRPr lang="en-PH"/>
          </a:p>
        </p:txBody>
      </p:sp>
      <p:sp>
        <p:nvSpPr>
          <p:cNvPr id="19" name="Shape 17"/>
          <p:cNvSpPr/>
          <p:nvPr/>
        </p:nvSpPr>
        <p:spPr>
          <a:xfrm>
            <a:off x="4663440" y="1115568"/>
            <a:ext cx="4251960" cy="128016"/>
          </a:xfrm>
          <a:prstGeom prst="rect">
            <a:avLst/>
          </a:prstGeom>
          <a:solidFill>
            <a:srgbClr val="CD172D"/>
          </a:solidFill>
          <a:ln/>
        </p:spPr>
        <p:txBody>
          <a:bodyPr/>
          <a:lstStyle/>
          <a:p>
            <a:endParaRPr lang="en-PH"/>
          </a:p>
        </p:txBody>
      </p:sp>
      <p:sp>
        <p:nvSpPr>
          <p:cNvPr id="20" name="Text 18"/>
          <p:cNvSpPr/>
          <p:nvPr/>
        </p:nvSpPr>
        <p:spPr>
          <a:xfrm>
            <a:off x="4773168" y="1005840"/>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Connect with psql (Terminal)</a:t>
            </a:r>
            <a:endParaRPr lang="en-US" sz="900" dirty="0"/>
          </a:p>
        </p:txBody>
      </p:sp>
      <p:sp>
        <p:nvSpPr>
          <p:cNvPr id="21" name="Text 19"/>
          <p:cNvSpPr/>
          <p:nvPr/>
        </p:nvSpPr>
        <p:spPr>
          <a:xfrm>
            <a:off x="4773168" y="1280160"/>
            <a:ext cx="4069080" cy="1965960"/>
          </a:xfrm>
          <a:prstGeom prst="rect">
            <a:avLst/>
          </a:prstGeom>
          <a:noFill/>
          <a:ln/>
        </p:spPr>
        <p:txBody>
          <a:bodyPr wrap="square" lIns="0" tIns="0" rIns="0" bIns="0" rtlCol="0" anchor="ctr"/>
          <a:lstStyle/>
          <a:p>
            <a:pPr marL="0" indent="0">
              <a:buNone/>
            </a:pPr>
            <a:r>
              <a:rPr lang="en-US" sz="650" dirty="0">
                <a:solidFill>
                  <a:srgbClr val="7DD3FC"/>
                </a:solidFill>
                <a:latin typeface="Consolas" pitchFamily="34" charset="0"/>
                <a:ea typeface="Consolas" pitchFamily="34" charset="-122"/>
                <a:cs typeface="Consolas" pitchFamily="34" charset="-120"/>
              </a:rPr>
              <a:t># Open psql command-line client:</a:t>
            </a:r>
            <a:endParaRPr lang="en-US" sz="650" dirty="0"/>
          </a:p>
          <a:p>
            <a:pPr marL="0" indent="0">
              <a:buNone/>
            </a:pPr>
            <a:r>
              <a:rPr lang="en-US" sz="650" dirty="0">
                <a:solidFill>
                  <a:srgbClr val="7DD3FC"/>
                </a:solidFill>
                <a:latin typeface="Consolas" pitchFamily="34" charset="0"/>
                <a:ea typeface="Consolas" pitchFamily="34" charset="-122"/>
                <a:cs typeface="Consolas" pitchFamily="34" charset="-120"/>
              </a:rPr>
              <a:t># Windows: search "psql" in Start Menu</a:t>
            </a:r>
            <a:endParaRPr lang="en-US" sz="650" dirty="0"/>
          </a:p>
          <a:p>
            <a:pPr marL="0" indent="0">
              <a:buNone/>
            </a:pPr>
            <a:r>
              <a:rPr lang="en-US" sz="650" dirty="0">
                <a:solidFill>
                  <a:srgbClr val="7DD3FC"/>
                </a:solidFill>
                <a:latin typeface="Consolas" pitchFamily="34" charset="0"/>
                <a:ea typeface="Consolas" pitchFamily="34" charset="-122"/>
                <a:cs typeface="Consolas" pitchFamily="34" charset="-120"/>
              </a:rPr>
              <a:t># Mac/Linux: open Terminal</a:t>
            </a:r>
            <a:br>
              <a:rPr lang="en-US" sz="650" dirty="0">
                <a:solidFill>
                  <a:srgbClr val="7DD3FC"/>
                </a:solidFill>
                <a:latin typeface="Consolas" pitchFamily="34" charset="0"/>
                <a:ea typeface="Consolas" pitchFamily="34" charset="-122"/>
                <a:cs typeface="Consolas" pitchFamily="34" charset="-120"/>
              </a:rPr>
            </a:br>
            <a:endParaRPr lang="en-US" sz="650" dirty="0"/>
          </a:p>
          <a:p>
            <a:pPr marL="0" indent="0">
              <a:buNone/>
            </a:pPr>
            <a:r>
              <a:rPr lang="en-US" sz="650" dirty="0">
                <a:solidFill>
                  <a:srgbClr val="7DD3FC"/>
                </a:solidFill>
                <a:latin typeface="Consolas" pitchFamily="34" charset="0"/>
                <a:ea typeface="Consolas" pitchFamily="34" charset="-122"/>
                <a:cs typeface="Consolas" pitchFamily="34" charset="-120"/>
              </a:rPr>
              <a:t>psql -U postgres</a:t>
            </a:r>
            <a:endParaRPr lang="en-US" sz="650" dirty="0"/>
          </a:p>
          <a:p>
            <a:pPr marL="0" indent="0">
              <a:buNone/>
            </a:pPr>
            <a:r>
              <a:rPr lang="en-US" sz="650" dirty="0">
                <a:solidFill>
                  <a:srgbClr val="7DD3FC"/>
                </a:solidFill>
                <a:latin typeface="Consolas" pitchFamily="34" charset="0"/>
                <a:ea typeface="Consolas" pitchFamily="34" charset="-122"/>
                <a:cs typeface="Consolas" pitchFamily="34" charset="-120"/>
              </a:rPr>
              <a:t># Enter the password you set during install</a:t>
            </a:r>
            <a:endParaRPr lang="en-US" sz="650" dirty="0"/>
          </a:p>
          <a:p>
            <a:pPr marL="0" indent="0">
              <a:buNone/>
            </a:pPr>
            <a:endParaRPr lang="en-US" sz="650" dirty="0"/>
          </a:p>
          <a:p>
            <a:pPr marL="0" indent="0">
              <a:buNone/>
            </a:pPr>
            <a:r>
              <a:rPr lang="en-US" sz="650" dirty="0">
                <a:solidFill>
                  <a:srgbClr val="7DD3FC"/>
                </a:solidFill>
                <a:latin typeface="Consolas" pitchFamily="34" charset="0"/>
                <a:ea typeface="Consolas" pitchFamily="34" charset="-122"/>
                <a:cs typeface="Consolas" pitchFamily="34" charset="-120"/>
              </a:rPr>
              <a:t># You should see:</a:t>
            </a:r>
            <a:endParaRPr lang="en-US" sz="650" dirty="0"/>
          </a:p>
          <a:p>
            <a:pPr marL="0" indent="0">
              <a:buNone/>
            </a:pPr>
            <a:r>
              <a:rPr lang="en-US" sz="650" dirty="0">
                <a:solidFill>
                  <a:srgbClr val="7DD3FC"/>
                </a:solidFill>
                <a:latin typeface="Consolas" pitchFamily="34" charset="0"/>
                <a:ea typeface="Consolas" pitchFamily="34" charset="-122"/>
                <a:cs typeface="Consolas" pitchFamily="34" charset="-120"/>
              </a:rPr>
              <a:t># postgres=#</a:t>
            </a:r>
            <a:endParaRPr lang="en-US" sz="650" dirty="0"/>
          </a:p>
          <a:p>
            <a:pPr marL="0" indent="0">
              <a:buNone/>
            </a:pPr>
            <a:endParaRPr lang="en-US" sz="650" dirty="0"/>
          </a:p>
          <a:p>
            <a:pPr marL="0" indent="0">
              <a:buNone/>
            </a:pPr>
            <a:r>
              <a:rPr lang="en-US" sz="650" dirty="0">
                <a:solidFill>
                  <a:srgbClr val="7DD3FC"/>
                </a:solidFill>
                <a:latin typeface="Consolas" pitchFamily="34" charset="0"/>
                <a:ea typeface="Consolas" pitchFamily="34" charset="-122"/>
                <a:cs typeface="Consolas" pitchFamily="34" charset="-120"/>
              </a:rPr>
              <a:t># Create a database</a:t>
            </a:r>
            <a:endParaRPr lang="en-US" sz="650" dirty="0"/>
          </a:p>
          <a:p>
            <a:pPr marL="0" indent="0">
              <a:buNone/>
            </a:pPr>
            <a:r>
              <a:rPr lang="en-US" sz="650" dirty="0">
                <a:solidFill>
                  <a:srgbClr val="7DD3FC"/>
                </a:solidFill>
                <a:latin typeface="Consolas" pitchFamily="34" charset="0"/>
                <a:ea typeface="Consolas" pitchFamily="34" charset="-122"/>
                <a:cs typeface="Consolas" pitchFamily="34" charset="-120"/>
              </a:rPr>
              <a:t>CREATE DATABASE </a:t>
            </a:r>
            <a:r>
              <a:rPr lang="en-US" sz="650" dirty="0" err="1">
                <a:solidFill>
                  <a:srgbClr val="7DD3FC"/>
                </a:solidFill>
                <a:latin typeface="Consolas" pitchFamily="34" charset="0"/>
                <a:ea typeface="Consolas" pitchFamily="34" charset="-122"/>
                <a:cs typeface="Consolas" pitchFamily="34" charset="-120"/>
              </a:rPr>
              <a:t>librarydb</a:t>
            </a:r>
            <a:r>
              <a:rPr lang="en-US" sz="650" dirty="0">
                <a:solidFill>
                  <a:srgbClr val="7DD3FC"/>
                </a:solidFill>
                <a:latin typeface="Consolas" pitchFamily="34" charset="0"/>
                <a:ea typeface="Consolas" pitchFamily="34" charset="-122"/>
                <a:cs typeface="Consolas" pitchFamily="34" charset="-120"/>
              </a:rPr>
              <a:t>;</a:t>
            </a:r>
            <a:endParaRPr lang="en-US" sz="650" dirty="0"/>
          </a:p>
          <a:p>
            <a:pPr marL="0" indent="0">
              <a:buNone/>
            </a:pPr>
            <a:r>
              <a:rPr lang="en-US" sz="650" dirty="0">
                <a:solidFill>
                  <a:srgbClr val="7DD3FC"/>
                </a:solidFill>
                <a:latin typeface="Consolas" pitchFamily="34" charset="0"/>
                <a:ea typeface="Consolas" pitchFamily="34" charset="-122"/>
                <a:cs typeface="Consolas" pitchFamily="34" charset="-120"/>
              </a:rPr>
              <a:t># Connect to it:</a:t>
            </a:r>
            <a:endParaRPr lang="en-US" sz="650" dirty="0"/>
          </a:p>
          <a:p>
            <a:pPr marL="0" indent="0">
              <a:buNone/>
            </a:pPr>
            <a:r>
              <a:rPr lang="en-US" sz="650" dirty="0">
                <a:solidFill>
                  <a:srgbClr val="7DD3FC"/>
                </a:solidFill>
                <a:latin typeface="Consolas" pitchFamily="34" charset="0"/>
                <a:ea typeface="Consolas" pitchFamily="34" charset="-122"/>
                <a:cs typeface="Consolas" pitchFamily="34" charset="-120"/>
              </a:rPr>
              <a:t>\c </a:t>
            </a:r>
            <a:r>
              <a:rPr lang="en-US" sz="650" dirty="0" err="1">
                <a:solidFill>
                  <a:srgbClr val="7DD3FC"/>
                </a:solidFill>
                <a:latin typeface="Consolas" pitchFamily="34" charset="0"/>
                <a:ea typeface="Consolas" pitchFamily="34" charset="-122"/>
                <a:cs typeface="Consolas" pitchFamily="34" charset="-120"/>
              </a:rPr>
              <a:t>librarydb</a:t>
            </a:r>
            <a:endParaRPr lang="en-US" sz="650" dirty="0"/>
          </a:p>
          <a:p>
            <a:pPr marL="0" indent="0">
              <a:buNone/>
            </a:pPr>
            <a:r>
              <a:rPr lang="en-US" sz="650" dirty="0">
                <a:solidFill>
                  <a:srgbClr val="7DD3FC"/>
                </a:solidFill>
                <a:latin typeface="Consolas" pitchFamily="34" charset="0"/>
                <a:ea typeface="Consolas" pitchFamily="34" charset="-122"/>
                <a:cs typeface="Consolas" pitchFamily="34" charset="-120"/>
              </a:rPr>
              <a:t># You should see:</a:t>
            </a:r>
            <a:endParaRPr lang="en-US" sz="650" dirty="0"/>
          </a:p>
          <a:p>
            <a:pPr marL="0" indent="0">
              <a:buNone/>
            </a:pPr>
            <a:r>
              <a:rPr lang="en-US" sz="650" dirty="0">
                <a:solidFill>
                  <a:srgbClr val="7DD3FC"/>
                </a:solidFill>
                <a:latin typeface="Consolas" pitchFamily="34" charset="0"/>
                <a:ea typeface="Consolas" pitchFamily="34" charset="-122"/>
                <a:cs typeface="Consolas" pitchFamily="34" charset="-120"/>
              </a:rPr>
              <a:t># </a:t>
            </a:r>
            <a:r>
              <a:rPr lang="en-US" sz="650" dirty="0" err="1">
                <a:solidFill>
                  <a:srgbClr val="7DD3FC"/>
                </a:solidFill>
                <a:latin typeface="Consolas" pitchFamily="34" charset="0"/>
                <a:ea typeface="Consolas" pitchFamily="34" charset="-122"/>
                <a:cs typeface="Consolas" pitchFamily="34" charset="-120"/>
              </a:rPr>
              <a:t>librarydb</a:t>
            </a:r>
            <a:r>
              <a:rPr lang="en-US" sz="650" dirty="0">
                <a:solidFill>
                  <a:srgbClr val="7DD3FC"/>
                </a:solidFill>
                <a:latin typeface="Consolas" pitchFamily="34" charset="0"/>
                <a:ea typeface="Consolas" pitchFamily="34" charset="-122"/>
                <a:cs typeface="Consolas" pitchFamily="34" charset="-120"/>
              </a:rPr>
              <a:t>=#</a:t>
            </a:r>
            <a:endParaRPr lang="en-US" sz="650" dirty="0"/>
          </a:p>
          <a:p>
            <a:pPr marL="0" indent="0">
              <a:buNone/>
            </a:pPr>
            <a:r>
              <a:rPr lang="en-US" sz="650" dirty="0">
                <a:solidFill>
                  <a:srgbClr val="7DD3FC"/>
                </a:solidFill>
                <a:latin typeface="Consolas" pitchFamily="34" charset="0"/>
                <a:ea typeface="Consolas" pitchFamily="34" charset="-122"/>
                <a:cs typeface="Consolas" pitchFamily="34" charset="-120"/>
              </a:rPr>
              <a:t># List all databases:</a:t>
            </a:r>
            <a:endParaRPr lang="en-US" sz="650" dirty="0"/>
          </a:p>
          <a:p>
            <a:pPr marL="0" indent="0">
              <a:buNone/>
            </a:pPr>
            <a:r>
              <a:rPr lang="en-US" sz="650" dirty="0">
                <a:solidFill>
                  <a:srgbClr val="7DD3FC"/>
                </a:solidFill>
                <a:latin typeface="Consolas" pitchFamily="34" charset="0"/>
                <a:ea typeface="Consolas" pitchFamily="34" charset="-122"/>
                <a:cs typeface="Consolas" pitchFamily="34" charset="-120"/>
              </a:rPr>
              <a:t>\l</a:t>
            </a:r>
            <a:endParaRPr lang="en-US" sz="650" dirty="0"/>
          </a:p>
          <a:p>
            <a:pPr marL="0" indent="0">
              <a:buNone/>
            </a:pPr>
            <a:r>
              <a:rPr lang="en-US" sz="650" dirty="0">
                <a:solidFill>
                  <a:srgbClr val="7DD3FC"/>
                </a:solidFill>
                <a:latin typeface="Consolas" pitchFamily="34" charset="0"/>
                <a:ea typeface="Consolas" pitchFamily="34" charset="-122"/>
                <a:cs typeface="Consolas" pitchFamily="34" charset="-120"/>
              </a:rPr>
              <a:t># Quit psql:</a:t>
            </a:r>
            <a:endParaRPr lang="en-US" sz="650" dirty="0"/>
          </a:p>
          <a:p>
            <a:pPr marL="0" indent="0">
              <a:buNone/>
            </a:pPr>
            <a:r>
              <a:rPr lang="en-US" sz="650" dirty="0">
                <a:solidFill>
                  <a:srgbClr val="7DD3FC"/>
                </a:solidFill>
                <a:latin typeface="Consolas" pitchFamily="34" charset="0"/>
                <a:ea typeface="Consolas" pitchFamily="34" charset="-122"/>
                <a:cs typeface="Consolas" pitchFamily="34" charset="-120"/>
              </a:rPr>
              <a:t>\q</a:t>
            </a:r>
            <a:endParaRPr lang="en-US" sz="650" dirty="0"/>
          </a:p>
        </p:txBody>
      </p:sp>
      <p:sp>
        <p:nvSpPr>
          <p:cNvPr id="22" name="Shape 20"/>
          <p:cNvSpPr/>
          <p:nvPr/>
        </p:nvSpPr>
        <p:spPr>
          <a:xfrm>
            <a:off x="228600" y="3410712"/>
            <a:ext cx="8686800" cy="1325880"/>
          </a:xfrm>
          <a:prstGeom prst="rect">
            <a:avLst/>
          </a:prstGeom>
          <a:solidFill>
            <a:srgbClr val="0E0F30"/>
          </a:solidFill>
          <a:ln/>
        </p:spPr>
        <p:txBody>
          <a:bodyPr/>
          <a:lstStyle/>
          <a:p>
            <a:endParaRPr lang="en-PH"/>
          </a:p>
        </p:txBody>
      </p:sp>
      <p:sp>
        <p:nvSpPr>
          <p:cNvPr id="23" name="Shape 21"/>
          <p:cNvSpPr/>
          <p:nvPr/>
        </p:nvSpPr>
        <p:spPr>
          <a:xfrm>
            <a:off x="228600" y="3410712"/>
            <a:ext cx="8686800" cy="256032"/>
          </a:xfrm>
          <a:prstGeom prst="rect">
            <a:avLst/>
          </a:prstGeom>
          <a:solidFill>
            <a:srgbClr val="CD172D"/>
          </a:solidFill>
          <a:ln/>
        </p:spPr>
        <p:txBody>
          <a:bodyPr/>
          <a:lstStyle/>
          <a:p>
            <a:endParaRPr lang="en-PH"/>
          </a:p>
        </p:txBody>
      </p:sp>
      <p:sp>
        <p:nvSpPr>
          <p:cNvPr id="24" name="Shape 22"/>
          <p:cNvSpPr/>
          <p:nvPr/>
        </p:nvSpPr>
        <p:spPr>
          <a:xfrm>
            <a:off x="228600" y="3538728"/>
            <a:ext cx="8686800" cy="128016"/>
          </a:xfrm>
          <a:prstGeom prst="rect">
            <a:avLst/>
          </a:prstGeom>
          <a:solidFill>
            <a:srgbClr val="CD172D"/>
          </a:solidFill>
          <a:ln/>
        </p:spPr>
        <p:txBody>
          <a:bodyPr/>
          <a:lstStyle/>
          <a:p>
            <a:endParaRPr lang="en-PH"/>
          </a:p>
        </p:txBody>
      </p:sp>
      <p:sp>
        <p:nvSpPr>
          <p:cNvPr id="25" name="Text 23"/>
          <p:cNvSpPr/>
          <p:nvPr/>
        </p:nvSpPr>
        <p:spPr>
          <a:xfrm>
            <a:off x="338328" y="3429000"/>
            <a:ext cx="854964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pgAdmin — Visual GUI (Easier for Beginners)</a:t>
            </a:r>
            <a:endParaRPr lang="en-US" sz="900" dirty="0"/>
          </a:p>
        </p:txBody>
      </p:sp>
      <p:sp>
        <p:nvSpPr>
          <p:cNvPr id="26" name="Text 24"/>
          <p:cNvSpPr/>
          <p:nvPr/>
        </p:nvSpPr>
        <p:spPr>
          <a:xfrm>
            <a:off x="338328" y="3703320"/>
            <a:ext cx="8503920" cy="960120"/>
          </a:xfrm>
          <a:prstGeom prst="rect">
            <a:avLst/>
          </a:prstGeom>
          <a:noFill/>
          <a:ln/>
        </p:spPr>
        <p:txBody>
          <a:bodyPr wrap="square" lIns="0" tIns="0" rIns="0" bIns="0" rtlCol="0" anchor="ctr"/>
          <a:lstStyle/>
          <a:p>
            <a:pPr marL="0" indent="0">
              <a:buNone/>
            </a:pPr>
            <a:r>
              <a:rPr lang="en-US" sz="700" dirty="0">
                <a:solidFill>
                  <a:srgbClr val="7DD3FC"/>
                </a:solidFill>
                <a:latin typeface="Consolas" pitchFamily="34" charset="0"/>
                <a:ea typeface="Consolas" pitchFamily="34" charset="-122"/>
                <a:cs typeface="Consolas" pitchFamily="34" charset="-120"/>
              </a:rPr>
              <a:t># pgAdmin is installed automatically with PostgreSQL on Windows.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Mac: download from pgadmin.org/download/</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To connect in pgAdmin:</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1. Open pgAdmin → Servers → right-click → Register → Server</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2. Name: "Local"</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3. Connection tab: Host = localhost | Port = 5432 | Username = postgres | Password = (your password)</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4. Click Save → expand Servers → Local → Databases → librarydb → Schemas → Tables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5. Right-click librarydb → Query Tool → type SQL here → press F5 to run</a:t>
            </a:r>
            <a:endParaRPr lang="en-US" sz="700" dirty="0"/>
          </a:p>
        </p:txBody>
      </p:sp>
      <p:sp>
        <p:nvSpPr>
          <p:cNvPr id="27" name="Shape 25"/>
          <p:cNvSpPr/>
          <p:nvPr/>
        </p:nvSpPr>
        <p:spPr>
          <a:xfrm>
            <a:off x="228600" y="4572000"/>
            <a:ext cx="8686800" cy="237744"/>
          </a:xfrm>
          <a:prstGeom prst="rect">
            <a:avLst/>
          </a:prstGeom>
          <a:solidFill>
            <a:srgbClr val="CD172D"/>
          </a:solidFill>
          <a:ln/>
        </p:spPr>
        <p:txBody>
          <a:bodyPr/>
          <a:lstStyle/>
          <a:p>
            <a:endParaRPr lang="en-PH"/>
          </a:p>
        </p:txBody>
      </p:sp>
      <p:sp>
        <p:nvSpPr>
          <p:cNvPr id="28" name="Text 26"/>
          <p:cNvSpPr/>
          <p:nvPr/>
        </p:nvSpPr>
        <p:spPr>
          <a:xfrm>
            <a:off x="347472" y="4590288"/>
            <a:ext cx="841248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Port 5432 is PostgreSQL's default. Remember your postgres password — you need it every time you connect and later in appsettings.json on Day 7.</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6</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Text 5"/>
          <p:cNvSpPr/>
          <p:nvPr/>
        </p:nvSpPr>
        <p:spPr>
          <a:xfrm>
            <a:off x="274320" y="164592"/>
            <a:ext cx="7772400" cy="457200"/>
          </a:xfrm>
          <a:prstGeom prst="rect">
            <a:avLst/>
          </a:prstGeom>
          <a:noFill/>
          <a:ln/>
        </p:spPr>
        <p:txBody>
          <a:bodyPr wrap="square" lIns="0" tIns="0" rIns="0" bIns="0" rtlCol="0" anchor="ctr"/>
          <a:lstStyle/>
          <a:p>
            <a:pPr marL="0" indent="0">
              <a:buNone/>
            </a:pPr>
            <a:r>
              <a:rPr lang="en-US" sz="2200" b="1" dirty="0">
                <a:solidFill>
                  <a:srgbClr val="0E0F30"/>
                </a:solidFill>
                <a:latin typeface="Calibri" pitchFamily="34" charset="0"/>
                <a:ea typeface="Calibri" pitchFamily="34" charset="-122"/>
                <a:cs typeface="Calibri" pitchFamily="34" charset="-120"/>
              </a:rPr>
              <a:t>PostgreSQL Data Types</a:t>
            </a:r>
            <a:endParaRPr lang="en-US" sz="2200" dirty="0"/>
          </a:p>
        </p:txBody>
      </p:sp>
      <p:sp>
        <p:nvSpPr>
          <p:cNvPr id="8" name="Shape 6"/>
          <p:cNvSpPr/>
          <p:nvPr/>
        </p:nvSpPr>
        <p:spPr>
          <a:xfrm>
            <a:off x="274320" y="640080"/>
            <a:ext cx="1645920" cy="36576"/>
          </a:xfrm>
          <a:prstGeom prst="rect">
            <a:avLst/>
          </a:prstGeom>
          <a:solidFill>
            <a:srgbClr val="CD172D"/>
          </a:solidFill>
          <a:ln/>
        </p:spPr>
        <p:txBody>
          <a:bodyPr/>
          <a:lstStyle/>
          <a:p>
            <a:endParaRPr lang="en-PH"/>
          </a:p>
        </p:txBody>
      </p:sp>
      <p:sp>
        <p:nvSpPr>
          <p:cNvPr id="9" name="Text 7"/>
          <p:cNvSpPr/>
          <p:nvPr/>
        </p:nvSpPr>
        <p:spPr>
          <a:xfrm>
            <a:off x="274320" y="694944"/>
            <a:ext cx="82296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Choosing the right type — it affects storage, performance, and validation</a:t>
            </a:r>
            <a:endParaRPr lang="en-US" sz="1100" dirty="0"/>
          </a:p>
        </p:txBody>
      </p:sp>
      <p:sp>
        <p:nvSpPr>
          <p:cNvPr id="10" name="Shape 8"/>
          <p:cNvSpPr/>
          <p:nvPr/>
        </p:nvSpPr>
        <p:spPr>
          <a:xfrm>
            <a:off x="228600" y="987552"/>
            <a:ext cx="4251960" cy="3749040"/>
          </a:xfrm>
          <a:prstGeom prst="rect">
            <a:avLst/>
          </a:prstGeom>
          <a:solidFill>
            <a:srgbClr val="0E0F30"/>
          </a:solidFill>
          <a:ln/>
        </p:spPr>
        <p:txBody>
          <a:bodyPr/>
          <a:lstStyle/>
          <a:p>
            <a:endParaRPr lang="en-PH"/>
          </a:p>
        </p:txBody>
      </p:sp>
      <p:sp>
        <p:nvSpPr>
          <p:cNvPr id="11" name="Shape 9"/>
          <p:cNvSpPr/>
          <p:nvPr/>
        </p:nvSpPr>
        <p:spPr>
          <a:xfrm>
            <a:off x="228600" y="987552"/>
            <a:ext cx="4251960" cy="256032"/>
          </a:xfrm>
          <a:prstGeom prst="rect">
            <a:avLst/>
          </a:prstGeom>
          <a:solidFill>
            <a:srgbClr val="CD172D"/>
          </a:solidFill>
          <a:ln/>
        </p:spPr>
        <p:txBody>
          <a:bodyPr/>
          <a:lstStyle/>
          <a:p>
            <a:endParaRPr lang="en-PH"/>
          </a:p>
        </p:txBody>
      </p:sp>
      <p:sp>
        <p:nvSpPr>
          <p:cNvPr id="12" name="Shape 10"/>
          <p:cNvSpPr/>
          <p:nvPr/>
        </p:nvSpPr>
        <p:spPr>
          <a:xfrm>
            <a:off x="228600" y="1115568"/>
            <a:ext cx="4251960" cy="128016"/>
          </a:xfrm>
          <a:prstGeom prst="rect">
            <a:avLst/>
          </a:prstGeom>
          <a:solidFill>
            <a:srgbClr val="CD172D"/>
          </a:solidFill>
          <a:ln/>
        </p:spPr>
        <p:txBody>
          <a:bodyPr/>
          <a:lstStyle/>
          <a:p>
            <a:endParaRPr lang="en-PH"/>
          </a:p>
        </p:txBody>
      </p:sp>
      <p:sp>
        <p:nvSpPr>
          <p:cNvPr id="13" name="Text 11"/>
          <p:cNvSpPr/>
          <p:nvPr/>
        </p:nvSpPr>
        <p:spPr>
          <a:xfrm>
            <a:off x="338328" y="1005840"/>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Numeric &amp; Boolean</a:t>
            </a:r>
            <a:endParaRPr lang="en-US" sz="900" dirty="0"/>
          </a:p>
        </p:txBody>
      </p:sp>
      <p:sp>
        <p:nvSpPr>
          <p:cNvPr id="14" name="Text 12"/>
          <p:cNvSpPr/>
          <p:nvPr/>
        </p:nvSpPr>
        <p:spPr>
          <a:xfrm>
            <a:off x="338328" y="1280160"/>
            <a:ext cx="4069080" cy="3383280"/>
          </a:xfrm>
          <a:prstGeom prst="rect">
            <a:avLst/>
          </a:prstGeom>
          <a:noFill/>
          <a:ln/>
        </p:spPr>
        <p:txBody>
          <a:bodyPr wrap="square" lIns="0" tIns="0" rIns="0" bIns="0" rtlCol="0" anchor="ctr"/>
          <a:lstStyle/>
          <a:p>
            <a:pPr marL="0" indent="0">
              <a:buNone/>
            </a:pPr>
            <a:r>
              <a:rPr lang="en-US" sz="800" dirty="0">
                <a:solidFill>
                  <a:srgbClr val="7DD3FC"/>
                </a:solidFill>
                <a:latin typeface="Consolas" pitchFamily="34" charset="0"/>
                <a:ea typeface="Consolas" pitchFamily="34" charset="-122"/>
                <a:cs typeface="Consolas" pitchFamily="34" charset="-120"/>
              </a:rPr>
              <a:t>-- Integers</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SMALLINT          -- -32,768 to 32,767 (rarely used)</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INTEGER  / INT    -- ±2.1 billion     (most common)</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BIGINT            -- ±9.2 quintillion (large counts)</a:t>
            </a:r>
            <a:endParaRPr lang="en-US" sz="800" dirty="0"/>
          </a:p>
          <a:p>
            <a:pPr marL="0" indent="0">
              <a:buNone/>
            </a:pP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Auto-increment integers (use for PRIMARY KEY)</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SERIAL            -- auto-increment INT    (1, 2, 3...)</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BIGSERIAL         -- auto-increment BIGINT</a:t>
            </a:r>
            <a:endParaRPr lang="en-US" sz="800" dirty="0"/>
          </a:p>
          <a:p>
            <a:pPr marL="0" indent="0">
              <a:buNone/>
            </a:pP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Decimals</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NUMERIC(p, s)     -- exact: p=total digits, s=decimal places</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DECIMAL(10, 2)    -- e.g. 99999999.99  — USE FOR MONEY</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REAL              -- 6 decimal digits, approximate</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DOUBLE PRECISION  -- 15 decimal digits, approximate</a:t>
            </a:r>
            <a:endParaRPr lang="en-US" sz="800" dirty="0"/>
          </a:p>
          <a:p>
            <a:pPr marL="0" indent="0">
              <a:buNone/>
            </a:pP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Boolean</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BOOLEAN           -- TRUE or FALSE (also: 't','f','yes','no','1','0')</a:t>
            </a:r>
            <a:endParaRPr lang="en-US" sz="800" dirty="0"/>
          </a:p>
          <a:p>
            <a:pPr marL="0" indent="0">
              <a:buNone/>
            </a:pP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C# equivalents:</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INT        → int</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BIGINT     → long</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NUMERIC    → decimal  (use for money!)</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BOOLEAN    → bool</a:t>
            </a:r>
            <a:endParaRPr lang="en-US" sz="800" dirty="0"/>
          </a:p>
        </p:txBody>
      </p:sp>
      <p:sp>
        <p:nvSpPr>
          <p:cNvPr id="15" name="Shape 13"/>
          <p:cNvSpPr/>
          <p:nvPr/>
        </p:nvSpPr>
        <p:spPr>
          <a:xfrm>
            <a:off x="4663440" y="987552"/>
            <a:ext cx="4251960" cy="3749040"/>
          </a:xfrm>
          <a:prstGeom prst="rect">
            <a:avLst/>
          </a:prstGeom>
          <a:solidFill>
            <a:srgbClr val="0E0F30"/>
          </a:solidFill>
          <a:ln/>
        </p:spPr>
        <p:txBody>
          <a:bodyPr/>
          <a:lstStyle/>
          <a:p>
            <a:endParaRPr lang="en-PH"/>
          </a:p>
        </p:txBody>
      </p:sp>
      <p:sp>
        <p:nvSpPr>
          <p:cNvPr id="16" name="Shape 14"/>
          <p:cNvSpPr/>
          <p:nvPr/>
        </p:nvSpPr>
        <p:spPr>
          <a:xfrm>
            <a:off x="4663440" y="987552"/>
            <a:ext cx="4251960" cy="256032"/>
          </a:xfrm>
          <a:prstGeom prst="rect">
            <a:avLst/>
          </a:prstGeom>
          <a:solidFill>
            <a:srgbClr val="CD172D"/>
          </a:solidFill>
          <a:ln/>
        </p:spPr>
        <p:txBody>
          <a:bodyPr/>
          <a:lstStyle/>
          <a:p>
            <a:endParaRPr lang="en-PH"/>
          </a:p>
        </p:txBody>
      </p:sp>
      <p:sp>
        <p:nvSpPr>
          <p:cNvPr id="17" name="Shape 15"/>
          <p:cNvSpPr/>
          <p:nvPr/>
        </p:nvSpPr>
        <p:spPr>
          <a:xfrm>
            <a:off x="4663440" y="1115568"/>
            <a:ext cx="4251960" cy="128016"/>
          </a:xfrm>
          <a:prstGeom prst="rect">
            <a:avLst/>
          </a:prstGeom>
          <a:solidFill>
            <a:srgbClr val="CD172D"/>
          </a:solidFill>
          <a:ln/>
        </p:spPr>
        <p:txBody>
          <a:bodyPr/>
          <a:lstStyle/>
          <a:p>
            <a:endParaRPr lang="en-PH"/>
          </a:p>
        </p:txBody>
      </p:sp>
      <p:sp>
        <p:nvSpPr>
          <p:cNvPr id="18" name="Text 16"/>
          <p:cNvSpPr/>
          <p:nvPr/>
        </p:nvSpPr>
        <p:spPr>
          <a:xfrm>
            <a:off x="4773168" y="1005840"/>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Text, Date &amp; Other</a:t>
            </a:r>
            <a:endParaRPr lang="en-US" sz="900" dirty="0"/>
          </a:p>
        </p:txBody>
      </p:sp>
      <p:sp>
        <p:nvSpPr>
          <p:cNvPr id="19" name="Text 17"/>
          <p:cNvSpPr/>
          <p:nvPr/>
        </p:nvSpPr>
        <p:spPr>
          <a:xfrm>
            <a:off x="4796028" y="1133856"/>
            <a:ext cx="4069080" cy="3383280"/>
          </a:xfrm>
          <a:prstGeom prst="rect">
            <a:avLst/>
          </a:prstGeom>
          <a:noFill/>
          <a:ln/>
        </p:spPr>
        <p:txBody>
          <a:bodyPr wrap="square" lIns="0" tIns="0" rIns="0" bIns="0" rtlCol="0" anchor="ctr"/>
          <a:lstStyle/>
          <a:p>
            <a:pPr marL="0" indent="0">
              <a:buNone/>
            </a:pPr>
            <a:r>
              <a:rPr lang="en-US" sz="750" dirty="0">
                <a:solidFill>
                  <a:srgbClr val="7DD3FC"/>
                </a:solidFill>
                <a:latin typeface="Consolas" pitchFamily="34" charset="0"/>
                <a:ea typeface="Consolas" pitchFamily="34" charset="-122"/>
                <a:cs typeface="Consolas" pitchFamily="34" charset="-120"/>
              </a:rPr>
              <a:t>-- Text</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CHAR(n)           -- fixed length, padded with spaces</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VARCHAR(n)        -- variable up to n characters</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TEXT              -- unlimited length (no performance penalty in PG)</a:t>
            </a:r>
            <a:endParaRPr lang="en-US" sz="750" dirty="0"/>
          </a:p>
          <a:p>
            <a:pPr marL="0" indent="0">
              <a:buNone/>
            </a:pP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 Dates and Times</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DATE              -- date only: 2026-05-10</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TIME              -- time only: 14:30:00</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TIMESTAMP         -- date + time: 2026-05-10 14:30:00</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TIMESTAMPTZ       -- timestamp WITH timezone (recommended)</a:t>
            </a:r>
            <a:endParaRPr lang="en-US" sz="750" dirty="0"/>
          </a:p>
          <a:p>
            <a:pPr marL="0" indent="0">
              <a:buNone/>
            </a:pP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 Special</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UUID              -- globally unique ID: a1b2c3d4-...</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JSON              -- stores JSON text</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JSONB             -- stores JSON binary (faster querying)</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ARRAY             -- e.g. INTEGER[], TEXT[]</a:t>
            </a:r>
            <a:endParaRPr lang="en-US" sz="750" dirty="0"/>
          </a:p>
          <a:p>
            <a:pPr marL="0" indent="0">
              <a:buNone/>
            </a:pP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 C# equivalents:</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 VARCHAR    → string</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 TEXT       → string</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 BOOLEAN    → bool</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 TIMESTAMP  → DateTime</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 UUID       → Guid</a:t>
            </a:r>
            <a:endParaRPr lang="en-US" sz="750" dirty="0"/>
          </a:p>
          <a:p>
            <a:pPr marL="0" indent="0">
              <a:buNone/>
            </a:pP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 RULE: Use TEXT over VARCHAR unless you have a</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 specific reason to enforce a length limit.</a:t>
            </a:r>
            <a:endParaRPr lang="en-US" sz="750" dirty="0"/>
          </a:p>
          <a:p>
            <a:pPr marL="0" indent="0">
              <a:buNone/>
            </a:pPr>
            <a:r>
              <a:rPr lang="en-US" sz="750" dirty="0">
                <a:solidFill>
                  <a:srgbClr val="7DD3FC"/>
                </a:solidFill>
                <a:latin typeface="Consolas" pitchFamily="34" charset="0"/>
                <a:ea typeface="Consolas" pitchFamily="34" charset="-122"/>
                <a:cs typeface="Consolas" pitchFamily="34" charset="-120"/>
              </a:rPr>
              <a:t>-- Use TIMESTAMPTZ over TIMESTAMP — always store UTC.</a:t>
            </a:r>
            <a:endParaRPr lang="en-US" sz="750" dirty="0"/>
          </a:p>
        </p:txBody>
      </p:sp>
      <p:sp>
        <p:nvSpPr>
          <p:cNvPr id="20" name="Shape 18"/>
          <p:cNvSpPr/>
          <p:nvPr/>
        </p:nvSpPr>
        <p:spPr>
          <a:xfrm>
            <a:off x="228600" y="4572000"/>
            <a:ext cx="8686800" cy="237744"/>
          </a:xfrm>
          <a:prstGeom prst="rect">
            <a:avLst/>
          </a:prstGeom>
          <a:solidFill>
            <a:srgbClr val="CD172D"/>
          </a:solidFill>
          <a:ln/>
        </p:spPr>
        <p:txBody>
          <a:bodyPr/>
          <a:lstStyle/>
          <a:p>
            <a:endParaRPr lang="en-PH"/>
          </a:p>
        </p:txBody>
      </p:sp>
      <p:sp>
        <p:nvSpPr>
          <p:cNvPr id="21" name="Text 19"/>
          <p:cNvSpPr/>
          <p:nvPr/>
        </p:nvSpPr>
        <p:spPr>
          <a:xfrm>
            <a:off x="347472" y="4590288"/>
            <a:ext cx="841248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SERIAL is shorthand for: INTEGER NOT NULL DEFAULT nextval('sequence'). It auto-increments. Always use it for primary keys in Day 2–style projects.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34" name="Shape 14">
            <a:extLst>
              <a:ext uri="{FF2B5EF4-FFF2-40B4-BE49-F238E27FC236}">
                <a16:creationId xmlns:a16="http://schemas.microsoft.com/office/drawing/2014/main" id="{B688C4C4-E779-EE74-B332-48D7C704E10A}"/>
              </a:ext>
            </a:extLst>
          </p:cNvPr>
          <p:cNvSpPr/>
          <p:nvPr/>
        </p:nvSpPr>
        <p:spPr>
          <a:xfrm>
            <a:off x="4590288" y="4139067"/>
            <a:ext cx="4251960" cy="201168"/>
          </a:xfrm>
          <a:prstGeom prst="rect">
            <a:avLst/>
          </a:prstGeom>
          <a:solidFill>
            <a:srgbClr val="FFFFFF"/>
          </a:solidFill>
          <a:ln/>
        </p:spPr>
        <p:txBody>
          <a:bodyPr/>
          <a:lstStyle/>
          <a:p>
            <a:endParaRPr lang="en-PH"/>
          </a:p>
        </p:txBody>
      </p:sp>
      <p:sp>
        <p:nvSpPr>
          <p:cNvPr id="35" name="Shape 20">
            <a:extLst>
              <a:ext uri="{FF2B5EF4-FFF2-40B4-BE49-F238E27FC236}">
                <a16:creationId xmlns:a16="http://schemas.microsoft.com/office/drawing/2014/main" id="{E720C0C7-153D-2BB7-0C23-182AD13CC924}"/>
              </a:ext>
            </a:extLst>
          </p:cNvPr>
          <p:cNvSpPr/>
          <p:nvPr/>
        </p:nvSpPr>
        <p:spPr>
          <a:xfrm>
            <a:off x="4590288" y="4358523"/>
            <a:ext cx="4251960" cy="201168"/>
          </a:xfrm>
          <a:prstGeom prst="rect">
            <a:avLst/>
          </a:prstGeom>
          <a:solidFill>
            <a:srgbClr val="FFFFFF"/>
          </a:solidFill>
          <a:ln/>
        </p:spPr>
        <p:txBody>
          <a:bodyPr/>
          <a:lstStyle/>
          <a:p>
            <a:endParaRPr lang="en-PH"/>
          </a:p>
        </p:txBody>
      </p:sp>
      <p:sp>
        <p:nvSpPr>
          <p:cNvPr id="36" name="Shape 26">
            <a:extLst>
              <a:ext uri="{FF2B5EF4-FFF2-40B4-BE49-F238E27FC236}">
                <a16:creationId xmlns:a16="http://schemas.microsoft.com/office/drawing/2014/main" id="{A87581DA-882D-A69C-FF1C-174AC6B7EEF1}"/>
              </a:ext>
            </a:extLst>
          </p:cNvPr>
          <p:cNvSpPr/>
          <p:nvPr/>
        </p:nvSpPr>
        <p:spPr>
          <a:xfrm>
            <a:off x="4590288" y="4577979"/>
            <a:ext cx="4251960" cy="201168"/>
          </a:xfrm>
          <a:prstGeom prst="rect">
            <a:avLst/>
          </a:prstGeom>
          <a:solidFill>
            <a:srgbClr val="FFFFFF"/>
          </a:solidFill>
          <a:ln/>
        </p:spPr>
        <p:txBody>
          <a:bodyPr/>
          <a:lstStyle/>
          <a:p>
            <a:endParaRPr lang="en-PH"/>
          </a:p>
        </p:txBody>
      </p:sp>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7</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Text 5"/>
          <p:cNvSpPr/>
          <p:nvPr/>
        </p:nvSpPr>
        <p:spPr>
          <a:xfrm>
            <a:off x="274320" y="164592"/>
            <a:ext cx="7772400" cy="457200"/>
          </a:xfrm>
          <a:prstGeom prst="rect">
            <a:avLst/>
          </a:prstGeom>
          <a:noFill/>
          <a:ln/>
        </p:spPr>
        <p:txBody>
          <a:bodyPr wrap="square" lIns="0" tIns="0" rIns="0" bIns="0" rtlCol="0" anchor="ctr"/>
          <a:lstStyle/>
          <a:p>
            <a:pPr marL="0" indent="0">
              <a:buNone/>
            </a:pPr>
            <a:r>
              <a:rPr lang="en-US" sz="2200" b="1" dirty="0">
                <a:solidFill>
                  <a:srgbClr val="0E0F30"/>
                </a:solidFill>
                <a:latin typeface="Calibri" pitchFamily="34" charset="0"/>
                <a:ea typeface="Calibri" pitchFamily="34" charset="-122"/>
                <a:cs typeface="Calibri" pitchFamily="34" charset="-120"/>
              </a:rPr>
              <a:t>CREATE TABLE &amp; Constraints</a:t>
            </a:r>
            <a:endParaRPr lang="en-US" sz="2200" dirty="0"/>
          </a:p>
        </p:txBody>
      </p:sp>
      <p:sp>
        <p:nvSpPr>
          <p:cNvPr id="8" name="Shape 6"/>
          <p:cNvSpPr/>
          <p:nvPr/>
        </p:nvSpPr>
        <p:spPr>
          <a:xfrm>
            <a:off x="274320" y="640080"/>
            <a:ext cx="1645920" cy="36576"/>
          </a:xfrm>
          <a:prstGeom prst="rect">
            <a:avLst/>
          </a:prstGeom>
          <a:solidFill>
            <a:srgbClr val="CD172D"/>
          </a:solidFill>
          <a:ln/>
        </p:spPr>
        <p:txBody>
          <a:bodyPr/>
          <a:lstStyle/>
          <a:p>
            <a:endParaRPr lang="en-PH"/>
          </a:p>
        </p:txBody>
      </p:sp>
      <p:sp>
        <p:nvSpPr>
          <p:cNvPr id="9" name="Text 7"/>
          <p:cNvSpPr/>
          <p:nvPr/>
        </p:nvSpPr>
        <p:spPr>
          <a:xfrm>
            <a:off x="274320" y="694944"/>
            <a:ext cx="82296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Defining the structure and rules of your data — equivalent to your C# model classes</a:t>
            </a:r>
            <a:endParaRPr lang="en-US" sz="1100" dirty="0"/>
          </a:p>
        </p:txBody>
      </p:sp>
      <p:sp>
        <p:nvSpPr>
          <p:cNvPr id="10" name="Shape 8"/>
          <p:cNvSpPr/>
          <p:nvPr/>
        </p:nvSpPr>
        <p:spPr>
          <a:xfrm>
            <a:off x="228600" y="987552"/>
            <a:ext cx="8686800" cy="2834640"/>
          </a:xfrm>
          <a:prstGeom prst="rect">
            <a:avLst/>
          </a:prstGeom>
          <a:solidFill>
            <a:srgbClr val="0E0F30"/>
          </a:solidFill>
          <a:ln/>
        </p:spPr>
        <p:txBody>
          <a:bodyPr/>
          <a:lstStyle/>
          <a:p>
            <a:endParaRPr lang="en-PH"/>
          </a:p>
        </p:txBody>
      </p:sp>
      <p:sp>
        <p:nvSpPr>
          <p:cNvPr id="11" name="Shape 9"/>
          <p:cNvSpPr/>
          <p:nvPr/>
        </p:nvSpPr>
        <p:spPr>
          <a:xfrm>
            <a:off x="228600" y="987552"/>
            <a:ext cx="8686800" cy="256032"/>
          </a:xfrm>
          <a:prstGeom prst="rect">
            <a:avLst/>
          </a:prstGeom>
          <a:solidFill>
            <a:srgbClr val="CD172D"/>
          </a:solidFill>
          <a:ln/>
        </p:spPr>
        <p:txBody>
          <a:bodyPr/>
          <a:lstStyle/>
          <a:p>
            <a:endParaRPr lang="en-PH"/>
          </a:p>
        </p:txBody>
      </p:sp>
      <p:sp>
        <p:nvSpPr>
          <p:cNvPr id="12" name="Shape 10"/>
          <p:cNvSpPr/>
          <p:nvPr/>
        </p:nvSpPr>
        <p:spPr>
          <a:xfrm>
            <a:off x="228600" y="1115568"/>
            <a:ext cx="8686800" cy="128016"/>
          </a:xfrm>
          <a:prstGeom prst="rect">
            <a:avLst/>
          </a:prstGeom>
          <a:solidFill>
            <a:srgbClr val="CD172D"/>
          </a:solidFill>
          <a:ln/>
        </p:spPr>
        <p:txBody>
          <a:bodyPr/>
          <a:lstStyle/>
          <a:p>
            <a:endParaRPr lang="en-PH"/>
          </a:p>
        </p:txBody>
      </p:sp>
      <p:sp>
        <p:nvSpPr>
          <p:cNvPr id="13" name="Text 11"/>
          <p:cNvSpPr/>
          <p:nvPr/>
        </p:nvSpPr>
        <p:spPr>
          <a:xfrm>
            <a:off x="338328" y="1005840"/>
            <a:ext cx="854964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Library Schema — CREATE TABLE statements</a:t>
            </a:r>
            <a:endParaRPr lang="en-US" sz="900" dirty="0"/>
          </a:p>
        </p:txBody>
      </p:sp>
      <p:sp>
        <p:nvSpPr>
          <p:cNvPr id="14" name="Text 12"/>
          <p:cNvSpPr/>
          <p:nvPr/>
        </p:nvSpPr>
        <p:spPr>
          <a:xfrm>
            <a:off x="338328" y="1280160"/>
            <a:ext cx="8503920" cy="2468880"/>
          </a:xfrm>
          <a:prstGeom prst="rect">
            <a:avLst/>
          </a:prstGeom>
          <a:noFill/>
          <a:ln/>
        </p:spPr>
        <p:txBody>
          <a:bodyPr wrap="square" lIns="0" tIns="0" rIns="0" bIns="0" rtlCol="0" anchor="ctr"/>
          <a:lstStyle/>
          <a:p>
            <a:pPr marL="0" indent="0">
              <a:buNone/>
            </a:pPr>
            <a:r>
              <a:rPr lang="en-US" sz="600" dirty="0">
                <a:solidFill>
                  <a:srgbClr val="7DD3FC"/>
                </a:solidFill>
                <a:latin typeface="Consolas" pitchFamily="34" charset="0"/>
                <a:ea typeface="Consolas" pitchFamily="34" charset="-122"/>
                <a:cs typeface="Consolas" pitchFamily="34" charset="-120"/>
              </a:rPr>
              <a:t>-- Authors table (create FIRST — books depends on it)</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CREATE TABLE authors (</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id          SERIAL        PRIMARY KEY,           -- auto-increment, unique, never null</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full_name   VARCHAR(150)  NOT NULL,              -- required, max 150 chars</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nationality VARCHAR(100),                        -- optional</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birth_year  INT           CHECK (birth_year &gt; 1800 AND birth_year &lt; 2010)</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 ↑ CHECK enforces a range, like [Range] in C#</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Books table (references authors)</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CREATE TABLE books (</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id          SERIAL        PRIMARY KEY,</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title       VARCHAR(255)  NOT NULL,</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genre       VARCHAR(80),</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year        INT           CHECK (year &gt;= 1000 AND year &lt;= 2030),</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available   BOOLEAN       NOT NULL DEFAULT TRUE, -- default value when not specified</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author_id   INT           REFERENCES authors(id) ON DELETE SET NULL</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 ↑ FOREIGN KEY — links to authors.id</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   ON DELETE SET NULL: if the author is deleted, set author_id to NULL</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   (other options: CASCADE = delete the book too, RESTRICT = block deletion)</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Loans table — tracks who borrowed which book</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CREATE TABLE loans (</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id          SERIAL        PRIMARY KEY,</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book_id     INT           NOT NULL REFERENCES books(id)   ON DELETE CASCADE,</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member_name VARCHAR(150)  NOT NULL,</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loaned_at   TIMESTAMPTZ   NOT NULL DEFAULT NOW(),         -- auto-set to current timestamp</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returned_at TIMESTAMPTZ                                   -- NULL means not yet returned</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a:t>
            </a:r>
            <a:endParaRPr lang="en-US" sz="600" dirty="0"/>
          </a:p>
        </p:txBody>
      </p:sp>
      <p:sp>
        <p:nvSpPr>
          <p:cNvPr id="15" name="Text 13"/>
          <p:cNvSpPr/>
          <p:nvPr/>
        </p:nvSpPr>
        <p:spPr>
          <a:xfrm>
            <a:off x="228600" y="3886200"/>
            <a:ext cx="4572000" cy="237744"/>
          </a:xfrm>
          <a:prstGeom prst="rect">
            <a:avLst/>
          </a:prstGeom>
          <a:noFill/>
          <a:ln/>
        </p:spPr>
        <p:txBody>
          <a:bodyPr wrap="square" lIns="0" tIns="0" rIns="0" bIns="0" rtlCol="0" anchor="ctr"/>
          <a:lstStyle/>
          <a:p>
            <a:pPr marL="0" indent="0">
              <a:buNone/>
            </a:pPr>
            <a:r>
              <a:rPr lang="en-US" sz="1100" b="1" dirty="0">
                <a:solidFill>
                  <a:srgbClr val="0E0F30"/>
                </a:solidFill>
                <a:latin typeface="Calibri" pitchFamily="34" charset="0"/>
                <a:ea typeface="Calibri" pitchFamily="34" charset="-122"/>
                <a:cs typeface="Calibri" pitchFamily="34" charset="-120"/>
              </a:rPr>
              <a:t>Constraints Quick Reference</a:t>
            </a:r>
            <a:endParaRPr lang="en-US" sz="1100" dirty="0"/>
          </a:p>
        </p:txBody>
      </p:sp>
      <p:sp>
        <p:nvSpPr>
          <p:cNvPr id="16" name="Shape 14"/>
          <p:cNvSpPr/>
          <p:nvPr/>
        </p:nvSpPr>
        <p:spPr>
          <a:xfrm>
            <a:off x="228600" y="4160520"/>
            <a:ext cx="4251960" cy="201168"/>
          </a:xfrm>
          <a:prstGeom prst="rect">
            <a:avLst/>
          </a:prstGeom>
          <a:solidFill>
            <a:srgbClr val="FFFFFF"/>
          </a:solidFill>
          <a:ln/>
        </p:spPr>
        <p:txBody>
          <a:bodyPr/>
          <a:lstStyle/>
          <a:p>
            <a:endParaRPr lang="en-PH"/>
          </a:p>
        </p:txBody>
      </p:sp>
      <p:sp>
        <p:nvSpPr>
          <p:cNvPr id="17" name="Text 15"/>
          <p:cNvSpPr/>
          <p:nvPr/>
        </p:nvSpPr>
        <p:spPr>
          <a:xfrm>
            <a:off x="301752" y="4187952"/>
            <a:ext cx="1463040" cy="146304"/>
          </a:xfrm>
          <a:prstGeom prst="rect">
            <a:avLst/>
          </a:prstGeom>
          <a:noFill/>
          <a:ln/>
        </p:spPr>
        <p:txBody>
          <a:bodyPr wrap="square" lIns="0" tIns="0" rIns="0" bIns="0" rtlCol="0" anchor="ctr"/>
          <a:lstStyle/>
          <a:p>
            <a:pPr marL="0" indent="0">
              <a:buNone/>
            </a:pPr>
            <a:r>
              <a:rPr lang="en-US" sz="900" b="1" dirty="0">
                <a:solidFill>
                  <a:srgbClr val="CD172D"/>
                </a:solidFill>
                <a:latin typeface="Consolas" pitchFamily="34" charset="0"/>
                <a:ea typeface="Consolas" pitchFamily="34" charset="-122"/>
                <a:cs typeface="Consolas" pitchFamily="34" charset="-120"/>
              </a:rPr>
              <a:t>PRIMARY KEY</a:t>
            </a:r>
            <a:endParaRPr lang="en-US" sz="900" dirty="0"/>
          </a:p>
        </p:txBody>
      </p:sp>
      <p:sp>
        <p:nvSpPr>
          <p:cNvPr id="18" name="Text 16"/>
          <p:cNvSpPr/>
          <p:nvPr/>
        </p:nvSpPr>
        <p:spPr>
          <a:xfrm>
            <a:off x="1801368" y="4187952"/>
            <a:ext cx="2606040" cy="146304"/>
          </a:xfrm>
          <a:prstGeom prst="rect">
            <a:avLst/>
          </a:prstGeom>
          <a:noFill/>
          <a:ln/>
        </p:spPr>
        <p:txBody>
          <a:bodyPr wrap="square" lIns="0" tIns="0" rIns="0" bIns="0" rtlCol="0" anchor="ctr"/>
          <a:lstStyle/>
          <a:p>
            <a:pPr marL="0" indent="0">
              <a:buNone/>
            </a:pPr>
            <a:r>
              <a:rPr lang="en-US" sz="800" dirty="0">
                <a:solidFill>
                  <a:srgbClr val="1A1A1A"/>
                </a:solidFill>
                <a:latin typeface="Calibri" pitchFamily="34" charset="0"/>
                <a:ea typeface="Calibri" pitchFamily="34" charset="-122"/>
                <a:cs typeface="Calibri" pitchFamily="34" charset="-120"/>
              </a:rPr>
              <a:t>Unique + NOT NULL. Only one per table. The row's identity.</a:t>
            </a:r>
            <a:endParaRPr lang="en-US" sz="800" dirty="0"/>
          </a:p>
        </p:txBody>
      </p:sp>
      <p:sp>
        <p:nvSpPr>
          <p:cNvPr id="19" name="Shape 17"/>
          <p:cNvSpPr/>
          <p:nvPr/>
        </p:nvSpPr>
        <p:spPr>
          <a:xfrm>
            <a:off x="4690872" y="4160520"/>
            <a:ext cx="4251960" cy="201168"/>
          </a:xfrm>
          <a:prstGeom prst="rect">
            <a:avLst/>
          </a:prstGeom>
          <a:solidFill>
            <a:srgbClr val="F5F5F5"/>
          </a:solidFill>
          <a:ln/>
        </p:spPr>
        <p:txBody>
          <a:bodyPr/>
          <a:lstStyle/>
          <a:p>
            <a:endParaRPr lang="en-PH"/>
          </a:p>
        </p:txBody>
      </p:sp>
      <p:sp>
        <p:nvSpPr>
          <p:cNvPr id="20" name="Text 18"/>
          <p:cNvSpPr/>
          <p:nvPr/>
        </p:nvSpPr>
        <p:spPr>
          <a:xfrm>
            <a:off x="4764024" y="4187952"/>
            <a:ext cx="1463040" cy="146304"/>
          </a:xfrm>
          <a:prstGeom prst="rect">
            <a:avLst/>
          </a:prstGeom>
          <a:noFill/>
          <a:ln/>
        </p:spPr>
        <p:txBody>
          <a:bodyPr wrap="square" lIns="0" tIns="0" rIns="0" bIns="0" rtlCol="0" anchor="ctr"/>
          <a:lstStyle/>
          <a:p>
            <a:pPr marL="0" indent="0">
              <a:buNone/>
            </a:pPr>
            <a:r>
              <a:rPr lang="en-US" sz="900" b="1" dirty="0">
                <a:solidFill>
                  <a:srgbClr val="CD172D"/>
                </a:solidFill>
                <a:latin typeface="Consolas" pitchFamily="34" charset="0"/>
                <a:ea typeface="Consolas" pitchFamily="34" charset="-122"/>
                <a:cs typeface="Consolas" pitchFamily="34" charset="-120"/>
              </a:rPr>
              <a:t>NOT NULL</a:t>
            </a:r>
            <a:endParaRPr lang="en-US" sz="900" dirty="0"/>
          </a:p>
        </p:txBody>
      </p:sp>
      <p:sp>
        <p:nvSpPr>
          <p:cNvPr id="21" name="Text 19"/>
          <p:cNvSpPr/>
          <p:nvPr/>
        </p:nvSpPr>
        <p:spPr>
          <a:xfrm>
            <a:off x="6263640" y="4187952"/>
            <a:ext cx="2606040" cy="146304"/>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Value must be provided. Like [Required] in C#.</a:t>
            </a:r>
            <a:endParaRPr lang="en-US" sz="900" dirty="0"/>
          </a:p>
        </p:txBody>
      </p:sp>
      <p:sp>
        <p:nvSpPr>
          <p:cNvPr id="22" name="Shape 20"/>
          <p:cNvSpPr/>
          <p:nvPr/>
        </p:nvSpPr>
        <p:spPr>
          <a:xfrm>
            <a:off x="228600" y="4379976"/>
            <a:ext cx="4251960" cy="201168"/>
          </a:xfrm>
          <a:prstGeom prst="rect">
            <a:avLst/>
          </a:prstGeom>
          <a:solidFill>
            <a:srgbClr val="FFFFFF"/>
          </a:solidFill>
          <a:ln/>
        </p:spPr>
        <p:txBody>
          <a:bodyPr/>
          <a:lstStyle/>
          <a:p>
            <a:endParaRPr lang="en-PH"/>
          </a:p>
        </p:txBody>
      </p:sp>
      <p:sp>
        <p:nvSpPr>
          <p:cNvPr id="23" name="Text 21"/>
          <p:cNvSpPr/>
          <p:nvPr/>
        </p:nvSpPr>
        <p:spPr>
          <a:xfrm>
            <a:off x="301752" y="4407408"/>
            <a:ext cx="1463040" cy="146304"/>
          </a:xfrm>
          <a:prstGeom prst="rect">
            <a:avLst/>
          </a:prstGeom>
          <a:noFill/>
          <a:ln/>
        </p:spPr>
        <p:txBody>
          <a:bodyPr wrap="square" lIns="0" tIns="0" rIns="0" bIns="0" rtlCol="0" anchor="ctr"/>
          <a:lstStyle/>
          <a:p>
            <a:pPr marL="0" indent="0">
              <a:buNone/>
            </a:pPr>
            <a:r>
              <a:rPr lang="en-US" sz="900" b="1" dirty="0">
                <a:solidFill>
                  <a:srgbClr val="CD172D"/>
                </a:solidFill>
                <a:latin typeface="Consolas" pitchFamily="34" charset="0"/>
                <a:ea typeface="Consolas" pitchFamily="34" charset="-122"/>
                <a:cs typeface="Consolas" pitchFamily="34" charset="-120"/>
              </a:rPr>
              <a:t>UNIQUE</a:t>
            </a:r>
            <a:endParaRPr lang="en-US" sz="900" dirty="0"/>
          </a:p>
        </p:txBody>
      </p:sp>
      <p:sp>
        <p:nvSpPr>
          <p:cNvPr id="24" name="Text 22"/>
          <p:cNvSpPr/>
          <p:nvPr/>
        </p:nvSpPr>
        <p:spPr>
          <a:xfrm>
            <a:off x="1801368" y="4407408"/>
            <a:ext cx="2606040" cy="146304"/>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No two rows can have the same value in this column.</a:t>
            </a:r>
            <a:endParaRPr lang="en-US" sz="900" dirty="0"/>
          </a:p>
        </p:txBody>
      </p:sp>
      <p:sp>
        <p:nvSpPr>
          <p:cNvPr id="25" name="Shape 23"/>
          <p:cNvSpPr/>
          <p:nvPr/>
        </p:nvSpPr>
        <p:spPr>
          <a:xfrm>
            <a:off x="4690872" y="4379976"/>
            <a:ext cx="4251960" cy="201168"/>
          </a:xfrm>
          <a:prstGeom prst="rect">
            <a:avLst/>
          </a:prstGeom>
          <a:solidFill>
            <a:srgbClr val="F5F5F5"/>
          </a:solidFill>
          <a:ln/>
        </p:spPr>
        <p:txBody>
          <a:bodyPr/>
          <a:lstStyle/>
          <a:p>
            <a:endParaRPr lang="en-PH"/>
          </a:p>
        </p:txBody>
      </p:sp>
      <p:sp>
        <p:nvSpPr>
          <p:cNvPr id="26" name="Text 24"/>
          <p:cNvSpPr/>
          <p:nvPr/>
        </p:nvSpPr>
        <p:spPr>
          <a:xfrm>
            <a:off x="4764024" y="4407408"/>
            <a:ext cx="1463040" cy="146304"/>
          </a:xfrm>
          <a:prstGeom prst="rect">
            <a:avLst/>
          </a:prstGeom>
          <a:noFill/>
          <a:ln/>
        </p:spPr>
        <p:txBody>
          <a:bodyPr wrap="square" lIns="0" tIns="0" rIns="0" bIns="0" rtlCol="0" anchor="ctr"/>
          <a:lstStyle/>
          <a:p>
            <a:pPr marL="0" indent="0">
              <a:buNone/>
            </a:pPr>
            <a:r>
              <a:rPr lang="en-US" sz="900" b="1" dirty="0">
                <a:solidFill>
                  <a:srgbClr val="CD172D"/>
                </a:solidFill>
                <a:latin typeface="Consolas" pitchFamily="34" charset="0"/>
                <a:ea typeface="Consolas" pitchFamily="34" charset="-122"/>
                <a:cs typeface="Consolas" pitchFamily="34" charset="-120"/>
              </a:rPr>
              <a:t>CHECK (expr)</a:t>
            </a:r>
            <a:endParaRPr lang="en-US" sz="900" dirty="0"/>
          </a:p>
        </p:txBody>
      </p:sp>
      <p:sp>
        <p:nvSpPr>
          <p:cNvPr id="27" name="Text 25"/>
          <p:cNvSpPr/>
          <p:nvPr/>
        </p:nvSpPr>
        <p:spPr>
          <a:xfrm>
            <a:off x="6263640" y="4407408"/>
            <a:ext cx="2606040" cy="146304"/>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Value must satisfy a condition. Like [Range] in C#.</a:t>
            </a:r>
            <a:endParaRPr lang="en-US" sz="900" dirty="0"/>
          </a:p>
        </p:txBody>
      </p:sp>
      <p:sp>
        <p:nvSpPr>
          <p:cNvPr id="28" name="Shape 26"/>
          <p:cNvSpPr/>
          <p:nvPr/>
        </p:nvSpPr>
        <p:spPr>
          <a:xfrm>
            <a:off x="228600" y="4599432"/>
            <a:ext cx="4251960" cy="201168"/>
          </a:xfrm>
          <a:prstGeom prst="rect">
            <a:avLst/>
          </a:prstGeom>
          <a:solidFill>
            <a:srgbClr val="FFFFFF"/>
          </a:solidFill>
          <a:ln/>
        </p:spPr>
        <p:txBody>
          <a:bodyPr/>
          <a:lstStyle/>
          <a:p>
            <a:endParaRPr lang="en-PH"/>
          </a:p>
        </p:txBody>
      </p:sp>
      <p:sp>
        <p:nvSpPr>
          <p:cNvPr id="29" name="Text 27"/>
          <p:cNvSpPr/>
          <p:nvPr/>
        </p:nvSpPr>
        <p:spPr>
          <a:xfrm>
            <a:off x="301752" y="4626864"/>
            <a:ext cx="1463040" cy="146304"/>
          </a:xfrm>
          <a:prstGeom prst="rect">
            <a:avLst/>
          </a:prstGeom>
          <a:noFill/>
          <a:ln/>
        </p:spPr>
        <p:txBody>
          <a:bodyPr wrap="square" lIns="0" tIns="0" rIns="0" bIns="0" rtlCol="0" anchor="ctr"/>
          <a:lstStyle/>
          <a:p>
            <a:pPr marL="0" indent="0">
              <a:buNone/>
            </a:pPr>
            <a:r>
              <a:rPr lang="en-US" sz="900" b="1" dirty="0">
                <a:solidFill>
                  <a:srgbClr val="CD172D"/>
                </a:solidFill>
                <a:latin typeface="Consolas" pitchFamily="34" charset="0"/>
                <a:ea typeface="Consolas" pitchFamily="34" charset="-122"/>
                <a:cs typeface="Consolas" pitchFamily="34" charset="-120"/>
              </a:rPr>
              <a:t>DEFAULT value</a:t>
            </a:r>
            <a:endParaRPr lang="en-US" sz="900" dirty="0"/>
          </a:p>
        </p:txBody>
      </p:sp>
      <p:sp>
        <p:nvSpPr>
          <p:cNvPr id="30" name="Text 28"/>
          <p:cNvSpPr/>
          <p:nvPr/>
        </p:nvSpPr>
        <p:spPr>
          <a:xfrm>
            <a:off x="1801368" y="4626864"/>
            <a:ext cx="2606040" cy="146304"/>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Value used when INSERT does not specify this column.</a:t>
            </a:r>
            <a:endParaRPr lang="en-US" sz="900" dirty="0"/>
          </a:p>
        </p:txBody>
      </p:sp>
      <p:sp>
        <p:nvSpPr>
          <p:cNvPr id="31" name="Shape 29"/>
          <p:cNvSpPr/>
          <p:nvPr/>
        </p:nvSpPr>
        <p:spPr>
          <a:xfrm>
            <a:off x="4690872" y="4599432"/>
            <a:ext cx="4251960" cy="201168"/>
          </a:xfrm>
          <a:prstGeom prst="rect">
            <a:avLst/>
          </a:prstGeom>
          <a:solidFill>
            <a:srgbClr val="F5F5F5"/>
          </a:solidFill>
          <a:ln/>
        </p:spPr>
        <p:txBody>
          <a:bodyPr/>
          <a:lstStyle/>
          <a:p>
            <a:endParaRPr lang="en-PH"/>
          </a:p>
        </p:txBody>
      </p:sp>
      <p:sp>
        <p:nvSpPr>
          <p:cNvPr id="32" name="Text 30"/>
          <p:cNvSpPr/>
          <p:nvPr/>
        </p:nvSpPr>
        <p:spPr>
          <a:xfrm>
            <a:off x="4764024" y="4626864"/>
            <a:ext cx="1463040" cy="146304"/>
          </a:xfrm>
          <a:prstGeom prst="rect">
            <a:avLst/>
          </a:prstGeom>
          <a:noFill/>
          <a:ln/>
        </p:spPr>
        <p:txBody>
          <a:bodyPr wrap="square" lIns="0" tIns="0" rIns="0" bIns="0" rtlCol="0" anchor="ctr"/>
          <a:lstStyle/>
          <a:p>
            <a:pPr marL="0" indent="0">
              <a:buNone/>
            </a:pPr>
            <a:r>
              <a:rPr lang="en-US" sz="900" b="1" dirty="0">
                <a:solidFill>
                  <a:srgbClr val="CD172D"/>
                </a:solidFill>
                <a:latin typeface="Consolas" pitchFamily="34" charset="0"/>
                <a:ea typeface="Consolas" pitchFamily="34" charset="-122"/>
                <a:cs typeface="Consolas" pitchFamily="34" charset="-120"/>
              </a:rPr>
              <a:t>REFERENCES</a:t>
            </a:r>
            <a:endParaRPr lang="en-US" sz="900" dirty="0"/>
          </a:p>
        </p:txBody>
      </p:sp>
      <p:sp>
        <p:nvSpPr>
          <p:cNvPr id="33" name="Text 31"/>
          <p:cNvSpPr/>
          <p:nvPr/>
        </p:nvSpPr>
        <p:spPr>
          <a:xfrm>
            <a:off x="6263640" y="4626864"/>
            <a:ext cx="2606040" cy="146304"/>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Foreign key — value must exist in another table's PK.</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8</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Text 5"/>
          <p:cNvSpPr/>
          <p:nvPr/>
        </p:nvSpPr>
        <p:spPr>
          <a:xfrm>
            <a:off x="274320" y="164592"/>
            <a:ext cx="7772400" cy="457200"/>
          </a:xfrm>
          <a:prstGeom prst="rect">
            <a:avLst/>
          </a:prstGeom>
          <a:noFill/>
          <a:ln/>
        </p:spPr>
        <p:txBody>
          <a:bodyPr wrap="square" lIns="0" tIns="0" rIns="0" bIns="0" rtlCol="0" anchor="ctr"/>
          <a:lstStyle/>
          <a:p>
            <a:pPr marL="0" indent="0">
              <a:buNone/>
            </a:pPr>
            <a:r>
              <a:rPr lang="en-US" sz="2200" b="1" dirty="0">
                <a:solidFill>
                  <a:srgbClr val="0E0F30"/>
                </a:solidFill>
                <a:latin typeface="Calibri" pitchFamily="34" charset="0"/>
                <a:ea typeface="Calibri" pitchFamily="34" charset="-122"/>
                <a:cs typeface="Calibri" pitchFamily="34" charset="-120"/>
              </a:rPr>
              <a:t>INSERT &amp; SELECT — Writing and Reading Data</a:t>
            </a:r>
            <a:endParaRPr lang="en-US" sz="2200" dirty="0"/>
          </a:p>
        </p:txBody>
      </p:sp>
      <p:sp>
        <p:nvSpPr>
          <p:cNvPr id="8" name="Shape 6"/>
          <p:cNvSpPr/>
          <p:nvPr/>
        </p:nvSpPr>
        <p:spPr>
          <a:xfrm>
            <a:off x="274320" y="640080"/>
            <a:ext cx="1645920" cy="36576"/>
          </a:xfrm>
          <a:prstGeom prst="rect">
            <a:avLst/>
          </a:prstGeom>
          <a:solidFill>
            <a:srgbClr val="CD172D"/>
          </a:solidFill>
          <a:ln/>
        </p:spPr>
        <p:txBody>
          <a:bodyPr/>
          <a:lstStyle/>
          <a:p>
            <a:endParaRPr lang="en-PH"/>
          </a:p>
        </p:txBody>
      </p:sp>
      <p:sp>
        <p:nvSpPr>
          <p:cNvPr id="9" name="Text 7"/>
          <p:cNvSpPr/>
          <p:nvPr/>
        </p:nvSpPr>
        <p:spPr>
          <a:xfrm>
            <a:off x="274320" y="694944"/>
            <a:ext cx="82296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The two most common SQL operations you will write every day</a:t>
            </a:r>
            <a:endParaRPr lang="en-US" sz="1100" dirty="0"/>
          </a:p>
        </p:txBody>
      </p:sp>
      <p:sp>
        <p:nvSpPr>
          <p:cNvPr id="10" name="Shape 8"/>
          <p:cNvSpPr/>
          <p:nvPr/>
        </p:nvSpPr>
        <p:spPr>
          <a:xfrm>
            <a:off x="228600" y="987552"/>
            <a:ext cx="4251960" cy="3749040"/>
          </a:xfrm>
          <a:prstGeom prst="rect">
            <a:avLst/>
          </a:prstGeom>
          <a:solidFill>
            <a:srgbClr val="0E0F30"/>
          </a:solidFill>
          <a:ln/>
        </p:spPr>
        <p:txBody>
          <a:bodyPr/>
          <a:lstStyle/>
          <a:p>
            <a:endParaRPr lang="en-PH"/>
          </a:p>
        </p:txBody>
      </p:sp>
      <p:sp>
        <p:nvSpPr>
          <p:cNvPr id="11" name="Shape 9"/>
          <p:cNvSpPr/>
          <p:nvPr/>
        </p:nvSpPr>
        <p:spPr>
          <a:xfrm>
            <a:off x="228600" y="987552"/>
            <a:ext cx="4251960" cy="256032"/>
          </a:xfrm>
          <a:prstGeom prst="rect">
            <a:avLst/>
          </a:prstGeom>
          <a:solidFill>
            <a:srgbClr val="CD172D"/>
          </a:solidFill>
          <a:ln/>
        </p:spPr>
        <p:txBody>
          <a:bodyPr/>
          <a:lstStyle/>
          <a:p>
            <a:endParaRPr lang="en-PH"/>
          </a:p>
        </p:txBody>
      </p:sp>
      <p:sp>
        <p:nvSpPr>
          <p:cNvPr id="12" name="Shape 10"/>
          <p:cNvSpPr/>
          <p:nvPr/>
        </p:nvSpPr>
        <p:spPr>
          <a:xfrm>
            <a:off x="228600" y="1115568"/>
            <a:ext cx="4251960" cy="128016"/>
          </a:xfrm>
          <a:prstGeom prst="rect">
            <a:avLst/>
          </a:prstGeom>
          <a:solidFill>
            <a:srgbClr val="CD172D"/>
          </a:solidFill>
          <a:ln/>
        </p:spPr>
        <p:txBody>
          <a:bodyPr/>
          <a:lstStyle/>
          <a:p>
            <a:endParaRPr lang="en-PH"/>
          </a:p>
        </p:txBody>
      </p:sp>
      <p:sp>
        <p:nvSpPr>
          <p:cNvPr id="13" name="Text 11"/>
          <p:cNvSpPr/>
          <p:nvPr/>
        </p:nvSpPr>
        <p:spPr>
          <a:xfrm>
            <a:off x="338328" y="1005840"/>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INSERT — Adding rows</a:t>
            </a:r>
            <a:endParaRPr lang="en-US" sz="900" dirty="0"/>
          </a:p>
        </p:txBody>
      </p:sp>
      <p:sp>
        <p:nvSpPr>
          <p:cNvPr id="14" name="Text 12"/>
          <p:cNvSpPr/>
          <p:nvPr/>
        </p:nvSpPr>
        <p:spPr>
          <a:xfrm>
            <a:off x="350286" y="1165860"/>
            <a:ext cx="4069080" cy="3383280"/>
          </a:xfrm>
          <a:prstGeom prst="rect">
            <a:avLst/>
          </a:prstGeom>
          <a:noFill/>
          <a:ln/>
        </p:spPr>
        <p:txBody>
          <a:bodyPr wrap="square" lIns="0" tIns="0" rIns="0" bIns="0" rtlCol="0" anchor="ctr"/>
          <a:lstStyle/>
          <a:p>
            <a:pPr marL="0" indent="0">
              <a:buNone/>
            </a:pPr>
            <a:r>
              <a:rPr lang="en-US" sz="800" dirty="0">
                <a:solidFill>
                  <a:srgbClr val="7DD3FC"/>
                </a:solidFill>
                <a:latin typeface="Consolas" pitchFamily="34" charset="0"/>
                <a:ea typeface="Consolas" pitchFamily="34" charset="-122"/>
                <a:cs typeface="Consolas" pitchFamily="34" charset="-120"/>
              </a:rPr>
              <a:t>-- INSERT single row</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INSERT INTO authors (full_name, nationality, birth_year)</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VALUES ('Robert Martin', 'American', 1952);</a:t>
            </a:r>
            <a:endParaRPr lang="en-US" sz="800" dirty="0"/>
          </a:p>
          <a:p>
            <a:pPr marL="0" indent="0">
              <a:buNone/>
            </a:pP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INSERT multiple rows at once</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INSERT INTO authors (full_name, nationality)</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VALUES</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('Jon Skeet',     'British'),</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('Frank Herbert', 'American'),</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('Yuval Harari',  'Israeli'),</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('David Thomas',  'British');</a:t>
            </a:r>
            <a:endParaRPr lang="en-US" sz="800" dirty="0"/>
          </a:p>
          <a:p>
            <a:pPr marL="0" indent="0">
              <a:buNone/>
            </a:pP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INSERT into books (referencing author ids)</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INSERT INTO books (title, genre, year, available, author_id)</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VALUES</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('Clean Code',               'Programming',  2008, TRUE,  1),</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('C# in Depth',              'Programming',  2019, FALSE, 2),</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('Dune',                     'Fiction',       1965, TRUE,  3),</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('Sapiens',                  'History',       2011, TRUE,  4),</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('The Pragmatic Programmer', 'Programming',  1999, FALSE, 5);</a:t>
            </a:r>
            <a:endParaRPr lang="en-US" sz="800" dirty="0"/>
          </a:p>
          <a:p>
            <a:pPr marL="0" indent="0">
              <a:buNone/>
            </a:pP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INSERT and get the new row back immediately</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INSERT INTO books (title, genre, year, author_id)</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VALUES ('Clean Architecture', 'Programming', 2017, 1)</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RETURNING id, title;   -- ← returns the new row's id and title</a:t>
            </a:r>
            <a:endParaRPr lang="en-US" sz="800" dirty="0"/>
          </a:p>
        </p:txBody>
      </p:sp>
      <p:sp>
        <p:nvSpPr>
          <p:cNvPr id="15" name="Shape 13"/>
          <p:cNvSpPr/>
          <p:nvPr/>
        </p:nvSpPr>
        <p:spPr>
          <a:xfrm>
            <a:off x="4663440" y="987552"/>
            <a:ext cx="4251960" cy="3749040"/>
          </a:xfrm>
          <a:prstGeom prst="rect">
            <a:avLst/>
          </a:prstGeom>
          <a:solidFill>
            <a:srgbClr val="0E0F30"/>
          </a:solidFill>
          <a:ln/>
        </p:spPr>
        <p:txBody>
          <a:bodyPr/>
          <a:lstStyle/>
          <a:p>
            <a:endParaRPr lang="en-PH"/>
          </a:p>
        </p:txBody>
      </p:sp>
      <p:sp>
        <p:nvSpPr>
          <p:cNvPr id="16" name="Shape 14"/>
          <p:cNvSpPr/>
          <p:nvPr/>
        </p:nvSpPr>
        <p:spPr>
          <a:xfrm>
            <a:off x="4663440" y="987552"/>
            <a:ext cx="4251960" cy="256032"/>
          </a:xfrm>
          <a:prstGeom prst="rect">
            <a:avLst/>
          </a:prstGeom>
          <a:solidFill>
            <a:srgbClr val="CD172D"/>
          </a:solidFill>
          <a:ln/>
        </p:spPr>
        <p:txBody>
          <a:bodyPr/>
          <a:lstStyle/>
          <a:p>
            <a:endParaRPr lang="en-PH"/>
          </a:p>
        </p:txBody>
      </p:sp>
      <p:sp>
        <p:nvSpPr>
          <p:cNvPr id="17" name="Shape 15"/>
          <p:cNvSpPr/>
          <p:nvPr/>
        </p:nvSpPr>
        <p:spPr>
          <a:xfrm>
            <a:off x="4663440" y="1115568"/>
            <a:ext cx="4251960" cy="128016"/>
          </a:xfrm>
          <a:prstGeom prst="rect">
            <a:avLst/>
          </a:prstGeom>
          <a:solidFill>
            <a:srgbClr val="CD172D"/>
          </a:solidFill>
          <a:ln/>
        </p:spPr>
        <p:txBody>
          <a:bodyPr/>
          <a:lstStyle/>
          <a:p>
            <a:endParaRPr lang="en-PH"/>
          </a:p>
        </p:txBody>
      </p:sp>
      <p:sp>
        <p:nvSpPr>
          <p:cNvPr id="18" name="Text 16"/>
          <p:cNvSpPr/>
          <p:nvPr/>
        </p:nvSpPr>
        <p:spPr>
          <a:xfrm>
            <a:off x="4773168" y="1005840"/>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SELECT — Reading rows</a:t>
            </a:r>
            <a:endParaRPr lang="en-US" sz="900" dirty="0"/>
          </a:p>
        </p:txBody>
      </p:sp>
      <p:sp>
        <p:nvSpPr>
          <p:cNvPr id="19" name="Text 17"/>
          <p:cNvSpPr/>
          <p:nvPr/>
        </p:nvSpPr>
        <p:spPr>
          <a:xfrm>
            <a:off x="4773168" y="1280160"/>
            <a:ext cx="4069080" cy="3383280"/>
          </a:xfrm>
          <a:prstGeom prst="rect">
            <a:avLst/>
          </a:prstGeom>
          <a:noFill/>
          <a:ln/>
        </p:spPr>
        <p:txBody>
          <a:bodyPr wrap="square" lIns="0" tIns="0" rIns="0" bIns="0" rtlCol="0" anchor="ctr"/>
          <a:lstStyle/>
          <a:p>
            <a:pPr marL="0" indent="0">
              <a:buNone/>
            </a:pPr>
            <a:r>
              <a:rPr lang="en-US" sz="700" dirty="0">
                <a:solidFill>
                  <a:srgbClr val="7DD3FC"/>
                </a:solidFill>
                <a:latin typeface="Consolas" pitchFamily="34" charset="0"/>
                <a:ea typeface="Consolas" pitchFamily="34" charset="-122"/>
                <a:cs typeface="Consolas" pitchFamily="34" charset="-120"/>
              </a:rPr>
              <a:t>-- All rows, all columns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 * FROM books;</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Specific columns only (always prefer this over *)</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 id, title, available FROM books;</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With an alias — rename columns in the result</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id,</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title       AS book_title,</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available   AS is_available</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FROM books;</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Limit results — first 3 books only</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 * FROM books LIMIT 3;</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Offset — skip first 2, then take 3 (pagination)</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 * FROM books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LIMIT 3 OFFSET 2;</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Offset 0 = page 1, Offset 3 = page 2, etc.</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Distinct — no duplicate values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 DISTINCT genre FROM books;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 Programming, Fiction, History</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Count total rows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 COUNT(*) FROM books;</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RETURNING after INSERT (get the new id back)</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INSERT INTO books (title, author_id)</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VALUES ('New Book', 1)</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RETURNING id;</a:t>
            </a:r>
            <a:endParaRPr lang="en-US" sz="700" dirty="0"/>
          </a:p>
        </p:txBody>
      </p:sp>
      <p:sp>
        <p:nvSpPr>
          <p:cNvPr id="20" name="Shape 18"/>
          <p:cNvSpPr/>
          <p:nvPr/>
        </p:nvSpPr>
        <p:spPr>
          <a:xfrm>
            <a:off x="228600" y="4572000"/>
            <a:ext cx="8686800" cy="237744"/>
          </a:xfrm>
          <a:prstGeom prst="rect">
            <a:avLst/>
          </a:prstGeom>
          <a:solidFill>
            <a:srgbClr val="CD172D"/>
          </a:solidFill>
          <a:ln/>
        </p:spPr>
        <p:txBody>
          <a:bodyPr/>
          <a:lstStyle/>
          <a:p>
            <a:endParaRPr lang="en-PH"/>
          </a:p>
        </p:txBody>
      </p:sp>
      <p:sp>
        <p:nvSpPr>
          <p:cNvPr id="21" name="Text 19"/>
          <p:cNvSpPr/>
          <p:nvPr/>
        </p:nvSpPr>
        <p:spPr>
          <a:xfrm>
            <a:off x="347472" y="4590288"/>
            <a:ext cx="841248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Always list specific columns in SELECT (not *) in production code — it prevents issues when the table schema changes and makes queries self-documenting.</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9</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Text 5"/>
          <p:cNvSpPr/>
          <p:nvPr/>
        </p:nvSpPr>
        <p:spPr>
          <a:xfrm>
            <a:off x="274320" y="164592"/>
            <a:ext cx="7772400" cy="457200"/>
          </a:xfrm>
          <a:prstGeom prst="rect">
            <a:avLst/>
          </a:prstGeom>
          <a:noFill/>
          <a:ln/>
        </p:spPr>
        <p:txBody>
          <a:bodyPr wrap="square" lIns="0" tIns="0" rIns="0" bIns="0" rtlCol="0" anchor="ctr"/>
          <a:lstStyle/>
          <a:p>
            <a:pPr marL="0" indent="0">
              <a:buNone/>
            </a:pPr>
            <a:r>
              <a:rPr lang="en-US" sz="2200" b="1" dirty="0">
                <a:solidFill>
                  <a:srgbClr val="0E0F30"/>
                </a:solidFill>
                <a:latin typeface="Calibri" pitchFamily="34" charset="0"/>
                <a:ea typeface="Calibri" pitchFamily="34" charset="-122"/>
                <a:cs typeface="Calibri" pitchFamily="34" charset="-120"/>
              </a:rPr>
              <a:t>WHERE, ORDER BY, UPDATE &amp; DELETE</a:t>
            </a:r>
            <a:endParaRPr lang="en-US" sz="2200" dirty="0"/>
          </a:p>
        </p:txBody>
      </p:sp>
      <p:sp>
        <p:nvSpPr>
          <p:cNvPr id="8" name="Shape 6"/>
          <p:cNvSpPr/>
          <p:nvPr/>
        </p:nvSpPr>
        <p:spPr>
          <a:xfrm>
            <a:off x="274320" y="640080"/>
            <a:ext cx="1645920" cy="36576"/>
          </a:xfrm>
          <a:prstGeom prst="rect">
            <a:avLst/>
          </a:prstGeom>
          <a:solidFill>
            <a:srgbClr val="CD172D"/>
          </a:solidFill>
          <a:ln/>
        </p:spPr>
        <p:txBody>
          <a:bodyPr/>
          <a:lstStyle/>
          <a:p>
            <a:endParaRPr lang="en-PH"/>
          </a:p>
        </p:txBody>
      </p:sp>
      <p:sp>
        <p:nvSpPr>
          <p:cNvPr id="9" name="Text 7"/>
          <p:cNvSpPr/>
          <p:nvPr/>
        </p:nvSpPr>
        <p:spPr>
          <a:xfrm>
            <a:off x="274320" y="694944"/>
            <a:ext cx="82296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Filtering, sorting, and modifying data</a:t>
            </a:r>
            <a:endParaRPr lang="en-US" sz="1100" dirty="0"/>
          </a:p>
        </p:txBody>
      </p:sp>
      <p:sp>
        <p:nvSpPr>
          <p:cNvPr id="10" name="Shape 8"/>
          <p:cNvSpPr/>
          <p:nvPr/>
        </p:nvSpPr>
        <p:spPr>
          <a:xfrm>
            <a:off x="228600" y="987552"/>
            <a:ext cx="4251960" cy="3749040"/>
          </a:xfrm>
          <a:prstGeom prst="rect">
            <a:avLst/>
          </a:prstGeom>
          <a:solidFill>
            <a:srgbClr val="0E0F30"/>
          </a:solidFill>
          <a:ln/>
        </p:spPr>
        <p:txBody>
          <a:bodyPr/>
          <a:lstStyle/>
          <a:p>
            <a:endParaRPr lang="en-PH"/>
          </a:p>
        </p:txBody>
      </p:sp>
      <p:sp>
        <p:nvSpPr>
          <p:cNvPr id="11" name="Shape 9"/>
          <p:cNvSpPr/>
          <p:nvPr/>
        </p:nvSpPr>
        <p:spPr>
          <a:xfrm>
            <a:off x="228600" y="987552"/>
            <a:ext cx="4251960" cy="256032"/>
          </a:xfrm>
          <a:prstGeom prst="rect">
            <a:avLst/>
          </a:prstGeom>
          <a:solidFill>
            <a:srgbClr val="CD172D"/>
          </a:solidFill>
          <a:ln/>
        </p:spPr>
        <p:txBody>
          <a:bodyPr/>
          <a:lstStyle/>
          <a:p>
            <a:endParaRPr lang="en-PH"/>
          </a:p>
        </p:txBody>
      </p:sp>
      <p:sp>
        <p:nvSpPr>
          <p:cNvPr id="12" name="Shape 10"/>
          <p:cNvSpPr/>
          <p:nvPr/>
        </p:nvSpPr>
        <p:spPr>
          <a:xfrm>
            <a:off x="228600" y="1115568"/>
            <a:ext cx="4251960" cy="128016"/>
          </a:xfrm>
          <a:prstGeom prst="rect">
            <a:avLst/>
          </a:prstGeom>
          <a:solidFill>
            <a:srgbClr val="CD172D"/>
          </a:solidFill>
          <a:ln/>
        </p:spPr>
        <p:txBody>
          <a:bodyPr/>
          <a:lstStyle/>
          <a:p>
            <a:endParaRPr lang="en-PH"/>
          </a:p>
        </p:txBody>
      </p:sp>
      <p:sp>
        <p:nvSpPr>
          <p:cNvPr id="13" name="Text 11"/>
          <p:cNvSpPr/>
          <p:nvPr/>
        </p:nvSpPr>
        <p:spPr>
          <a:xfrm>
            <a:off x="338328" y="1005840"/>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WHERE — Filtering rows</a:t>
            </a:r>
            <a:endParaRPr lang="en-US" sz="900" dirty="0"/>
          </a:p>
        </p:txBody>
      </p:sp>
      <p:sp>
        <p:nvSpPr>
          <p:cNvPr id="14" name="Text 12"/>
          <p:cNvSpPr/>
          <p:nvPr/>
        </p:nvSpPr>
        <p:spPr>
          <a:xfrm>
            <a:off x="274320" y="1188720"/>
            <a:ext cx="4069080" cy="3383280"/>
          </a:xfrm>
          <a:prstGeom prst="rect">
            <a:avLst/>
          </a:prstGeom>
          <a:noFill/>
          <a:ln/>
        </p:spPr>
        <p:txBody>
          <a:bodyPr wrap="square" lIns="0" tIns="0" rIns="0" bIns="0" rtlCol="0" anchor="ctr"/>
          <a:lstStyle/>
          <a:p>
            <a:pPr marL="0" indent="0">
              <a:buNone/>
            </a:pPr>
            <a:r>
              <a:rPr lang="en-US" sz="600" dirty="0">
                <a:solidFill>
                  <a:srgbClr val="7DD3FC"/>
                </a:solidFill>
                <a:latin typeface="Consolas" pitchFamily="34" charset="0"/>
                <a:ea typeface="Consolas" pitchFamily="34" charset="-122"/>
                <a:cs typeface="Consolas" pitchFamily="34" charset="-120"/>
              </a:rPr>
              <a:t>-- Exact match</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SELECT * FROM books WHERE available = TRUE;</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Comparison operators:  =  &lt;&gt;  &lt;  &gt;  &lt;=  &gt;=</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SELECT * FROM books WHERE year &gt; 2000;</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SELECT * FROM books WHERE year BETWEEN 1990 AND 2010;</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Text matching</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SELECT * FROM books WHERE genre = 'Programming';</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Case-insensitive search (ILIKE = case-insensitive LIKE)</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SELECT * FROM books WHERE title ILIKE '%clean%';</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 = wildcard: matches any characters</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'clean code' ILIKE '%clean%' → TRUE</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'CLEAN CODE' ILIKE '%clean%' → TRUE (case-insensitive)</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Multiple conditions</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SELECT * FROM books</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WHERE available = TRUE AND genre = 'Programming';</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SELECT * FROM books</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WHERE genre = 'Fiction' OR genre = 'History';</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IN — match any value in a list</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SELECT * FROM books</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WHERE genre IN ('Fiction', 'History', 'Science');</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NULL checks (never use = NULL — always use IS NULL)</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SELECT * FROM loans WHERE returned_at IS NULL;     -- not returned yet</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SELECT * FROM loans WHERE returned_at IS NOT NULL; -- already returned</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ORDER BY</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SELECT * FROM books ORDER BY title ASC;           -- alphabetical</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SELECT * FROM books ORDER BY year  DESC;          -- newest first</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SELECT * FROM books ORDER BY genre ASC, year DESC;-- multiple columns</a:t>
            </a:r>
            <a:endParaRPr lang="en-US" sz="600" dirty="0"/>
          </a:p>
        </p:txBody>
      </p:sp>
      <p:sp>
        <p:nvSpPr>
          <p:cNvPr id="15" name="Shape 13"/>
          <p:cNvSpPr/>
          <p:nvPr/>
        </p:nvSpPr>
        <p:spPr>
          <a:xfrm>
            <a:off x="4663440" y="987552"/>
            <a:ext cx="4251960" cy="3749040"/>
          </a:xfrm>
          <a:prstGeom prst="rect">
            <a:avLst/>
          </a:prstGeom>
          <a:solidFill>
            <a:srgbClr val="0E0F30"/>
          </a:solidFill>
          <a:ln/>
        </p:spPr>
        <p:txBody>
          <a:bodyPr/>
          <a:lstStyle/>
          <a:p>
            <a:endParaRPr lang="en-PH"/>
          </a:p>
        </p:txBody>
      </p:sp>
      <p:sp>
        <p:nvSpPr>
          <p:cNvPr id="16" name="Shape 14"/>
          <p:cNvSpPr/>
          <p:nvPr/>
        </p:nvSpPr>
        <p:spPr>
          <a:xfrm>
            <a:off x="4663440" y="987552"/>
            <a:ext cx="4251960" cy="256032"/>
          </a:xfrm>
          <a:prstGeom prst="rect">
            <a:avLst/>
          </a:prstGeom>
          <a:solidFill>
            <a:srgbClr val="CD172D"/>
          </a:solidFill>
          <a:ln/>
        </p:spPr>
        <p:txBody>
          <a:bodyPr/>
          <a:lstStyle/>
          <a:p>
            <a:endParaRPr lang="en-PH"/>
          </a:p>
        </p:txBody>
      </p:sp>
      <p:sp>
        <p:nvSpPr>
          <p:cNvPr id="17" name="Shape 15"/>
          <p:cNvSpPr/>
          <p:nvPr/>
        </p:nvSpPr>
        <p:spPr>
          <a:xfrm>
            <a:off x="4663440" y="1115568"/>
            <a:ext cx="4251960" cy="128016"/>
          </a:xfrm>
          <a:prstGeom prst="rect">
            <a:avLst/>
          </a:prstGeom>
          <a:solidFill>
            <a:srgbClr val="CD172D"/>
          </a:solidFill>
          <a:ln/>
        </p:spPr>
        <p:txBody>
          <a:bodyPr/>
          <a:lstStyle/>
          <a:p>
            <a:endParaRPr lang="en-PH"/>
          </a:p>
        </p:txBody>
      </p:sp>
      <p:sp>
        <p:nvSpPr>
          <p:cNvPr id="18" name="Text 16"/>
          <p:cNvSpPr/>
          <p:nvPr/>
        </p:nvSpPr>
        <p:spPr>
          <a:xfrm>
            <a:off x="4773168" y="1005840"/>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UPDATE &amp; DELETE</a:t>
            </a:r>
            <a:endParaRPr lang="en-US" sz="900" dirty="0"/>
          </a:p>
        </p:txBody>
      </p:sp>
      <p:sp>
        <p:nvSpPr>
          <p:cNvPr id="19" name="Text 17"/>
          <p:cNvSpPr/>
          <p:nvPr/>
        </p:nvSpPr>
        <p:spPr>
          <a:xfrm>
            <a:off x="4766134" y="1239364"/>
            <a:ext cx="4069080" cy="3383280"/>
          </a:xfrm>
          <a:prstGeom prst="rect">
            <a:avLst/>
          </a:prstGeom>
          <a:noFill/>
          <a:ln/>
        </p:spPr>
        <p:txBody>
          <a:bodyPr wrap="square" lIns="0" tIns="0" rIns="0" bIns="0" rtlCol="0" anchor="ctr"/>
          <a:lstStyle/>
          <a:p>
            <a:pPr marL="0" indent="0">
              <a:buNone/>
            </a:pPr>
            <a:r>
              <a:rPr lang="en-US" sz="600" dirty="0">
                <a:solidFill>
                  <a:srgbClr val="7DD3FC"/>
                </a:solidFill>
                <a:latin typeface="Consolas" pitchFamily="34" charset="0"/>
                <a:ea typeface="Consolas" pitchFamily="34" charset="-122"/>
                <a:cs typeface="Consolas" pitchFamily="34" charset="-120"/>
              </a:rPr>
              <a:t>-- UPDATE — change existing rows</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UPDATE books</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SET available = FALSE</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WHERE id = 3;</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Update multiple columns at once</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UPDATE books</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SET</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title     = 'Clean Code (2nd Ed)',</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year      = 2024,</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available = TRUE</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WHERE id = 1;</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ALWAYS include WHERE on UPDATE</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Without WHERE: updates EVERY row in the table!</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UPDATE books SET available = FALSE;  ← ALL books unavailable!</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DELETE — remove rows</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DELETE FROM books WHERE id = 5;</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ALWAYS include WHERE on DELETE</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Without WHERE: deletes EVERY row!</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DELETE FROM books;  ← EMPTY TABLE!</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Soft delete pattern (preferred in production)</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Instead of actually deleting, mark as deleted:</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ALTER TABLE books ADD COLUMN deleted_at TIMESTAMPTZ;</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UPDATE books SET deleted_at = NOW() WHERE id = 5;</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SELECT * FROM books WHERE deleted_at IS NULL;</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RETURNING works on UPDATE and DELETE too</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UPDATE books</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SET available = FALSE</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WHERE id = 3</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RETURNING id, title, available;</a:t>
            </a:r>
            <a:endParaRPr lang="en-US" sz="600" dirty="0"/>
          </a:p>
        </p:txBody>
      </p:sp>
      <p:sp>
        <p:nvSpPr>
          <p:cNvPr id="20" name="Shape 18"/>
          <p:cNvSpPr/>
          <p:nvPr/>
        </p:nvSpPr>
        <p:spPr>
          <a:xfrm>
            <a:off x="228600" y="4572000"/>
            <a:ext cx="8686800" cy="237744"/>
          </a:xfrm>
          <a:prstGeom prst="rect">
            <a:avLst/>
          </a:prstGeom>
          <a:solidFill>
            <a:srgbClr val="CD172D"/>
          </a:solidFill>
          <a:ln/>
        </p:spPr>
        <p:txBody>
          <a:bodyPr/>
          <a:lstStyle/>
          <a:p>
            <a:endParaRPr lang="en-PH"/>
          </a:p>
        </p:txBody>
      </p:sp>
      <p:sp>
        <p:nvSpPr>
          <p:cNvPr id="21" name="Text 19"/>
          <p:cNvSpPr/>
          <p:nvPr/>
        </p:nvSpPr>
        <p:spPr>
          <a:xfrm>
            <a:off x="347472" y="4590288"/>
            <a:ext cx="841248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ALWAYS use WHERE with UPDATE and DELETE. Running them without WHERE in production is one of the most common and costly database mistakes.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10</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Shape 5"/>
          <p:cNvSpPr/>
          <p:nvPr/>
        </p:nvSpPr>
        <p:spPr>
          <a:xfrm>
            <a:off x="0" y="118872"/>
            <a:ext cx="9144000" cy="566928"/>
          </a:xfrm>
          <a:prstGeom prst="rect">
            <a:avLst/>
          </a:prstGeom>
          <a:solidFill>
            <a:srgbClr val="0E0F30"/>
          </a:solidFill>
          <a:ln/>
        </p:spPr>
        <p:txBody>
          <a:bodyPr/>
          <a:lstStyle/>
          <a:p>
            <a:endParaRPr lang="en-PH"/>
          </a:p>
        </p:txBody>
      </p:sp>
      <p:sp>
        <p:nvSpPr>
          <p:cNvPr id="8" name="Text 6"/>
          <p:cNvSpPr/>
          <p:nvPr/>
        </p:nvSpPr>
        <p:spPr>
          <a:xfrm>
            <a:off x="274320" y="155448"/>
            <a:ext cx="2743200" cy="256032"/>
          </a:xfrm>
          <a:prstGeom prst="rect">
            <a:avLst/>
          </a:prstGeom>
          <a:noFill/>
          <a:ln/>
        </p:spPr>
        <p:txBody>
          <a:bodyPr wrap="square" lIns="0" tIns="0" rIns="0" bIns="0" rtlCol="0" anchor="ctr"/>
          <a:lstStyle/>
          <a:p>
            <a:pPr marL="0" indent="0">
              <a:buNone/>
            </a:pPr>
            <a:r>
              <a:rPr lang="en-US" sz="1100" b="1" dirty="0">
                <a:solidFill>
                  <a:srgbClr val="CD172D"/>
                </a:solidFill>
                <a:latin typeface="Calibri" pitchFamily="34" charset="0"/>
                <a:ea typeface="Calibri" pitchFamily="34" charset="-122"/>
                <a:cs typeface="Calibri" pitchFamily="34" charset="-120"/>
              </a:rPr>
              <a:t>⚡  ACTIVITY  —  20 MIN</a:t>
            </a:r>
            <a:endParaRPr lang="en-US" sz="1100" dirty="0"/>
          </a:p>
        </p:txBody>
      </p:sp>
      <p:sp>
        <p:nvSpPr>
          <p:cNvPr id="9" name="Text 7"/>
          <p:cNvSpPr/>
          <p:nvPr/>
        </p:nvSpPr>
        <p:spPr>
          <a:xfrm>
            <a:off x="274320" y="393192"/>
            <a:ext cx="8412480"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Create &amp; Populate the Library Schema</a:t>
            </a:r>
            <a:endParaRPr lang="en-US" sz="1400" dirty="0"/>
          </a:p>
        </p:txBody>
      </p:sp>
      <p:sp>
        <p:nvSpPr>
          <p:cNvPr id="10" name="Shape 8"/>
          <p:cNvSpPr/>
          <p:nvPr/>
        </p:nvSpPr>
        <p:spPr>
          <a:xfrm>
            <a:off x="228600" y="822960"/>
            <a:ext cx="8686800" cy="3749040"/>
          </a:xfrm>
          <a:prstGeom prst="rect">
            <a:avLst/>
          </a:prstGeom>
          <a:solidFill>
            <a:srgbClr val="FFFFFF"/>
          </a:solidFill>
          <a:ln w="6350">
            <a:solidFill>
              <a:srgbClr val="E0E0E0"/>
            </a:solidFill>
            <a:prstDash val="solid"/>
          </a:ln>
        </p:spPr>
        <p:txBody>
          <a:bodyPr/>
          <a:lstStyle/>
          <a:p>
            <a:endParaRPr lang="en-PH"/>
          </a:p>
        </p:txBody>
      </p:sp>
      <p:sp>
        <p:nvSpPr>
          <p:cNvPr id="11" name="Text 9"/>
          <p:cNvSpPr/>
          <p:nvPr/>
        </p:nvSpPr>
        <p:spPr>
          <a:xfrm>
            <a:off x="411480" y="896112"/>
            <a:ext cx="8321040" cy="35661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SETUP: Open pgAdmin → connect to PostgreSQL → open Query Tool on librarydb</a:t>
            </a:r>
            <a:endParaRPr lang="en-US" sz="900" dirty="0"/>
          </a:p>
          <a:p>
            <a:pPr marL="0" indent="0">
              <a:buNone/>
            </a:pP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PART A — Create tables (run in this order):</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1. CREATE TABLE authors with: id (SERIAL PK), full_name (VARCHAR 150, NOT NULL),</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nationality (VARCHAR 100), birth_year (INT with CHECK &gt; 1800)</a:t>
            </a:r>
            <a:endParaRPr lang="en-US" sz="900" dirty="0"/>
          </a:p>
          <a:p>
            <a:pPr marL="0" indent="0">
              <a:buNone/>
            </a:pP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2. CREATE TABLE books with: id (SERIAL PK), title (VARCHAR 255, NOT NULL),</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genre (VARCHAR 80), year (INT with CHECK 1000–2030),</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available (BOOLEAN NOT NULL DEFAULT TRUE),</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author_id (INT REFERENCES authors(id) ON DELETE SET NULL)</a:t>
            </a:r>
            <a:endParaRPr lang="en-US" sz="900" dirty="0"/>
          </a:p>
          <a:p>
            <a:pPr marL="0" indent="0">
              <a:buNone/>
            </a:pP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3. CREATE TABLE loans with: id (SERIAL PK), book_id (INT NOT NULL REFERENCES books(id)),</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member_name (VARCHAR 150 NOT NULL), loaned_at (TIMESTAMPTZ DEFAULT NOW()),</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returned_at (TIMESTAMPTZ)  ← nullable means not yet returned</a:t>
            </a:r>
            <a:endParaRPr lang="en-US" sz="900" dirty="0"/>
          </a:p>
          <a:p>
            <a:pPr marL="0" indent="0">
              <a:buNone/>
            </a:pP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PART B — Seed data:</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4. INSERT 4 authors: Robert Martin (American), Jon Skeet (British),</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Frank Herbert (American), [Your Name](Filipino)</a:t>
            </a:r>
          </a:p>
          <a:p>
            <a:pPr marL="0" indent="0">
              <a:buNone/>
            </a:pP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5. INSERT 5 books linking to the correct author_id</a:t>
            </a:r>
            <a:endParaRPr lang="en-US" sz="900" dirty="0"/>
          </a:p>
          <a:p>
            <a:pPr marL="0" indent="0">
              <a:buNone/>
            </a:pP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PART C — Verify with SELECT:</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6. SELECT * FROM authors;           → should show 4 rows</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7. SELECT * FROM books;             → should show 5 rows</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8. SELECT COUNT(*) FROM books;      → should show 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11</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Text 5"/>
          <p:cNvSpPr/>
          <p:nvPr/>
        </p:nvSpPr>
        <p:spPr>
          <a:xfrm>
            <a:off x="274320" y="164592"/>
            <a:ext cx="7772400" cy="457200"/>
          </a:xfrm>
          <a:prstGeom prst="rect">
            <a:avLst/>
          </a:prstGeom>
          <a:noFill/>
          <a:ln/>
        </p:spPr>
        <p:txBody>
          <a:bodyPr wrap="square" lIns="0" tIns="0" rIns="0" bIns="0" rtlCol="0" anchor="ctr"/>
          <a:lstStyle/>
          <a:p>
            <a:pPr marL="0" indent="0">
              <a:buNone/>
            </a:pPr>
            <a:r>
              <a:rPr lang="en-US" sz="2200" b="1" dirty="0">
                <a:solidFill>
                  <a:srgbClr val="0E0F30"/>
                </a:solidFill>
                <a:latin typeface="Calibri" pitchFamily="34" charset="0"/>
                <a:ea typeface="Calibri" pitchFamily="34" charset="-122"/>
                <a:cs typeface="Calibri" pitchFamily="34" charset="-120"/>
              </a:rPr>
              <a:t>JOINs — Combining Data from Multiple Tables</a:t>
            </a:r>
            <a:endParaRPr lang="en-US" sz="2200" dirty="0"/>
          </a:p>
        </p:txBody>
      </p:sp>
      <p:sp>
        <p:nvSpPr>
          <p:cNvPr id="8" name="Shape 6"/>
          <p:cNvSpPr/>
          <p:nvPr/>
        </p:nvSpPr>
        <p:spPr>
          <a:xfrm>
            <a:off x="274320" y="640080"/>
            <a:ext cx="1645920" cy="36576"/>
          </a:xfrm>
          <a:prstGeom prst="rect">
            <a:avLst/>
          </a:prstGeom>
          <a:solidFill>
            <a:srgbClr val="CD172D"/>
          </a:solidFill>
          <a:ln/>
        </p:spPr>
        <p:txBody>
          <a:bodyPr/>
          <a:lstStyle/>
          <a:p>
            <a:endParaRPr lang="en-PH"/>
          </a:p>
        </p:txBody>
      </p:sp>
      <p:sp>
        <p:nvSpPr>
          <p:cNvPr id="9" name="Text 7"/>
          <p:cNvSpPr/>
          <p:nvPr/>
        </p:nvSpPr>
        <p:spPr>
          <a:xfrm>
            <a:off x="274320" y="640080"/>
            <a:ext cx="82296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The most powerful feature of relational databases</a:t>
            </a:r>
            <a:endParaRPr lang="en-US" sz="1100" dirty="0"/>
          </a:p>
        </p:txBody>
      </p:sp>
      <p:sp>
        <p:nvSpPr>
          <p:cNvPr id="10" name="Text 8"/>
          <p:cNvSpPr/>
          <p:nvPr/>
        </p:nvSpPr>
        <p:spPr>
          <a:xfrm>
            <a:off x="274320" y="799045"/>
            <a:ext cx="8595360" cy="256032"/>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 JOIN lets you query data from two or more tables at once by linking them on a shared column — usually a foreign key.</a:t>
            </a:r>
            <a:endParaRPr lang="en-US" sz="1100" dirty="0"/>
          </a:p>
        </p:txBody>
      </p:sp>
      <p:sp>
        <p:nvSpPr>
          <p:cNvPr id="11" name="Shape 9"/>
          <p:cNvSpPr/>
          <p:nvPr/>
        </p:nvSpPr>
        <p:spPr>
          <a:xfrm>
            <a:off x="228600" y="1005840"/>
            <a:ext cx="4251960" cy="3429000"/>
          </a:xfrm>
          <a:prstGeom prst="rect">
            <a:avLst/>
          </a:prstGeom>
          <a:solidFill>
            <a:srgbClr val="0E0F30"/>
          </a:solidFill>
          <a:ln/>
        </p:spPr>
        <p:txBody>
          <a:bodyPr/>
          <a:lstStyle/>
          <a:p>
            <a:endParaRPr lang="en-PH"/>
          </a:p>
        </p:txBody>
      </p:sp>
      <p:sp>
        <p:nvSpPr>
          <p:cNvPr id="12" name="Shape 10"/>
          <p:cNvSpPr/>
          <p:nvPr/>
        </p:nvSpPr>
        <p:spPr>
          <a:xfrm>
            <a:off x="228600" y="1005840"/>
            <a:ext cx="4251960" cy="256032"/>
          </a:xfrm>
          <a:prstGeom prst="rect">
            <a:avLst/>
          </a:prstGeom>
          <a:solidFill>
            <a:srgbClr val="CD172D"/>
          </a:solidFill>
          <a:ln/>
        </p:spPr>
        <p:txBody>
          <a:bodyPr/>
          <a:lstStyle/>
          <a:p>
            <a:endParaRPr lang="en-PH"/>
          </a:p>
        </p:txBody>
      </p:sp>
      <p:sp>
        <p:nvSpPr>
          <p:cNvPr id="13" name="Shape 11"/>
          <p:cNvSpPr/>
          <p:nvPr/>
        </p:nvSpPr>
        <p:spPr>
          <a:xfrm>
            <a:off x="228600" y="1133856"/>
            <a:ext cx="4251960" cy="128016"/>
          </a:xfrm>
          <a:prstGeom prst="rect">
            <a:avLst/>
          </a:prstGeom>
          <a:solidFill>
            <a:srgbClr val="CD172D"/>
          </a:solidFill>
          <a:ln/>
        </p:spPr>
        <p:txBody>
          <a:bodyPr/>
          <a:lstStyle/>
          <a:p>
            <a:endParaRPr lang="en-PH"/>
          </a:p>
        </p:txBody>
      </p:sp>
      <p:sp>
        <p:nvSpPr>
          <p:cNvPr id="14" name="Text 12"/>
          <p:cNvSpPr/>
          <p:nvPr/>
        </p:nvSpPr>
        <p:spPr>
          <a:xfrm>
            <a:off x="338328" y="1024128"/>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INNER JOIN — only matching rows</a:t>
            </a:r>
            <a:endParaRPr lang="en-US" sz="900" dirty="0"/>
          </a:p>
        </p:txBody>
      </p:sp>
      <p:sp>
        <p:nvSpPr>
          <p:cNvPr id="15" name="Text 13"/>
          <p:cNvSpPr/>
          <p:nvPr/>
        </p:nvSpPr>
        <p:spPr>
          <a:xfrm>
            <a:off x="338328" y="1298448"/>
            <a:ext cx="4069080" cy="3063240"/>
          </a:xfrm>
          <a:prstGeom prst="rect">
            <a:avLst/>
          </a:prstGeom>
          <a:noFill/>
          <a:ln/>
        </p:spPr>
        <p:txBody>
          <a:bodyPr wrap="square" lIns="0" tIns="0" rIns="0" bIns="0" rtlCol="0" anchor="ctr"/>
          <a:lstStyle/>
          <a:p>
            <a:pPr marL="0" indent="0">
              <a:buNone/>
            </a:pPr>
            <a:r>
              <a:rPr lang="en-US" sz="800" dirty="0">
                <a:solidFill>
                  <a:srgbClr val="7DD3FC"/>
                </a:solidFill>
                <a:latin typeface="Consolas" pitchFamily="34" charset="0"/>
                <a:ea typeface="Consolas" pitchFamily="34" charset="-122"/>
                <a:cs typeface="Consolas" pitchFamily="34" charset="-120"/>
              </a:rPr>
              <a:t>-- INNER JOIN: returns rows where BOTH tables have a match</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Books without an author_id (NULL) are EXCLUDED</a:t>
            </a:r>
            <a:endParaRPr lang="en-US" sz="800" dirty="0"/>
          </a:p>
          <a:p>
            <a:pPr marL="0" indent="0">
              <a:buNone/>
            </a:pP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SELECT</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b.id,</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b.title,</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b.genre,</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b.year,</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a.full_name   AS author,</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a.nationality AS author_country</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FROM books AS b                       -- "b" is an alias for books</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INNER JOIN authors AS a               -- "a" is an alias for authors</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ON b.author_id = a.id             -- ← the JOIN condition</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WHERE b.available = TRUE</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ORDER BY b.year DESC;</a:t>
            </a:r>
            <a:endParaRPr lang="en-US" sz="800" dirty="0"/>
          </a:p>
          <a:p>
            <a:pPr marL="0" indent="0">
              <a:buNone/>
            </a:pP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Result:</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id | title       | genre      | year | author        | author_country</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4 | Sapiens     | History    | 2011 | Yuval Harari  | Israeli</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1 | Clean Code  | Programming| 2008 | Robert Martin | American</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3 | Dune        | Fiction    | 1965 | Frank Herbert | American</a:t>
            </a:r>
            <a:endParaRPr lang="en-US" sz="800" dirty="0"/>
          </a:p>
          <a:p>
            <a:pPr marL="0" indent="0">
              <a:buNone/>
            </a:pP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The key: b.author_id = a.id</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"match books.author_id with authors.id"</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This is exactly the foreign key relationship you defined in CREATE TABLE</a:t>
            </a:r>
            <a:endParaRPr lang="en-US" sz="800" dirty="0"/>
          </a:p>
        </p:txBody>
      </p:sp>
      <p:sp>
        <p:nvSpPr>
          <p:cNvPr id="16" name="Shape 14"/>
          <p:cNvSpPr/>
          <p:nvPr/>
        </p:nvSpPr>
        <p:spPr>
          <a:xfrm>
            <a:off x="4663440" y="1005840"/>
            <a:ext cx="4251960" cy="3429000"/>
          </a:xfrm>
          <a:prstGeom prst="rect">
            <a:avLst/>
          </a:prstGeom>
          <a:solidFill>
            <a:srgbClr val="0E0F30"/>
          </a:solidFill>
          <a:ln/>
        </p:spPr>
        <p:txBody>
          <a:bodyPr/>
          <a:lstStyle/>
          <a:p>
            <a:endParaRPr lang="en-PH"/>
          </a:p>
        </p:txBody>
      </p:sp>
      <p:sp>
        <p:nvSpPr>
          <p:cNvPr id="17" name="Shape 15"/>
          <p:cNvSpPr/>
          <p:nvPr/>
        </p:nvSpPr>
        <p:spPr>
          <a:xfrm>
            <a:off x="4663440" y="1005840"/>
            <a:ext cx="4251960" cy="256032"/>
          </a:xfrm>
          <a:prstGeom prst="rect">
            <a:avLst/>
          </a:prstGeom>
          <a:solidFill>
            <a:srgbClr val="CD172D"/>
          </a:solidFill>
          <a:ln/>
        </p:spPr>
        <p:txBody>
          <a:bodyPr/>
          <a:lstStyle/>
          <a:p>
            <a:endParaRPr lang="en-PH"/>
          </a:p>
        </p:txBody>
      </p:sp>
      <p:sp>
        <p:nvSpPr>
          <p:cNvPr id="18" name="Shape 16"/>
          <p:cNvSpPr/>
          <p:nvPr/>
        </p:nvSpPr>
        <p:spPr>
          <a:xfrm>
            <a:off x="4663440" y="1133856"/>
            <a:ext cx="4251960" cy="128016"/>
          </a:xfrm>
          <a:prstGeom prst="rect">
            <a:avLst/>
          </a:prstGeom>
          <a:solidFill>
            <a:srgbClr val="CD172D"/>
          </a:solidFill>
          <a:ln/>
        </p:spPr>
        <p:txBody>
          <a:bodyPr/>
          <a:lstStyle/>
          <a:p>
            <a:endParaRPr lang="en-PH"/>
          </a:p>
        </p:txBody>
      </p:sp>
      <p:sp>
        <p:nvSpPr>
          <p:cNvPr id="19" name="Text 17"/>
          <p:cNvSpPr/>
          <p:nvPr/>
        </p:nvSpPr>
        <p:spPr>
          <a:xfrm>
            <a:off x="4773168" y="1024128"/>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LEFT JOIN &amp; Multiple JOINs</a:t>
            </a:r>
            <a:endParaRPr lang="en-US" sz="900" dirty="0"/>
          </a:p>
        </p:txBody>
      </p:sp>
      <p:sp>
        <p:nvSpPr>
          <p:cNvPr id="20" name="Text 18"/>
          <p:cNvSpPr/>
          <p:nvPr/>
        </p:nvSpPr>
        <p:spPr>
          <a:xfrm>
            <a:off x="4773168" y="1298448"/>
            <a:ext cx="4069080" cy="3063240"/>
          </a:xfrm>
          <a:prstGeom prst="rect">
            <a:avLst/>
          </a:prstGeom>
          <a:noFill/>
          <a:ln/>
        </p:spPr>
        <p:txBody>
          <a:bodyPr wrap="square" lIns="0" tIns="0" rIns="0" bIns="0" rtlCol="0" anchor="ctr"/>
          <a:lstStyle/>
          <a:p>
            <a:pPr marL="0" indent="0">
              <a:buNone/>
            </a:pPr>
            <a:r>
              <a:rPr lang="en-US" sz="700" dirty="0">
                <a:solidFill>
                  <a:srgbClr val="7DD3FC"/>
                </a:solidFill>
                <a:latin typeface="Consolas" pitchFamily="34" charset="0"/>
                <a:ea typeface="Consolas" pitchFamily="34" charset="-122"/>
                <a:cs typeface="Consolas" pitchFamily="34" charset="-120"/>
              </a:rPr>
              <a:t>-- LEFT JOIN: ALL rows from the left table,</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matched rows from right (NULL if no match)</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Use when: you want books even if they have no author</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b.title,</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a.full_name AS author</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FROM books AS b</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LEFT JOIN authors AS a ON b.author_id = a.id;</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A book with no author gets: author = NULL</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INNER JOIN would exclude that book entirely</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JOIN three tables at once</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b.title,</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a.full_name  AS author,</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l.member_name,</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l.loaned_at</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FROM loans AS l</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INNER JOIN books   AS b ON l.book_id   = b.id</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INNER JOIN authors AS a ON b.author_id = a.id</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WHERE l.returned_at IS NULL  -- currently borrowed</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ORDER BY l.loaned_at DESC;</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Result: all active loans with book title and author name</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Notice: you can chain as many JOINs as needed</a:t>
            </a:r>
            <a:endParaRPr lang="en-US" sz="700" dirty="0"/>
          </a:p>
        </p:txBody>
      </p:sp>
      <p:sp>
        <p:nvSpPr>
          <p:cNvPr id="21" name="Shape 19"/>
          <p:cNvSpPr/>
          <p:nvPr/>
        </p:nvSpPr>
        <p:spPr>
          <a:xfrm>
            <a:off x="228600" y="4526280"/>
            <a:ext cx="4251960" cy="228600"/>
          </a:xfrm>
          <a:prstGeom prst="rect">
            <a:avLst/>
          </a:prstGeom>
          <a:solidFill>
            <a:srgbClr val="0E0F30"/>
          </a:solidFill>
          <a:ln/>
        </p:spPr>
        <p:txBody>
          <a:bodyPr/>
          <a:lstStyle/>
          <a:p>
            <a:endParaRPr lang="en-PH"/>
          </a:p>
        </p:txBody>
      </p:sp>
      <p:sp>
        <p:nvSpPr>
          <p:cNvPr id="22" name="Text 20"/>
          <p:cNvSpPr/>
          <p:nvPr/>
        </p:nvSpPr>
        <p:spPr>
          <a:xfrm>
            <a:off x="347472" y="4544568"/>
            <a:ext cx="4114800" cy="16459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INNER JOIN = intersection (only matching rows on both sides)</a:t>
            </a:r>
            <a:endParaRPr lang="en-US" sz="900" dirty="0"/>
          </a:p>
        </p:txBody>
      </p:sp>
      <p:sp>
        <p:nvSpPr>
          <p:cNvPr id="23" name="Shape 21"/>
          <p:cNvSpPr/>
          <p:nvPr/>
        </p:nvSpPr>
        <p:spPr>
          <a:xfrm>
            <a:off x="4663440" y="4526280"/>
            <a:ext cx="4251960" cy="228600"/>
          </a:xfrm>
          <a:prstGeom prst="rect">
            <a:avLst/>
          </a:prstGeom>
          <a:solidFill>
            <a:srgbClr val="2D7D32"/>
          </a:solidFill>
          <a:ln/>
        </p:spPr>
        <p:txBody>
          <a:bodyPr/>
          <a:lstStyle/>
          <a:p>
            <a:endParaRPr lang="en-PH"/>
          </a:p>
        </p:txBody>
      </p:sp>
      <p:sp>
        <p:nvSpPr>
          <p:cNvPr id="24" name="Text 22"/>
          <p:cNvSpPr/>
          <p:nvPr/>
        </p:nvSpPr>
        <p:spPr>
          <a:xfrm>
            <a:off x="4782312" y="4544568"/>
            <a:ext cx="4114800" cy="16459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LEFT JOIN = all from left + matching from right (NULLs on right if no match)</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12</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Text 5"/>
          <p:cNvSpPr/>
          <p:nvPr/>
        </p:nvSpPr>
        <p:spPr>
          <a:xfrm>
            <a:off x="274320" y="164592"/>
            <a:ext cx="7772400" cy="457200"/>
          </a:xfrm>
          <a:prstGeom prst="rect">
            <a:avLst/>
          </a:prstGeom>
          <a:noFill/>
          <a:ln/>
        </p:spPr>
        <p:txBody>
          <a:bodyPr wrap="square" lIns="0" tIns="0" rIns="0" bIns="0" rtlCol="0" anchor="ctr"/>
          <a:lstStyle/>
          <a:p>
            <a:pPr marL="0" indent="0">
              <a:buNone/>
            </a:pPr>
            <a:r>
              <a:rPr lang="en-US" sz="2200" b="1" dirty="0">
                <a:solidFill>
                  <a:srgbClr val="0E0F30"/>
                </a:solidFill>
                <a:latin typeface="Calibri" pitchFamily="34" charset="0"/>
                <a:ea typeface="Calibri" pitchFamily="34" charset="-122"/>
                <a:cs typeface="Calibri" pitchFamily="34" charset="-120"/>
              </a:rPr>
              <a:t>Aggregate Functions &amp; GROUP BY</a:t>
            </a:r>
            <a:endParaRPr lang="en-US" sz="2200" dirty="0"/>
          </a:p>
        </p:txBody>
      </p:sp>
      <p:sp>
        <p:nvSpPr>
          <p:cNvPr id="8" name="Shape 6"/>
          <p:cNvSpPr/>
          <p:nvPr/>
        </p:nvSpPr>
        <p:spPr>
          <a:xfrm>
            <a:off x="274320" y="640080"/>
            <a:ext cx="1645920" cy="36576"/>
          </a:xfrm>
          <a:prstGeom prst="rect">
            <a:avLst/>
          </a:prstGeom>
          <a:solidFill>
            <a:srgbClr val="CD172D"/>
          </a:solidFill>
          <a:ln/>
        </p:spPr>
        <p:txBody>
          <a:bodyPr/>
          <a:lstStyle/>
          <a:p>
            <a:endParaRPr lang="en-PH"/>
          </a:p>
        </p:txBody>
      </p:sp>
      <p:sp>
        <p:nvSpPr>
          <p:cNvPr id="9" name="Text 7"/>
          <p:cNvSpPr/>
          <p:nvPr/>
        </p:nvSpPr>
        <p:spPr>
          <a:xfrm>
            <a:off x="274320" y="694944"/>
            <a:ext cx="82296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Summarising and grouping data — like LINQ's .Count(), .Average(), .GroupBy()</a:t>
            </a:r>
            <a:endParaRPr lang="en-US" sz="1100" dirty="0"/>
          </a:p>
        </p:txBody>
      </p:sp>
      <p:sp>
        <p:nvSpPr>
          <p:cNvPr id="10" name="Shape 8"/>
          <p:cNvSpPr/>
          <p:nvPr/>
        </p:nvSpPr>
        <p:spPr>
          <a:xfrm>
            <a:off x="228600" y="987552"/>
            <a:ext cx="4251960" cy="3749040"/>
          </a:xfrm>
          <a:prstGeom prst="rect">
            <a:avLst/>
          </a:prstGeom>
          <a:solidFill>
            <a:srgbClr val="0E0F30"/>
          </a:solidFill>
          <a:ln/>
        </p:spPr>
        <p:txBody>
          <a:bodyPr/>
          <a:lstStyle/>
          <a:p>
            <a:endParaRPr lang="en-PH"/>
          </a:p>
        </p:txBody>
      </p:sp>
      <p:sp>
        <p:nvSpPr>
          <p:cNvPr id="11" name="Shape 9"/>
          <p:cNvSpPr/>
          <p:nvPr/>
        </p:nvSpPr>
        <p:spPr>
          <a:xfrm>
            <a:off x="228600" y="987552"/>
            <a:ext cx="4251960" cy="256032"/>
          </a:xfrm>
          <a:prstGeom prst="rect">
            <a:avLst/>
          </a:prstGeom>
          <a:solidFill>
            <a:srgbClr val="CD172D"/>
          </a:solidFill>
          <a:ln/>
        </p:spPr>
        <p:txBody>
          <a:bodyPr/>
          <a:lstStyle/>
          <a:p>
            <a:endParaRPr lang="en-PH"/>
          </a:p>
        </p:txBody>
      </p:sp>
      <p:sp>
        <p:nvSpPr>
          <p:cNvPr id="12" name="Shape 10"/>
          <p:cNvSpPr/>
          <p:nvPr/>
        </p:nvSpPr>
        <p:spPr>
          <a:xfrm>
            <a:off x="228600" y="1115568"/>
            <a:ext cx="4251960" cy="128016"/>
          </a:xfrm>
          <a:prstGeom prst="rect">
            <a:avLst/>
          </a:prstGeom>
          <a:solidFill>
            <a:srgbClr val="CD172D"/>
          </a:solidFill>
          <a:ln/>
        </p:spPr>
        <p:txBody>
          <a:bodyPr/>
          <a:lstStyle/>
          <a:p>
            <a:endParaRPr lang="en-PH"/>
          </a:p>
        </p:txBody>
      </p:sp>
      <p:sp>
        <p:nvSpPr>
          <p:cNvPr id="13" name="Text 11"/>
          <p:cNvSpPr/>
          <p:nvPr/>
        </p:nvSpPr>
        <p:spPr>
          <a:xfrm>
            <a:off x="338328" y="1005840"/>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Aggregate Functions</a:t>
            </a:r>
            <a:endParaRPr lang="en-US" sz="900" dirty="0"/>
          </a:p>
        </p:txBody>
      </p:sp>
      <p:sp>
        <p:nvSpPr>
          <p:cNvPr id="14" name="Text 12"/>
          <p:cNvSpPr/>
          <p:nvPr/>
        </p:nvSpPr>
        <p:spPr>
          <a:xfrm>
            <a:off x="338328" y="1280160"/>
            <a:ext cx="4069080" cy="3383280"/>
          </a:xfrm>
          <a:prstGeom prst="rect">
            <a:avLst/>
          </a:prstGeom>
          <a:noFill/>
          <a:ln/>
        </p:spPr>
        <p:txBody>
          <a:bodyPr wrap="square" lIns="0" tIns="0" rIns="0" bIns="0" rtlCol="0" anchor="ctr"/>
          <a:lstStyle/>
          <a:p>
            <a:pPr marL="0" indent="0">
              <a:buNone/>
            </a:pPr>
            <a:r>
              <a:rPr lang="en-US" sz="700" dirty="0">
                <a:solidFill>
                  <a:srgbClr val="7DD3FC"/>
                </a:solidFill>
                <a:latin typeface="Consolas" pitchFamily="34" charset="0"/>
                <a:ea typeface="Consolas" pitchFamily="34" charset="-122"/>
                <a:cs typeface="Consolas" pitchFamily="34" charset="-120"/>
              </a:rPr>
              <a:t>-- COUNT — how many rows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 COUNT(*)          FROM books;              -- all rows: 5</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 COUNT(*)          FROM books WHERE available = TRUE;   -- 3</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 COUNT(author_id)  FROM books;              -- non-NULL author_ids only</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SUM, AVG, MIN, MAX</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COUNT(*)             AS total_books,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SUM(year)            AS sum_of_years,  -- not useful here, but valid</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ROUND(AVG(year), 0)  AS average_year,</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MIN(year)            AS oldest_year,</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MAX(year)            AS newest_year</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FROM books;</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Result:</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total_books | average_year | oldest_year | newest_year</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5 |         2000 |        1965 |        2019</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Aggregate on joined data</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a.full_name,</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COUNT(b.id)              AS books_written,</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MIN(b.year)              AS first_book,</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MAX(b.year)              AS latest_book</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FROM authors AS a</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LEFT JOIN books AS b ON b.author_id = a.id</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GROUP BY a.id, a.full_name</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ORDER BY books_written DESC;</a:t>
            </a:r>
            <a:endParaRPr lang="en-US" sz="700" dirty="0"/>
          </a:p>
        </p:txBody>
      </p:sp>
      <p:sp>
        <p:nvSpPr>
          <p:cNvPr id="15" name="Shape 13"/>
          <p:cNvSpPr/>
          <p:nvPr/>
        </p:nvSpPr>
        <p:spPr>
          <a:xfrm>
            <a:off x="4663440" y="987552"/>
            <a:ext cx="4251960" cy="3749040"/>
          </a:xfrm>
          <a:prstGeom prst="rect">
            <a:avLst/>
          </a:prstGeom>
          <a:solidFill>
            <a:srgbClr val="0E0F30"/>
          </a:solidFill>
          <a:ln/>
        </p:spPr>
        <p:txBody>
          <a:bodyPr/>
          <a:lstStyle/>
          <a:p>
            <a:endParaRPr lang="en-PH"/>
          </a:p>
        </p:txBody>
      </p:sp>
      <p:sp>
        <p:nvSpPr>
          <p:cNvPr id="16" name="Shape 14"/>
          <p:cNvSpPr/>
          <p:nvPr/>
        </p:nvSpPr>
        <p:spPr>
          <a:xfrm>
            <a:off x="4663440" y="987552"/>
            <a:ext cx="4251960" cy="256032"/>
          </a:xfrm>
          <a:prstGeom prst="rect">
            <a:avLst/>
          </a:prstGeom>
          <a:solidFill>
            <a:srgbClr val="CD172D"/>
          </a:solidFill>
          <a:ln/>
        </p:spPr>
        <p:txBody>
          <a:bodyPr/>
          <a:lstStyle/>
          <a:p>
            <a:endParaRPr lang="en-PH"/>
          </a:p>
        </p:txBody>
      </p:sp>
      <p:sp>
        <p:nvSpPr>
          <p:cNvPr id="17" name="Shape 15"/>
          <p:cNvSpPr/>
          <p:nvPr/>
        </p:nvSpPr>
        <p:spPr>
          <a:xfrm>
            <a:off x="4663440" y="1115568"/>
            <a:ext cx="4251960" cy="128016"/>
          </a:xfrm>
          <a:prstGeom prst="rect">
            <a:avLst/>
          </a:prstGeom>
          <a:solidFill>
            <a:srgbClr val="CD172D"/>
          </a:solidFill>
          <a:ln/>
        </p:spPr>
        <p:txBody>
          <a:bodyPr/>
          <a:lstStyle/>
          <a:p>
            <a:endParaRPr lang="en-PH"/>
          </a:p>
        </p:txBody>
      </p:sp>
      <p:sp>
        <p:nvSpPr>
          <p:cNvPr id="18" name="Text 16"/>
          <p:cNvSpPr/>
          <p:nvPr/>
        </p:nvSpPr>
        <p:spPr>
          <a:xfrm>
            <a:off x="4773168" y="1005840"/>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GROUP BY &amp; HAVING</a:t>
            </a:r>
            <a:endParaRPr lang="en-US" sz="900" dirty="0"/>
          </a:p>
        </p:txBody>
      </p:sp>
      <p:sp>
        <p:nvSpPr>
          <p:cNvPr id="19" name="Text 17"/>
          <p:cNvSpPr/>
          <p:nvPr/>
        </p:nvSpPr>
        <p:spPr>
          <a:xfrm>
            <a:off x="4773168" y="1243584"/>
            <a:ext cx="4069080" cy="3383280"/>
          </a:xfrm>
          <a:prstGeom prst="rect">
            <a:avLst/>
          </a:prstGeom>
          <a:noFill/>
          <a:ln/>
        </p:spPr>
        <p:txBody>
          <a:bodyPr wrap="square" lIns="0" tIns="0" rIns="0" bIns="0" rtlCol="0" anchor="ctr"/>
          <a:lstStyle/>
          <a:p>
            <a:pPr marL="0" indent="0">
              <a:buNone/>
            </a:pPr>
            <a:r>
              <a:rPr lang="en-US" sz="550" dirty="0">
                <a:solidFill>
                  <a:srgbClr val="7DD3FC"/>
                </a:solidFill>
                <a:latin typeface="Consolas" pitchFamily="34" charset="0"/>
                <a:ea typeface="Consolas" pitchFamily="34" charset="-122"/>
                <a:cs typeface="Consolas" pitchFamily="34" charset="-120"/>
              </a:rPr>
              <a:t>-- GROUP BY — group rows with the same value</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then apply aggregate per group</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Count books per genre</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SELECT</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genre,</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COUNT(*) AS total</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FROM books</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GROUP BY genre</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ORDER BY total DESC;</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Result:</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genre        | total</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Programming  |     3</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Fiction      |     1</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History      |     1</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HAVING — filter GROUPS (like WHERE but for aggregates)</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WHERE filters rows BEFORE grouping</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HAVING filters groups AFTER grouping</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SELECT</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genre,</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COUNT(*) AS total</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FROM books</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GROUP BY genre</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HAVING COUNT(*) &gt; 1;  -- only genres with more than 1 book</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Result: just Programming (3 books)</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Combined: WHERE + GROUP BY + HAVING</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SELECT</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genre,</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COUNT(*)   AS total,</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AVG(year)  AS avg_year</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FROM books</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WHERE available = TRUE         -- filter rows first</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GROUP BY genre                 -- then group</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HAVING COUNT(*) &gt;= 1           -- then filter groups</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ORDER BY total DESC;</a:t>
            </a:r>
            <a:endParaRPr lang="en-US" sz="550" dirty="0"/>
          </a:p>
        </p:txBody>
      </p:sp>
      <p:sp>
        <p:nvSpPr>
          <p:cNvPr id="20" name="Shape 18"/>
          <p:cNvSpPr/>
          <p:nvPr/>
        </p:nvSpPr>
        <p:spPr>
          <a:xfrm>
            <a:off x="228600" y="4572000"/>
            <a:ext cx="8686800" cy="237744"/>
          </a:xfrm>
          <a:prstGeom prst="rect">
            <a:avLst/>
          </a:prstGeom>
          <a:solidFill>
            <a:srgbClr val="CD172D"/>
          </a:solidFill>
          <a:ln/>
        </p:spPr>
        <p:txBody>
          <a:bodyPr/>
          <a:lstStyle/>
          <a:p>
            <a:endParaRPr lang="en-PH"/>
          </a:p>
        </p:txBody>
      </p:sp>
      <p:sp>
        <p:nvSpPr>
          <p:cNvPr id="21" name="Text 19"/>
          <p:cNvSpPr/>
          <p:nvPr/>
        </p:nvSpPr>
        <p:spPr>
          <a:xfrm>
            <a:off x="347472" y="4590288"/>
            <a:ext cx="841248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Rule: WHERE filters individual rows. HAVING filters the result of GROUP BY. You cannot use aggregate functions (COUNT, SUM) inside WHERE — use HAVING instead.</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13</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Text 5"/>
          <p:cNvSpPr/>
          <p:nvPr/>
        </p:nvSpPr>
        <p:spPr>
          <a:xfrm>
            <a:off x="274320" y="164592"/>
            <a:ext cx="7772400" cy="457200"/>
          </a:xfrm>
          <a:prstGeom prst="rect">
            <a:avLst/>
          </a:prstGeom>
          <a:noFill/>
          <a:ln/>
        </p:spPr>
        <p:txBody>
          <a:bodyPr wrap="square" lIns="0" tIns="0" rIns="0" bIns="0" rtlCol="0" anchor="ctr"/>
          <a:lstStyle/>
          <a:p>
            <a:pPr marL="0" indent="0">
              <a:buNone/>
            </a:pPr>
            <a:r>
              <a:rPr lang="en-US" sz="2200" b="1" dirty="0">
                <a:solidFill>
                  <a:srgbClr val="0E0F30"/>
                </a:solidFill>
                <a:latin typeface="Calibri" pitchFamily="34" charset="0"/>
                <a:ea typeface="Calibri" pitchFamily="34" charset="-122"/>
                <a:cs typeface="Calibri" pitchFamily="34" charset="-120"/>
              </a:rPr>
              <a:t>Constraints &amp; Indexes</a:t>
            </a:r>
            <a:endParaRPr lang="en-US" sz="2200" dirty="0"/>
          </a:p>
        </p:txBody>
      </p:sp>
      <p:sp>
        <p:nvSpPr>
          <p:cNvPr id="8" name="Shape 6"/>
          <p:cNvSpPr/>
          <p:nvPr/>
        </p:nvSpPr>
        <p:spPr>
          <a:xfrm>
            <a:off x="274320" y="640080"/>
            <a:ext cx="1645920" cy="36576"/>
          </a:xfrm>
          <a:prstGeom prst="rect">
            <a:avLst/>
          </a:prstGeom>
          <a:solidFill>
            <a:srgbClr val="CD172D"/>
          </a:solidFill>
          <a:ln/>
        </p:spPr>
        <p:txBody>
          <a:bodyPr/>
          <a:lstStyle/>
          <a:p>
            <a:endParaRPr lang="en-PH"/>
          </a:p>
        </p:txBody>
      </p:sp>
      <p:sp>
        <p:nvSpPr>
          <p:cNvPr id="9" name="Text 7"/>
          <p:cNvSpPr/>
          <p:nvPr/>
        </p:nvSpPr>
        <p:spPr>
          <a:xfrm>
            <a:off x="274320" y="694944"/>
            <a:ext cx="82296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Data integrity rules and query performance</a:t>
            </a:r>
            <a:endParaRPr lang="en-US" sz="1100" dirty="0"/>
          </a:p>
        </p:txBody>
      </p:sp>
      <p:sp>
        <p:nvSpPr>
          <p:cNvPr id="10" name="Shape 8"/>
          <p:cNvSpPr/>
          <p:nvPr/>
        </p:nvSpPr>
        <p:spPr>
          <a:xfrm>
            <a:off x="228600" y="987552"/>
            <a:ext cx="4251960" cy="2834640"/>
          </a:xfrm>
          <a:prstGeom prst="rect">
            <a:avLst/>
          </a:prstGeom>
          <a:solidFill>
            <a:srgbClr val="0E0F30"/>
          </a:solidFill>
          <a:ln/>
        </p:spPr>
        <p:txBody>
          <a:bodyPr/>
          <a:lstStyle/>
          <a:p>
            <a:endParaRPr lang="en-PH"/>
          </a:p>
        </p:txBody>
      </p:sp>
      <p:sp>
        <p:nvSpPr>
          <p:cNvPr id="11" name="Shape 9"/>
          <p:cNvSpPr/>
          <p:nvPr/>
        </p:nvSpPr>
        <p:spPr>
          <a:xfrm>
            <a:off x="228600" y="987552"/>
            <a:ext cx="4251960" cy="256032"/>
          </a:xfrm>
          <a:prstGeom prst="rect">
            <a:avLst/>
          </a:prstGeom>
          <a:solidFill>
            <a:srgbClr val="CD172D"/>
          </a:solidFill>
          <a:ln/>
        </p:spPr>
        <p:txBody>
          <a:bodyPr/>
          <a:lstStyle/>
          <a:p>
            <a:endParaRPr lang="en-PH"/>
          </a:p>
        </p:txBody>
      </p:sp>
      <p:sp>
        <p:nvSpPr>
          <p:cNvPr id="12" name="Shape 10"/>
          <p:cNvSpPr/>
          <p:nvPr/>
        </p:nvSpPr>
        <p:spPr>
          <a:xfrm>
            <a:off x="228600" y="1115568"/>
            <a:ext cx="4251960" cy="128016"/>
          </a:xfrm>
          <a:prstGeom prst="rect">
            <a:avLst/>
          </a:prstGeom>
          <a:solidFill>
            <a:srgbClr val="CD172D"/>
          </a:solidFill>
          <a:ln/>
        </p:spPr>
        <p:txBody>
          <a:bodyPr/>
          <a:lstStyle/>
          <a:p>
            <a:endParaRPr lang="en-PH"/>
          </a:p>
        </p:txBody>
      </p:sp>
      <p:sp>
        <p:nvSpPr>
          <p:cNvPr id="13" name="Text 11"/>
          <p:cNvSpPr/>
          <p:nvPr/>
        </p:nvSpPr>
        <p:spPr>
          <a:xfrm>
            <a:off x="338328" y="1005840"/>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Constraints in Detail</a:t>
            </a:r>
            <a:endParaRPr lang="en-US" sz="900" dirty="0"/>
          </a:p>
        </p:txBody>
      </p:sp>
      <p:sp>
        <p:nvSpPr>
          <p:cNvPr id="14" name="Text 12"/>
          <p:cNvSpPr/>
          <p:nvPr/>
        </p:nvSpPr>
        <p:spPr>
          <a:xfrm>
            <a:off x="338328" y="1259762"/>
            <a:ext cx="4069080" cy="2468880"/>
          </a:xfrm>
          <a:prstGeom prst="rect">
            <a:avLst/>
          </a:prstGeom>
          <a:noFill/>
          <a:ln/>
        </p:spPr>
        <p:txBody>
          <a:bodyPr wrap="square" lIns="0" tIns="0" rIns="0" bIns="0" rtlCol="0" anchor="ctr"/>
          <a:lstStyle/>
          <a:p>
            <a:pPr marL="0" indent="0">
              <a:buNone/>
            </a:pPr>
            <a:r>
              <a:rPr lang="en-US" sz="550" dirty="0">
                <a:solidFill>
                  <a:srgbClr val="7DD3FC"/>
                </a:solidFill>
                <a:latin typeface="Consolas" pitchFamily="34" charset="0"/>
                <a:ea typeface="Consolas" pitchFamily="34" charset="-122"/>
                <a:cs typeface="Consolas" pitchFamily="34" charset="-120"/>
              </a:rPr>
              <a:t>-- PRIMARY KEY (unique + not null, auto-indexed)</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id SERIAL PRIMARY KEY,</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NOT NULL</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title VARCHAR(255) NOT NULL,</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UNIQUE — no duplicates in this column</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email VARCHAR(255) UNIQUE,</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CHECK — custom validation rule (like [Range] in C#)</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year INT CHECK (year &gt;= 1000 AND year &lt;= 2030),</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gpa  NUMERIC CHECK (gpa &gt;= 0.0 AND gpa &lt;= 4.0),</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FOREIGN KEY — two ways to write it:</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Inline:</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author_id INT REFERENCES authors(id),</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Or as a named table constraint (better for complex FKs):</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CONSTRAINT fk_books_author</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FOREIGN KEY (author_id)</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REFERENCES authors(id)</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ON DELETE SET NULL,</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Add a UNIQUE constraint to an existing table:</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ALTER TABLE books</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ADD CONSTRAINT uq_books_isbn UNIQUE (isbn);</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Add a CHECK to an existing table:</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ALTER TABLE books</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ADD CONSTRAINT chk_year CHECK (year &gt;= 1000);</a:t>
            </a:r>
            <a:endParaRPr lang="en-US" sz="550" dirty="0"/>
          </a:p>
        </p:txBody>
      </p:sp>
      <p:sp>
        <p:nvSpPr>
          <p:cNvPr id="15" name="Shape 13"/>
          <p:cNvSpPr/>
          <p:nvPr/>
        </p:nvSpPr>
        <p:spPr>
          <a:xfrm>
            <a:off x="4663440" y="987552"/>
            <a:ext cx="4251960" cy="2834640"/>
          </a:xfrm>
          <a:prstGeom prst="rect">
            <a:avLst/>
          </a:prstGeom>
          <a:solidFill>
            <a:srgbClr val="0E0F30"/>
          </a:solidFill>
          <a:ln/>
        </p:spPr>
        <p:txBody>
          <a:bodyPr/>
          <a:lstStyle/>
          <a:p>
            <a:endParaRPr lang="en-PH"/>
          </a:p>
        </p:txBody>
      </p:sp>
      <p:sp>
        <p:nvSpPr>
          <p:cNvPr id="16" name="Shape 14"/>
          <p:cNvSpPr/>
          <p:nvPr/>
        </p:nvSpPr>
        <p:spPr>
          <a:xfrm>
            <a:off x="4663440" y="987552"/>
            <a:ext cx="4251960" cy="256032"/>
          </a:xfrm>
          <a:prstGeom prst="rect">
            <a:avLst/>
          </a:prstGeom>
          <a:solidFill>
            <a:srgbClr val="CD172D"/>
          </a:solidFill>
          <a:ln/>
        </p:spPr>
        <p:txBody>
          <a:bodyPr/>
          <a:lstStyle/>
          <a:p>
            <a:endParaRPr lang="en-PH"/>
          </a:p>
        </p:txBody>
      </p:sp>
      <p:sp>
        <p:nvSpPr>
          <p:cNvPr id="17" name="Shape 15"/>
          <p:cNvSpPr/>
          <p:nvPr/>
        </p:nvSpPr>
        <p:spPr>
          <a:xfrm>
            <a:off x="4663440" y="1115568"/>
            <a:ext cx="4251960" cy="128016"/>
          </a:xfrm>
          <a:prstGeom prst="rect">
            <a:avLst/>
          </a:prstGeom>
          <a:solidFill>
            <a:srgbClr val="CD172D"/>
          </a:solidFill>
          <a:ln/>
        </p:spPr>
        <p:txBody>
          <a:bodyPr/>
          <a:lstStyle/>
          <a:p>
            <a:endParaRPr lang="en-PH"/>
          </a:p>
        </p:txBody>
      </p:sp>
      <p:sp>
        <p:nvSpPr>
          <p:cNvPr id="18" name="Text 16"/>
          <p:cNvSpPr/>
          <p:nvPr/>
        </p:nvSpPr>
        <p:spPr>
          <a:xfrm>
            <a:off x="4773168" y="1005840"/>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Indexes — Query Performance</a:t>
            </a:r>
            <a:endParaRPr lang="en-US" sz="900" dirty="0"/>
          </a:p>
        </p:txBody>
      </p:sp>
      <p:sp>
        <p:nvSpPr>
          <p:cNvPr id="19" name="Text 17"/>
          <p:cNvSpPr/>
          <p:nvPr/>
        </p:nvSpPr>
        <p:spPr>
          <a:xfrm>
            <a:off x="4773168" y="1280160"/>
            <a:ext cx="4069080" cy="2468880"/>
          </a:xfrm>
          <a:prstGeom prst="rect">
            <a:avLst/>
          </a:prstGeom>
          <a:noFill/>
          <a:ln/>
        </p:spPr>
        <p:txBody>
          <a:bodyPr wrap="square" lIns="0" tIns="0" rIns="0" bIns="0" rtlCol="0" anchor="ctr"/>
          <a:lstStyle/>
          <a:p>
            <a:pPr marL="0" indent="0">
              <a:buNone/>
            </a:pPr>
            <a:r>
              <a:rPr lang="en-US" sz="550" dirty="0">
                <a:solidFill>
                  <a:srgbClr val="7DD3FC"/>
                </a:solidFill>
                <a:latin typeface="Consolas" pitchFamily="34" charset="0"/>
                <a:ea typeface="Consolas" pitchFamily="34" charset="-122"/>
                <a:cs typeface="Consolas" pitchFamily="34" charset="-120"/>
              </a:rPr>
              <a:t>-- Without an index: PostgreSQL scans every row (slow)</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With an index: PostgreSQL jumps directly (fast)</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B-tree index (default) — for =, &lt;, &gt;, BETWEEN, ORDER BY</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CREATE INDEX idx_books_genre</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ON books (genre);</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CREATE INDEX idx_books_author_id</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ON books (author_id);   -- always index foreign keys!</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Unique index — enforces uniqueness AND improves speed</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CREATE UNIQUE INDEX idx_books_isbn</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ON books (isbn);</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Partial index — only index a subset of rows</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CREATE INDEX idx_available_books</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ON books (title)</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WHERE available = TRUE;</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 Only indexes available books — smaller, faster</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See all indexes on a table (in psql):</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\d books</a:t>
            </a:r>
            <a:endParaRPr lang="en-US" sz="550" dirty="0"/>
          </a:p>
          <a:p>
            <a:pPr marL="0" indent="0">
              <a:buNone/>
            </a:pP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When to add an index:</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 Columns used in WHERE frequently</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 Foreign key columns (always!)</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 Columns used in ORDER BY</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 NOT on columns that change very frequently</a:t>
            </a:r>
            <a:endParaRPr lang="en-US" sz="550" dirty="0"/>
          </a:p>
          <a:p>
            <a:pPr marL="0" indent="0">
              <a:buNone/>
            </a:pPr>
            <a:r>
              <a:rPr lang="en-US" sz="550" dirty="0">
                <a:solidFill>
                  <a:srgbClr val="7DD3FC"/>
                </a:solidFill>
                <a:latin typeface="Consolas" pitchFamily="34" charset="0"/>
                <a:ea typeface="Consolas" pitchFamily="34" charset="-122"/>
                <a:cs typeface="Consolas" pitchFamily="34" charset="-120"/>
              </a:rPr>
              <a:t>-- ✗ NOT on small tables (full scan may be faster)</a:t>
            </a:r>
            <a:endParaRPr lang="en-US" sz="550" dirty="0"/>
          </a:p>
        </p:txBody>
      </p:sp>
      <p:sp>
        <p:nvSpPr>
          <p:cNvPr id="20" name="Shape 18"/>
          <p:cNvSpPr/>
          <p:nvPr/>
        </p:nvSpPr>
        <p:spPr>
          <a:xfrm>
            <a:off x="228600" y="3904488"/>
            <a:ext cx="8686800" cy="896112"/>
          </a:xfrm>
          <a:prstGeom prst="rect">
            <a:avLst/>
          </a:prstGeom>
          <a:solidFill>
            <a:srgbClr val="0E0F30"/>
          </a:solidFill>
          <a:ln/>
        </p:spPr>
        <p:txBody>
          <a:bodyPr/>
          <a:lstStyle/>
          <a:p>
            <a:endParaRPr lang="en-PH"/>
          </a:p>
        </p:txBody>
      </p:sp>
      <p:sp>
        <p:nvSpPr>
          <p:cNvPr id="21" name="Shape 19"/>
          <p:cNvSpPr/>
          <p:nvPr/>
        </p:nvSpPr>
        <p:spPr>
          <a:xfrm>
            <a:off x="228600" y="3904488"/>
            <a:ext cx="8686800" cy="256032"/>
          </a:xfrm>
          <a:prstGeom prst="rect">
            <a:avLst/>
          </a:prstGeom>
          <a:solidFill>
            <a:srgbClr val="CD172D"/>
          </a:solidFill>
          <a:ln/>
        </p:spPr>
        <p:txBody>
          <a:bodyPr/>
          <a:lstStyle/>
          <a:p>
            <a:endParaRPr lang="en-PH"/>
          </a:p>
        </p:txBody>
      </p:sp>
      <p:sp>
        <p:nvSpPr>
          <p:cNvPr id="22" name="Shape 20"/>
          <p:cNvSpPr/>
          <p:nvPr/>
        </p:nvSpPr>
        <p:spPr>
          <a:xfrm>
            <a:off x="228600" y="4032504"/>
            <a:ext cx="8686800" cy="128016"/>
          </a:xfrm>
          <a:prstGeom prst="rect">
            <a:avLst/>
          </a:prstGeom>
          <a:solidFill>
            <a:srgbClr val="CD172D"/>
          </a:solidFill>
          <a:ln/>
        </p:spPr>
        <p:txBody>
          <a:bodyPr/>
          <a:lstStyle/>
          <a:p>
            <a:endParaRPr lang="en-PH"/>
          </a:p>
        </p:txBody>
      </p:sp>
      <p:sp>
        <p:nvSpPr>
          <p:cNvPr id="23" name="Text 21"/>
          <p:cNvSpPr/>
          <p:nvPr/>
        </p:nvSpPr>
        <p:spPr>
          <a:xfrm>
            <a:off x="338328" y="3922776"/>
            <a:ext cx="854964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ON DELETE Behavior — What Happens When a Referenced Row is Deleted</a:t>
            </a:r>
            <a:endParaRPr lang="en-US" sz="900" dirty="0"/>
          </a:p>
        </p:txBody>
      </p:sp>
      <p:sp>
        <p:nvSpPr>
          <p:cNvPr id="24" name="Text 22"/>
          <p:cNvSpPr/>
          <p:nvPr/>
        </p:nvSpPr>
        <p:spPr>
          <a:xfrm>
            <a:off x="338328" y="4197096"/>
            <a:ext cx="8503920" cy="530352"/>
          </a:xfrm>
          <a:prstGeom prst="rect">
            <a:avLst/>
          </a:prstGeom>
          <a:noFill/>
          <a:ln/>
        </p:spPr>
        <p:txBody>
          <a:bodyPr wrap="square" lIns="0" tIns="0" rIns="0" bIns="0" rtlCol="0" anchor="ctr"/>
          <a:lstStyle/>
          <a:p>
            <a:pPr marL="0" indent="0">
              <a:buNone/>
            </a:pPr>
            <a:r>
              <a:rPr lang="en-US" sz="900" dirty="0">
                <a:solidFill>
                  <a:srgbClr val="7DD3FC"/>
                </a:solidFill>
                <a:latin typeface="Consolas" pitchFamily="34" charset="0"/>
                <a:ea typeface="Consolas" pitchFamily="34" charset="-122"/>
                <a:cs typeface="Consolas" pitchFamily="34" charset="-120"/>
              </a:rPr>
              <a:t>ON DELETE RESTRICT   -- block the delete if any books reference this author (safest — prevents accidental data loss)</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ON DELETE CASCADE    -- automatically delete the books too when the author is deleted (use carefully!)</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ON DELETE SET NULL   -- set author_id = NULL on the book (book stays, loses its author link)</a:t>
            </a:r>
            <a:endParaRPr lang="en-US" sz="900" dirty="0"/>
          </a:p>
          <a:p>
            <a:pPr marL="0" indent="0">
              <a:buNone/>
            </a:pPr>
            <a:r>
              <a:rPr lang="en-US" sz="900" dirty="0">
                <a:solidFill>
                  <a:srgbClr val="7DD3FC"/>
                </a:solidFill>
                <a:latin typeface="Consolas" pitchFamily="34" charset="0"/>
                <a:ea typeface="Consolas" pitchFamily="34" charset="-122"/>
                <a:cs typeface="Consolas" pitchFamily="34" charset="-120"/>
              </a:rPr>
              <a:t>ON DELETE SET DEFAULT-- set author_id to the column default value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14</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Text 5"/>
          <p:cNvSpPr/>
          <p:nvPr/>
        </p:nvSpPr>
        <p:spPr>
          <a:xfrm>
            <a:off x="274320" y="164592"/>
            <a:ext cx="7772400" cy="457200"/>
          </a:xfrm>
          <a:prstGeom prst="rect">
            <a:avLst/>
          </a:prstGeom>
          <a:noFill/>
          <a:ln/>
        </p:spPr>
        <p:txBody>
          <a:bodyPr wrap="square" lIns="0" tIns="0" rIns="0" bIns="0" rtlCol="0" anchor="ctr"/>
          <a:lstStyle/>
          <a:p>
            <a:pPr marL="0" indent="0">
              <a:buNone/>
            </a:pPr>
            <a:r>
              <a:rPr lang="en-US" sz="2200" b="1" dirty="0">
                <a:solidFill>
                  <a:srgbClr val="0E0F30"/>
                </a:solidFill>
                <a:latin typeface="Calibri" pitchFamily="34" charset="0"/>
                <a:ea typeface="Calibri" pitchFamily="34" charset="-122"/>
                <a:cs typeface="Calibri" pitchFamily="34" charset="-120"/>
              </a:rPr>
              <a:t>Normalization — Designing Good Schemas</a:t>
            </a:r>
            <a:endParaRPr lang="en-US" sz="2200" dirty="0"/>
          </a:p>
        </p:txBody>
      </p:sp>
      <p:sp>
        <p:nvSpPr>
          <p:cNvPr id="8" name="Shape 6"/>
          <p:cNvSpPr/>
          <p:nvPr/>
        </p:nvSpPr>
        <p:spPr>
          <a:xfrm>
            <a:off x="274320" y="640080"/>
            <a:ext cx="1645920" cy="36576"/>
          </a:xfrm>
          <a:prstGeom prst="rect">
            <a:avLst/>
          </a:prstGeom>
          <a:solidFill>
            <a:srgbClr val="CD172D"/>
          </a:solidFill>
          <a:ln/>
        </p:spPr>
        <p:txBody>
          <a:bodyPr/>
          <a:lstStyle/>
          <a:p>
            <a:endParaRPr lang="en-PH"/>
          </a:p>
        </p:txBody>
      </p:sp>
      <p:sp>
        <p:nvSpPr>
          <p:cNvPr id="9" name="Text 7"/>
          <p:cNvSpPr/>
          <p:nvPr/>
        </p:nvSpPr>
        <p:spPr>
          <a:xfrm>
            <a:off x="274320" y="694944"/>
            <a:ext cx="82296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Rules for eliminating redundancy and preventing update anomalies</a:t>
            </a:r>
            <a:endParaRPr lang="en-US" sz="1100" dirty="0"/>
          </a:p>
        </p:txBody>
      </p:sp>
      <p:sp>
        <p:nvSpPr>
          <p:cNvPr id="10" name="Shape 8"/>
          <p:cNvSpPr/>
          <p:nvPr/>
        </p:nvSpPr>
        <p:spPr>
          <a:xfrm>
            <a:off x="228600" y="987552"/>
            <a:ext cx="4251960" cy="3749040"/>
          </a:xfrm>
          <a:prstGeom prst="rect">
            <a:avLst/>
          </a:prstGeom>
          <a:solidFill>
            <a:srgbClr val="0E0F30"/>
          </a:solidFill>
          <a:ln/>
        </p:spPr>
        <p:txBody>
          <a:bodyPr/>
          <a:lstStyle/>
          <a:p>
            <a:endParaRPr lang="en-PH"/>
          </a:p>
        </p:txBody>
      </p:sp>
      <p:sp>
        <p:nvSpPr>
          <p:cNvPr id="11" name="Shape 9"/>
          <p:cNvSpPr/>
          <p:nvPr/>
        </p:nvSpPr>
        <p:spPr>
          <a:xfrm>
            <a:off x="228600" y="987552"/>
            <a:ext cx="4251960" cy="256032"/>
          </a:xfrm>
          <a:prstGeom prst="rect">
            <a:avLst/>
          </a:prstGeom>
          <a:solidFill>
            <a:srgbClr val="CD172D"/>
          </a:solidFill>
          <a:ln/>
        </p:spPr>
        <p:txBody>
          <a:bodyPr/>
          <a:lstStyle/>
          <a:p>
            <a:endParaRPr lang="en-PH"/>
          </a:p>
        </p:txBody>
      </p:sp>
      <p:sp>
        <p:nvSpPr>
          <p:cNvPr id="12" name="Shape 10"/>
          <p:cNvSpPr/>
          <p:nvPr/>
        </p:nvSpPr>
        <p:spPr>
          <a:xfrm>
            <a:off x="228600" y="1115568"/>
            <a:ext cx="4251960" cy="128016"/>
          </a:xfrm>
          <a:prstGeom prst="rect">
            <a:avLst/>
          </a:prstGeom>
          <a:solidFill>
            <a:srgbClr val="CD172D"/>
          </a:solidFill>
          <a:ln/>
        </p:spPr>
        <p:txBody>
          <a:bodyPr/>
          <a:lstStyle/>
          <a:p>
            <a:endParaRPr lang="en-PH"/>
          </a:p>
        </p:txBody>
      </p:sp>
      <p:sp>
        <p:nvSpPr>
          <p:cNvPr id="13" name="Text 11"/>
          <p:cNvSpPr/>
          <p:nvPr/>
        </p:nvSpPr>
        <p:spPr>
          <a:xfrm>
            <a:off x="338328" y="1005840"/>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BAD — Unnormalized (all in one table)</a:t>
            </a:r>
            <a:endParaRPr lang="en-US" sz="900" dirty="0"/>
          </a:p>
        </p:txBody>
      </p:sp>
      <p:sp>
        <p:nvSpPr>
          <p:cNvPr id="14" name="Text 12"/>
          <p:cNvSpPr/>
          <p:nvPr/>
        </p:nvSpPr>
        <p:spPr>
          <a:xfrm>
            <a:off x="338328" y="1280160"/>
            <a:ext cx="4069080" cy="3383280"/>
          </a:xfrm>
          <a:prstGeom prst="rect">
            <a:avLst/>
          </a:prstGeom>
          <a:noFill/>
          <a:ln/>
        </p:spPr>
        <p:txBody>
          <a:bodyPr wrap="square" lIns="0" tIns="0" rIns="0" bIns="0" rtlCol="0" anchor="ctr"/>
          <a:lstStyle/>
          <a:p>
            <a:pPr marL="0" indent="0">
              <a:buNone/>
            </a:pPr>
            <a:r>
              <a:rPr lang="en-US" sz="800" dirty="0">
                <a:solidFill>
                  <a:srgbClr val="7DD3FC"/>
                </a:solidFill>
                <a:latin typeface="Consolas" pitchFamily="34" charset="0"/>
                <a:ea typeface="Consolas" pitchFamily="34" charset="-122"/>
                <a:cs typeface="Consolas" pitchFamily="34" charset="-120"/>
              </a:rPr>
              <a:t>-- All data in ONE table — looks simple but causes problems:</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CREATE TABLE books_bad (</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id             SERIAL PRIMARY KEY,</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title          TEXT,</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author_name    TEXT,       -- ← duplicated for every book by this author</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author_country TEXT,       -- ← duplicated for every book by this author</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author_birth   INT,        -- ← duplicated for every book by this author</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genre          TEXT,</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year           INT</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a:t>
            </a:r>
            <a:endParaRPr lang="en-US" sz="800" dirty="0"/>
          </a:p>
          <a:p>
            <a:pPr marL="0" indent="0">
              <a:buNone/>
            </a:pP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Problems with this design:</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-- 1. If Robert Martin changes nationality, you must UPDATE</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every single one of his books. Miss one → inconsistent data.</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-- 2. You cannot store an author without a book.</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-- 3. If you delete his last book, you lose his info entirely.</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-- 4. Storage waste — author_name repeated 10 times for 10 books.</a:t>
            </a:r>
            <a:endParaRPr lang="en-US" sz="800" dirty="0"/>
          </a:p>
          <a:p>
            <a:pPr marL="0" indent="0">
              <a:buNone/>
            </a:pP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These are called "update anomalies" and "insertion anomalies".</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Normalization prevents them by putting data</a:t>
            </a:r>
            <a:endParaRPr lang="en-US" sz="800" dirty="0"/>
          </a:p>
          <a:p>
            <a:pPr marL="0" indent="0">
              <a:buNone/>
            </a:pPr>
            <a:r>
              <a:rPr lang="en-US" sz="800" dirty="0">
                <a:solidFill>
                  <a:srgbClr val="7DD3FC"/>
                </a:solidFill>
                <a:latin typeface="Consolas" pitchFamily="34" charset="0"/>
                <a:ea typeface="Consolas" pitchFamily="34" charset="-122"/>
                <a:cs typeface="Consolas" pitchFamily="34" charset="-120"/>
              </a:rPr>
              <a:t>-- in the right table.</a:t>
            </a:r>
            <a:endParaRPr lang="en-US" sz="800" dirty="0"/>
          </a:p>
        </p:txBody>
      </p:sp>
      <p:sp>
        <p:nvSpPr>
          <p:cNvPr id="15" name="Shape 13"/>
          <p:cNvSpPr/>
          <p:nvPr/>
        </p:nvSpPr>
        <p:spPr>
          <a:xfrm>
            <a:off x="4663440" y="987552"/>
            <a:ext cx="4251960" cy="3749040"/>
          </a:xfrm>
          <a:prstGeom prst="rect">
            <a:avLst/>
          </a:prstGeom>
          <a:solidFill>
            <a:srgbClr val="0E0F30"/>
          </a:solidFill>
          <a:ln/>
        </p:spPr>
        <p:txBody>
          <a:bodyPr/>
          <a:lstStyle/>
          <a:p>
            <a:endParaRPr lang="en-PH"/>
          </a:p>
        </p:txBody>
      </p:sp>
      <p:sp>
        <p:nvSpPr>
          <p:cNvPr id="16" name="Shape 14"/>
          <p:cNvSpPr/>
          <p:nvPr/>
        </p:nvSpPr>
        <p:spPr>
          <a:xfrm>
            <a:off x="4663440" y="987552"/>
            <a:ext cx="4251960" cy="256032"/>
          </a:xfrm>
          <a:prstGeom prst="rect">
            <a:avLst/>
          </a:prstGeom>
          <a:solidFill>
            <a:srgbClr val="CD172D"/>
          </a:solidFill>
          <a:ln/>
        </p:spPr>
        <p:txBody>
          <a:bodyPr/>
          <a:lstStyle/>
          <a:p>
            <a:endParaRPr lang="en-PH"/>
          </a:p>
        </p:txBody>
      </p:sp>
      <p:sp>
        <p:nvSpPr>
          <p:cNvPr id="17" name="Shape 15"/>
          <p:cNvSpPr/>
          <p:nvPr/>
        </p:nvSpPr>
        <p:spPr>
          <a:xfrm>
            <a:off x="4663440" y="1115568"/>
            <a:ext cx="4251960" cy="128016"/>
          </a:xfrm>
          <a:prstGeom prst="rect">
            <a:avLst/>
          </a:prstGeom>
          <a:solidFill>
            <a:srgbClr val="CD172D"/>
          </a:solidFill>
          <a:ln/>
        </p:spPr>
        <p:txBody>
          <a:bodyPr/>
          <a:lstStyle/>
          <a:p>
            <a:endParaRPr lang="en-PH"/>
          </a:p>
        </p:txBody>
      </p:sp>
      <p:sp>
        <p:nvSpPr>
          <p:cNvPr id="18" name="Text 16"/>
          <p:cNvSpPr/>
          <p:nvPr/>
        </p:nvSpPr>
        <p:spPr>
          <a:xfrm>
            <a:off x="4773168" y="1005840"/>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GOOD — Normalized (3 Normal Forms)</a:t>
            </a:r>
            <a:endParaRPr lang="en-US" sz="900" dirty="0"/>
          </a:p>
        </p:txBody>
      </p:sp>
      <p:sp>
        <p:nvSpPr>
          <p:cNvPr id="19" name="Text 17"/>
          <p:cNvSpPr/>
          <p:nvPr/>
        </p:nvSpPr>
        <p:spPr>
          <a:xfrm>
            <a:off x="4773168" y="1280160"/>
            <a:ext cx="4069080" cy="3383280"/>
          </a:xfrm>
          <a:prstGeom prst="rect">
            <a:avLst/>
          </a:prstGeom>
          <a:noFill/>
          <a:ln/>
        </p:spPr>
        <p:txBody>
          <a:bodyPr wrap="square" lIns="0" tIns="0" rIns="0" bIns="0" rtlCol="0" anchor="ctr"/>
          <a:lstStyle/>
          <a:p>
            <a:pPr marL="0" indent="0">
              <a:buNone/>
            </a:pPr>
            <a:r>
              <a:rPr lang="en-US" sz="700" dirty="0">
                <a:solidFill>
                  <a:srgbClr val="7DD3FC"/>
                </a:solidFill>
                <a:latin typeface="Consolas" pitchFamily="34" charset="0"/>
                <a:ea typeface="Consolas" pitchFamily="34" charset="-122"/>
                <a:cs typeface="Consolas" pitchFamily="34" charset="-120"/>
              </a:rPr>
              <a:t>-- Separate tables — each fact stored once:</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CREATE TABLE authors (          -- author data lives HERE only</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id          SERIAL PRIMARY KEY,</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full_name   VARCHAR(150) NOT NULL,</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nationality VARCHAR(100),</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birth_year  INT</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CREATE TABLE books (            -- book data lives HERE only</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id        SERIAL PRIMARY KEY,</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title     VARCHAR(255) NOT NULL,</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genre     VARCHAR(80),</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year      INT,</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available BOOLEAN DEFAULT TRUE,</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author_id INT REFERENCES authors(id)  -- ← link, not copy</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Benefits: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 Change author nationality once → affects all books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 Can store an author before they have any books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 Deleting a book never deletes the author</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 No redundant data</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The 3 Normal Forms in plain English:</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-- 1NF: Every column holds ONE value (no comma-separated lists)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-- 2NF: Every non-key column depends on the WHOLE primary key</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-- 3NF: No column depends on another non-key column</a:t>
            </a:r>
            <a:endParaRPr lang="en-US" sz="700" dirty="0"/>
          </a:p>
        </p:txBody>
      </p:sp>
      <p:sp>
        <p:nvSpPr>
          <p:cNvPr id="20" name="Shape 18"/>
          <p:cNvSpPr/>
          <p:nvPr/>
        </p:nvSpPr>
        <p:spPr>
          <a:xfrm>
            <a:off x="228600" y="4572000"/>
            <a:ext cx="8686800" cy="237744"/>
          </a:xfrm>
          <a:prstGeom prst="rect">
            <a:avLst/>
          </a:prstGeom>
          <a:solidFill>
            <a:srgbClr val="CD172D"/>
          </a:solidFill>
          <a:ln/>
        </p:spPr>
        <p:txBody>
          <a:bodyPr/>
          <a:lstStyle/>
          <a:p>
            <a:endParaRPr lang="en-PH"/>
          </a:p>
        </p:txBody>
      </p:sp>
      <p:sp>
        <p:nvSpPr>
          <p:cNvPr id="21" name="Text 19"/>
          <p:cNvSpPr/>
          <p:nvPr/>
        </p:nvSpPr>
        <p:spPr>
          <a:xfrm>
            <a:off x="347472" y="4590288"/>
            <a:ext cx="841248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For this bootcamp, always aim for 3NF. In practice: if you find yourself storing the same information in multiple places, that is a sign you need another table.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15</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Shape 5"/>
          <p:cNvSpPr/>
          <p:nvPr/>
        </p:nvSpPr>
        <p:spPr>
          <a:xfrm>
            <a:off x="0" y="118872"/>
            <a:ext cx="9144000" cy="566928"/>
          </a:xfrm>
          <a:prstGeom prst="rect">
            <a:avLst/>
          </a:prstGeom>
          <a:solidFill>
            <a:srgbClr val="0E0F30"/>
          </a:solidFill>
          <a:ln/>
        </p:spPr>
        <p:txBody>
          <a:bodyPr/>
          <a:lstStyle/>
          <a:p>
            <a:endParaRPr lang="en-PH"/>
          </a:p>
        </p:txBody>
      </p:sp>
      <p:sp>
        <p:nvSpPr>
          <p:cNvPr id="8" name="Text 6"/>
          <p:cNvSpPr/>
          <p:nvPr/>
        </p:nvSpPr>
        <p:spPr>
          <a:xfrm>
            <a:off x="274320" y="155448"/>
            <a:ext cx="2743200" cy="256032"/>
          </a:xfrm>
          <a:prstGeom prst="rect">
            <a:avLst/>
          </a:prstGeom>
          <a:noFill/>
          <a:ln/>
        </p:spPr>
        <p:txBody>
          <a:bodyPr wrap="square" lIns="0" tIns="0" rIns="0" bIns="0" rtlCol="0" anchor="ctr"/>
          <a:lstStyle/>
          <a:p>
            <a:pPr marL="0" indent="0">
              <a:buNone/>
            </a:pPr>
            <a:r>
              <a:rPr lang="en-US" sz="1100" b="1" dirty="0">
                <a:solidFill>
                  <a:srgbClr val="CD172D"/>
                </a:solidFill>
                <a:latin typeface="Calibri" pitchFamily="34" charset="0"/>
                <a:ea typeface="Calibri" pitchFamily="34" charset="-122"/>
                <a:cs typeface="Calibri" pitchFamily="34" charset="-120"/>
              </a:rPr>
              <a:t>⚡  ACTIVITY  —  20 MIN</a:t>
            </a:r>
            <a:endParaRPr lang="en-US" sz="1100" dirty="0"/>
          </a:p>
        </p:txBody>
      </p:sp>
      <p:sp>
        <p:nvSpPr>
          <p:cNvPr id="9" name="Text 7"/>
          <p:cNvSpPr/>
          <p:nvPr/>
        </p:nvSpPr>
        <p:spPr>
          <a:xfrm>
            <a:off x="274320" y="393192"/>
            <a:ext cx="8412480"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SQL Queries — Filter, Join &amp; Aggregate</a:t>
            </a:r>
            <a:endParaRPr lang="en-US" sz="1400" dirty="0"/>
          </a:p>
        </p:txBody>
      </p:sp>
      <p:sp>
        <p:nvSpPr>
          <p:cNvPr id="10" name="Shape 8"/>
          <p:cNvSpPr/>
          <p:nvPr/>
        </p:nvSpPr>
        <p:spPr>
          <a:xfrm>
            <a:off x="228600" y="822960"/>
            <a:ext cx="8686800" cy="3749040"/>
          </a:xfrm>
          <a:prstGeom prst="rect">
            <a:avLst/>
          </a:prstGeom>
          <a:solidFill>
            <a:srgbClr val="FFFFFF"/>
          </a:solidFill>
          <a:ln w="6350">
            <a:solidFill>
              <a:srgbClr val="E0E0E0"/>
            </a:solidFill>
            <a:prstDash val="solid"/>
          </a:ln>
        </p:spPr>
        <p:txBody>
          <a:bodyPr/>
          <a:lstStyle/>
          <a:p>
            <a:endParaRPr lang="en-PH"/>
          </a:p>
        </p:txBody>
      </p:sp>
      <p:sp>
        <p:nvSpPr>
          <p:cNvPr id="11" name="Text 9"/>
          <p:cNvSpPr/>
          <p:nvPr/>
        </p:nvSpPr>
        <p:spPr>
          <a:xfrm>
            <a:off x="411480" y="896112"/>
            <a:ext cx="8321040" cy="35661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Using the tables you created in Activity 1, run these queries in pgAdmin Query Tool:</a:t>
            </a:r>
            <a:endParaRPr lang="en-US" sz="900" dirty="0"/>
          </a:p>
          <a:p>
            <a:pPr marL="0" indent="0">
              <a:buNone/>
            </a:pP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FILTERING:</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1. SELECT all available books</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2. SELECT books published after 2000, ordered by year descending</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3. SELECT books where title contains the word "code" (case-insensitive, use ILIKE)</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4. SELECT all books that have NOT been returned yet (loans.returned_at IS NULL)</a:t>
            </a:r>
            <a:endParaRPr lang="en-US" sz="900" dirty="0"/>
          </a:p>
          <a:p>
            <a:pPr marL="0" indent="0">
              <a:buNone/>
            </a:pP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JOINS:</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5. SELECT title, genre, full_name AS author FROM books</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INNER JOIN authors ON books.author_id = authors.id</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6. SELECT title, full_name, member_name, loaned_at FROM loans</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INNER JOIN books ON loans.book_id = books.id</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INNER JOIN authors ON books.author_id = authors.id</a:t>
            </a:r>
            <a:endParaRPr lang="en-US" sz="900" dirty="0"/>
          </a:p>
          <a:p>
            <a:pPr marL="0" indent="0">
              <a:buNone/>
            </a:pP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AGGREGATES:</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7. Count how many books exist per genre (GROUP BY genre)</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8. Find the author with the most books (COUNT + GROUP BY + ORDER BY DESC + LIMIT 1)</a:t>
            </a:r>
            <a:endParaRPr lang="en-US" sz="900" dirty="0"/>
          </a:p>
          <a:p>
            <a:pPr marL="0" indent="0">
              <a:buNone/>
            </a:pP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UPDATE &amp; DELETE:</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9. UPDATE book id=3: set available = FALSE</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10. INSERT a new loan for book id=1, member_name = 'Ana Reyes'</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  11. SELECT * FROM loans to confirm the new row appears</a:t>
            </a:r>
            <a:endParaRPr lang="en-US" sz="900" dirty="0"/>
          </a:p>
          <a:p>
            <a:pPr marL="0" indent="0">
              <a:buNone/>
            </a:pP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Bonus: Write a query showing all books and whether they are currently on loan</a:t>
            </a:r>
            <a:endParaRPr lang="en-US" sz="900" dirty="0"/>
          </a:p>
          <a:p>
            <a:pPr marL="0" indent="0">
              <a:buNone/>
            </a:pPr>
            <a:r>
              <a:rPr lang="en-US" sz="900" dirty="0">
                <a:solidFill>
                  <a:srgbClr val="1A1A1A"/>
                </a:solidFill>
                <a:latin typeface="Calibri" pitchFamily="34" charset="0"/>
                <a:ea typeface="Calibri" pitchFamily="34" charset="-122"/>
                <a:cs typeface="Calibri" pitchFamily="34" charset="-120"/>
              </a:rPr>
              <a:t>(hint: LEFT JOIN loans WHERE returned_at IS NULL)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16</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Text 5"/>
          <p:cNvSpPr/>
          <p:nvPr/>
        </p:nvSpPr>
        <p:spPr>
          <a:xfrm>
            <a:off x="274320" y="164592"/>
            <a:ext cx="7772400" cy="457200"/>
          </a:xfrm>
          <a:prstGeom prst="rect">
            <a:avLst/>
          </a:prstGeom>
          <a:noFill/>
          <a:ln/>
        </p:spPr>
        <p:txBody>
          <a:bodyPr wrap="square" lIns="0" tIns="0" rIns="0" bIns="0" rtlCol="0" anchor="ctr"/>
          <a:lstStyle/>
          <a:p>
            <a:pPr marL="0" indent="0">
              <a:buNone/>
            </a:pPr>
            <a:r>
              <a:rPr lang="en-US" sz="2200" b="1" dirty="0">
                <a:solidFill>
                  <a:srgbClr val="0E0F30"/>
                </a:solidFill>
                <a:latin typeface="Calibri" pitchFamily="34" charset="0"/>
                <a:ea typeface="Calibri" pitchFamily="34" charset="-122"/>
                <a:cs typeface="Calibri" pitchFamily="34" charset="-120"/>
              </a:rPr>
              <a:t>Subqueries &amp; CTEs</a:t>
            </a:r>
            <a:endParaRPr lang="en-US" sz="2200" dirty="0"/>
          </a:p>
        </p:txBody>
      </p:sp>
      <p:sp>
        <p:nvSpPr>
          <p:cNvPr id="8" name="Shape 6"/>
          <p:cNvSpPr/>
          <p:nvPr/>
        </p:nvSpPr>
        <p:spPr>
          <a:xfrm>
            <a:off x="274320" y="640080"/>
            <a:ext cx="1645920" cy="36576"/>
          </a:xfrm>
          <a:prstGeom prst="rect">
            <a:avLst/>
          </a:prstGeom>
          <a:solidFill>
            <a:srgbClr val="CD172D"/>
          </a:solidFill>
          <a:ln/>
        </p:spPr>
        <p:txBody>
          <a:bodyPr/>
          <a:lstStyle/>
          <a:p>
            <a:endParaRPr lang="en-PH"/>
          </a:p>
        </p:txBody>
      </p:sp>
      <p:sp>
        <p:nvSpPr>
          <p:cNvPr id="9" name="Text 7"/>
          <p:cNvSpPr/>
          <p:nvPr/>
        </p:nvSpPr>
        <p:spPr>
          <a:xfrm>
            <a:off x="274320" y="694944"/>
            <a:ext cx="82296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Advanced querying — using query results as inputs to other queries</a:t>
            </a:r>
            <a:endParaRPr lang="en-US" sz="1100" dirty="0"/>
          </a:p>
        </p:txBody>
      </p:sp>
      <p:sp>
        <p:nvSpPr>
          <p:cNvPr id="10" name="Shape 8"/>
          <p:cNvSpPr/>
          <p:nvPr/>
        </p:nvSpPr>
        <p:spPr>
          <a:xfrm>
            <a:off x="228600" y="987552"/>
            <a:ext cx="4251960" cy="3749040"/>
          </a:xfrm>
          <a:prstGeom prst="rect">
            <a:avLst/>
          </a:prstGeom>
          <a:solidFill>
            <a:srgbClr val="0E0F30"/>
          </a:solidFill>
          <a:ln/>
        </p:spPr>
        <p:txBody>
          <a:bodyPr/>
          <a:lstStyle/>
          <a:p>
            <a:endParaRPr lang="en-PH"/>
          </a:p>
        </p:txBody>
      </p:sp>
      <p:sp>
        <p:nvSpPr>
          <p:cNvPr id="11" name="Shape 9"/>
          <p:cNvSpPr/>
          <p:nvPr/>
        </p:nvSpPr>
        <p:spPr>
          <a:xfrm>
            <a:off x="228600" y="987552"/>
            <a:ext cx="4251960" cy="256032"/>
          </a:xfrm>
          <a:prstGeom prst="rect">
            <a:avLst/>
          </a:prstGeom>
          <a:solidFill>
            <a:srgbClr val="CD172D"/>
          </a:solidFill>
          <a:ln/>
        </p:spPr>
        <p:txBody>
          <a:bodyPr/>
          <a:lstStyle/>
          <a:p>
            <a:endParaRPr lang="en-PH"/>
          </a:p>
        </p:txBody>
      </p:sp>
      <p:sp>
        <p:nvSpPr>
          <p:cNvPr id="12" name="Shape 10"/>
          <p:cNvSpPr/>
          <p:nvPr/>
        </p:nvSpPr>
        <p:spPr>
          <a:xfrm>
            <a:off x="228600" y="1115568"/>
            <a:ext cx="4251960" cy="128016"/>
          </a:xfrm>
          <a:prstGeom prst="rect">
            <a:avLst/>
          </a:prstGeom>
          <a:solidFill>
            <a:srgbClr val="CD172D"/>
          </a:solidFill>
          <a:ln/>
        </p:spPr>
        <p:txBody>
          <a:bodyPr/>
          <a:lstStyle/>
          <a:p>
            <a:endParaRPr lang="en-PH"/>
          </a:p>
        </p:txBody>
      </p:sp>
      <p:sp>
        <p:nvSpPr>
          <p:cNvPr id="13" name="Text 11"/>
          <p:cNvSpPr/>
          <p:nvPr/>
        </p:nvSpPr>
        <p:spPr>
          <a:xfrm>
            <a:off x="338328" y="1005840"/>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Subqueries</a:t>
            </a:r>
            <a:endParaRPr lang="en-US" sz="900" dirty="0"/>
          </a:p>
        </p:txBody>
      </p:sp>
      <p:sp>
        <p:nvSpPr>
          <p:cNvPr id="14" name="Text 12"/>
          <p:cNvSpPr/>
          <p:nvPr/>
        </p:nvSpPr>
        <p:spPr>
          <a:xfrm>
            <a:off x="338328" y="1280160"/>
            <a:ext cx="4069080" cy="3383280"/>
          </a:xfrm>
          <a:prstGeom prst="rect">
            <a:avLst/>
          </a:prstGeom>
          <a:noFill/>
          <a:ln/>
        </p:spPr>
        <p:txBody>
          <a:bodyPr wrap="square" lIns="0" tIns="0" rIns="0" bIns="0" rtlCol="0" anchor="ctr"/>
          <a:lstStyle/>
          <a:p>
            <a:pPr marL="0" indent="0">
              <a:buNone/>
            </a:pPr>
            <a:r>
              <a:rPr lang="en-US" sz="700" dirty="0">
                <a:solidFill>
                  <a:srgbClr val="7DD3FC"/>
                </a:solidFill>
                <a:latin typeface="Consolas" pitchFamily="34" charset="0"/>
                <a:ea typeface="Consolas" pitchFamily="34" charset="-122"/>
                <a:cs typeface="Consolas" pitchFamily="34" charset="-120"/>
              </a:rPr>
              <a:t>-- A subquery is a SELECT inside another query</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Find books written by British authors (subquery in WHERE)</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 title, year</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FROM books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WHERE author_id IN (</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SELECT id FROM authors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WHERE nationality = 'British'</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The inner SELECT runs first, returns a list of ids,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then the outer SELECT filters by those ids</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Scalar subquery — returns a single value</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 title,</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year,</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(SELECT AVG(year) FROM books) AS avg_year,</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year - (SELECT AVG(year) FROM books) AS diff_from_avg</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FROM books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ORDER BY diff_from_avg DESC;</a:t>
            </a:r>
            <a:endParaRPr lang="en-US" sz="700" dirty="0"/>
          </a:p>
          <a:p>
            <a:pPr marL="0" indent="0">
              <a:buNone/>
            </a:pP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EXISTS — check if a subquery returns any rows</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SELECT a.full_name</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FROM authors AS a</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WHERE EXISTS (</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SELECT 1 FROM books AS b</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WHERE b.author_id = a.id</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AND b.available = TRUE</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a:t>
            </a:r>
            <a:endParaRPr lang="en-US" sz="700" dirty="0"/>
          </a:p>
          <a:p>
            <a:pPr marL="0" indent="0">
              <a:buNone/>
            </a:pPr>
            <a:r>
              <a:rPr lang="en-US" sz="700" dirty="0">
                <a:solidFill>
                  <a:srgbClr val="7DD3FC"/>
                </a:solidFill>
                <a:latin typeface="Consolas" pitchFamily="34" charset="0"/>
                <a:ea typeface="Consolas" pitchFamily="34" charset="-122"/>
                <a:cs typeface="Consolas" pitchFamily="34" charset="-120"/>
              </a:rPr>
              <a:t>-- Returns authors who have at least one available book</a:t>
            </a:r>
            <a:endParaRPr lang="en-US" sz="700" dirty="0"/>
          </a:p>
        </p:txBody>
      </p:sp>
      <p:sp>
        <p:nvSpPr>
          <p:cNvPr id="15" name="Shape 13"/>
          <p:cNvSpPr/>
          <p:nvPr/>
        </p:nvSpPr>
        <p:spPr>
          <a:xfrm>
            <a:off x="4663440" y="987552"/>
            <a:ext cx="4251960" cy="3749040"/>
          </a:xfrm>
          <a:prstGeom prst="rect">
            <a:avLst/>
          </a:prstGeom>
          <a:solidFill>
            <a:srgbClr val="0E0F30"/>
          </a:solidFill>
          <a:ln/>
        </p:spPr>
        <p:txBody>
          <a:bodyPr/>
          <a:lstStyle/>
          <a:p>
            <a:endParaRPr lang="en-PH"/>
          </a:p>
        </p:txBody>
      </p:sp>
      <p:sp>
        <p:nvSpPr>
          <p:cNvPr id="16" name="Shape 14"/>
          <p:cNvSpPr/>
          <p:nvPr/>
        </p:nvSpPr>
        <p:spPr>
          <a:xfrm>
            <a:off x="4663440" y="987552"/>
            <a:ext cx="4251960" cy="256032"/>
          </a:xfrm>
          <a:prstGeom prst="rect">
            <a:avLst/>
          </a:prstGeom>
          <a:solidFill>
            <a:srgbClr val="CD172D"/>
          </a:solidFill>
          <a:ln/>
        </p:spPr>
        <p:txBody>
          <a:bodyPr/>
          <a:lstStyle/>
          <a:p>
            <a:endParaRPr lang="en-PH"/>
          </a:p>
        </p:txBody>
      </p:sp>
      <p:sp>
        <p:nvSpPr>
          <p:cNvPr id="17" name="Shape 15"/>
          <p:cNvSpPr/>
          <p:nvPr/>
        </p:nvSpPr>
        <p:spPr>
          <a:xfrm>
            <a:off x="4663440" y="1115568"/>
            <a:ext cx="4251960" cy="128016"/>
          </a:xfrm>
          <a:prstGeom prst="rect">
            <a:avLst/>
          </a:prstGeom>
          <a:solidFill>
            <a:srgbClr val="CD172D"/>
          </a:solidFill>
          <a:ln/>
        </p:spPr>
        <p:txBody>
          <a:bodyPr/>
          <a:lstStyle/>
          <a:p>
            <a:endParaRPr lang="en-PH"/>
          </a:p>
        </p:txBody>
      </p:sp>
      <p:sp>
        <p:nvSpPr>
          <p:cNvPr id="18" name="Text 16"/>
          <p:cNvSpPr/>
          <p:nvPr/>
        </p:nvSpPr>
        <p:spPr>
          <a:xfrm>
            <a:off x="4773168" y="1005840"/>
            <a:ext cx="411480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CTEs — Common Table Expressions</a:t>
            </a:r>
            <a:endParaRPr lang="en-US" sz="900" dirty="0"/>
          </a:p>
        </p:txBody>
      </p:sp>
      <p:sp>
        <p:nvSpPr>
          <p:cNvPr id="19" name="Text 17"/>
          <p:cNvSpPr/>
          <p:nvPr/>
        </p:nvSpPr>
        <p:spPr>
          <a:xfrm>
            <a:off x="4773168" y="1280160"/>
            <a:ext cx="4069080" cy="3383280"/>
          </a:xfrm>
          <a:prstGeom prst="rect">
            <a:avLst/>
          </a:prstGeom>
          <a:noFill/>
          <a:ln/>
        </p:spPr>
        <p:txBody>
          <a:bodyPr wrap="square" lIns="0" tIns="0" rIns="0" bIns="0" rtlCol="0" anchor="ctr"/>
          <a:lstStyle/>
          <a:p>
            <a:pPr marL="0" indent="0">
              <a:buNone/>
            </a:pPr>
            <a:r>
              <a:rPr lang="en-US" sz="600" dirty="0">
                <a:solidFill>
                  <a:srgbClr val="7DD3FC"/>
                </a:solidFill>
                <a:latin typeface="Consolas" pitchFamily="34" charset="0"/>
                <a:ea typeface="Consolas" pitchFamily="34" charset="-122"/>
                <a:cs typeface="Consolas" pitchFamily="34" charset="-120"/>
              </a:rPr>
              <a:t>-- CTE = a named temporary result set</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Makes complex queries readable</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Defined with WITH, used like a table</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Simple CTE</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WITH available_books AS (</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SELECT * FROM books</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WHERE available = TRUE</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SELECT</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ab.title,</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a.full_name AS author</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FROM available_books AS ab</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INNER JOIN authors AS a ON ab.author_id = a.id;</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Multiple CTEs (chain them with commas)</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WITH</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programming_books AS (</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SELECT * FROM books WHERE genre = 'Programming'</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british_authors AS (</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SELECT * FROM authors WHERE nationality = 'British'</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SELECT</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pb.title,</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ba.full_name AS author</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FROM programming_books AS pb</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INNER JOIN british_authors AS ba</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ON pb.author_id = ba.id;</a:t>
            </a:r>
            <a:endParaRPr lang="en-US" sz="600" dirty="0"/>
          </a:p>
          <a:p>
            <a:pPr marL="0" indent="0">
              <a:buNone/>
            </a:pP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CTE vs Subquery: when to use which?</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CTE: complex logic, reused multiple times, readable</a:t>
            </a:r>
            <a:endParaRPr lang="en-US" sz="600" dirty="0"/>
          </a:p>
          <a:p>
            <a:pPr marL="0" indent="0">
              <a:buNone/>
            </a:pPr>
            <a:r>
              <a:rPr lang="en-US" sz="600" dirty="0">
                <a:solidFill>
                  <a:srgbClr val="7DD3FC"/>
                </a:solidFill>
                <a:latin typeface="Consolas" pitchFamily="34" charset="0"/>
                <a:ea typeface="Consolas" pitchFamily="34" charset="-122"/>
                <a:cs typeface="Consolas" pitchFamily="34" charset="-120"/>
              </a:rPr>
              <a:t>-- Subquery: simple, one-time use, shorter</a:t>
            </a:r>
            <a:endParaRPr lang="en-US" sz="600" dirty="0"/>
          </a:p>
        </p:txBody>
      </p:sp>
      <p:sp>
        <p:nvSpPr>
          <p:cNvPr id="20" name="Shape 18"/>
          <p:cNvSpPr/>
          <p:nvPr/>
        </p:nvSpPr>
        <p:spPr>
          <a:xfrm>
            <a:off x="228600" y="4572000"/>
            <a:ext cx="8686800" cy="237744"/>
          </a:xfrm>
          <a:prstGeom prst="rect">
            <a:avLst/>
          </a:prstGeom>
          <a:solidFill>
            <a:srgbClr val="CD172D"/>
          </a:solidFill>
          <a:ln/>
        </p:spPr>
        <p:txBody>
          <a:bodyPr/>
          <a:lstStyle/>
          <a:p>
            <a:endParaRPr lang="en-PH"/>
          </a:p>
        </p:txBody>
      </p:sp>
      <p:sp>
        <p:nvSpPr>
          <p:cNvPr id="21" name="Text 19"/>
          <p:cNvSpPr/>
          <p:nvPr/>
        </p:nvSpPr>
        <p:spPr>
          <a:xfrm>
            <a:off x="347472" y="4590288"/>
            <a:ext cx="8412480" cy="18288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CTEs are one of the most important SQL features for readability. If your query is over 10 lines, break it into CTEs. Day 7: EF Core can translate CTEs using LINQ FromSqlRaw().</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0E0F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18</a:t>
            </a:r>
            <a:endParaRPr lang="en-US" sz="700" dirty="0"/>
          </a:p>
        </p:txBody>
      </p:sp>
      <p:sp>
        <p:nvSpPr>
          <p:cNvPr id="6" name="Text 4"/>
          <p:cNvSpPr/>
          <p:nvPr/>
        </p:nvSpPr>
        <p:spPr>
          <a:xfrm>
            <a:off x="6583680" y="489661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Shape 5"/>
          <p:cNvSpPr/>
          <p:nvPr/>
        </p:nvSpPr>
        <p:spPr>
          <a:xfrm>
            <a:off x="0" y="118872"/>
            <a:ext cx="9144000" cy="566928"/>
          </a:xfrm>
          <a:prstGeom prst="rect">
            <a:avLst/>
          </a:prstGeom>
          <a:solidFill>
            <a:srgbClr val="CD172D"/>
          </a:solidFill>
          <a:ln/>
        </p:spPr>
        <p:txBody>
          <a:bodyPr/>
          <a:lstStyle/>
          <a:p>
            <a:endParaRPr lang="en-PH"/>
          </a:p>
        </p:txBody>
      </p:sp>
      <p:sp>
        <p:nvSpPr>
          <p:cNvPr id="8" name="Text 6"/>
          <p:cNvSpPr/>
          <p:nvPr/>
        </p:nvSpPr>
        <p:spPr>
          <a:xfrm>
            <a:off x="274320" y="146304"/>
            <a:ext cx="457200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2-HOUR HANDS-ON LAB</a:t>
            </a:r>
            <a:endParaRPr lang="en-US" sz="1200" dirty="0"/>
          </a:p>
        </p:txBody>
      </p:sp>
      <p:sp>
        <p:nvSpPr>
          <p:cNvPr id="9" name="Text 7"/>
          <p:cNvSpPr/>
          <p:nvPr/>
        </p:nvSpPr>
        <p:spPr>
          <a:xfrm>
            <a:off x="274320" y="393192"/>
            <a:ext cx="8412480"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Student Enrollment Database — Design, Build &amp; Query</a:t>
            </a:r>
            <a:endParaRPr lang="en-US" sz="1400" dirty="0"/>
          </a:p>
        </p:txBody>
      </p:sp>
      <p:sp>
        <p:nvSpPr>
          <p:cNvPr id="10" name="Shape 8"/>
          <p:cNvSpPr/>
          <p:nvPr/>
        </p:nvSpPr>
        <p:spPr>
          <a:xfrm>
            <a:off x="228600" y="822960"/>
            <a:ext cx="8686800" cy="877824"/>
          </a:xfrm>
          <a:prstGeom prst="rect">
            <a:avLst/>
          </a:prstGeom>
          <a:solidFill>
            <a:srgbClr val="0D1F35"/>
          </a:solidFill>
          <a:ln/>
        </p:spPr>
        <p:txBody>
          <a:bodyPr/>
          <a:lstStyle/>
          <a:p>
            <a:endParaRPr lang="en-PH"/>
          </a:p>
        </p:txBody>
      </p:sp>
      <p:sp>
        <p:nvSpPr>
          <p:cNvPr id="11" name="Shape 9"/>
          <p:cNvSpPr/>
          <p:nvPr/>
        </p:nvSpPr>
        <p:spPr>
          <a:xfrm>
            <a:off x="228600" y="822960"/>
            <a:ext cx="457200" cy="877824"/>
          </a:xfrm>
          <a:prstGeom prst="rect">
            <a:avLst/>
          </a:prstGeom>
          <a:solidFill>
            <a:srgbClr val="CD172D"/>
          </a:solidFill>
          <a:ln/>
        </p:spPr>
        <p:txBody>
          <a:bodyPr/>
          <a:lstStyle/>
          <a:p>
            <a:endParaRPr lang="en-PH"/>
          </a:p>
        </p:txBody>
      </p:sp>
      <p:sp>
        <p:nvSpPr>
          <p:cNvPr id="12" name="Text 10"/>
          <p:cNvSpPr/>
          <p:nvPr/>
        </p:nvSpPr>
        <p:spPr>
          <a:xfrm>
            <a:off x="228600" y="822960"/>
            <a:ext cx="457200" cy="87782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Black" pitchFamily="34" charset="0"/>
                <a:ea typeface="Calibri Black" pitchFamily="34" charset="-122"/>
                <a:cs typeface="Calibri Black" pitchFamily="34" charset="-120"/>
              </a:rPr>
              <a:t>1</a:t>
            </a:r>
            <a:endParaRPr lang="en-US" sz="1800" dirty="0"/>
          </a:p>
        </p:txBody>
      </p:sp>
      <p:sp>
        <p:nvSpPr>
          <p:cNvPr id="13" name="Text 11"/>
          <p:cNvSpPr/>
          <p:nvPr/>
        </p:nvSpPr>
        <p:spPr>
          <a:xfrm>
            <a:off x="804672" y="914400"/>
            <a:ext cx="7955280" cy="256032"/>
          </a:xfrm>
          <a:prstGeom prst="rect">
            <a:avLst/>
          </a:prstGeom>
          <a:noFill/>
          <a:ln/>
        </p:spPr>
        <p:txBody>
          <a:bodyPr wrap="square" lIns="0" tIns="0" rIns="0" bIns="0" rtlCol="0" anchor="ctr"/>
          <a:lstStyle/>
          <a:p>
            <a:pPr marL="0" indent="0">
              <a:buNone/>
            </a:pPr>
            <a:r>
              <a:rPr lang="en-US" sz="1200" b="1" dirty="0">
                <a:solidFill>
                  <a:srgbClr val="CD172D"/>
                </a:solidFill>
                <a:latin typeface="Calibri" pitchFamily="34" charset="0"/>
                <a:ea typeface="Calibri" pitchFamily="34" charset="-122"/>
                <a:cs typeface="Calibri" pitchFamily="34" charset="-120"/>
              </a:rPr>
              <a:t>Part 1 — Schema Design &amp; Creation (30 min)</a:t>
            </a:r>
            <a:endParaRPr lang="en-US" sz="1200" dirty="0"/>
          </a:p>
        </p:txBody>
      </p:sp>
      <p:sp>
        <p:nvSpPr>
          <p:cNvPr id="14" name="Text 12"/>
          <p:cNvSpPr/>
          <p:nvPr/>
        </p:nvSpPr>
        <p:spPr>
          <a:xfrm>
            <a:off x="804672" y="1225296"/>
            <a:ext cx="7955280" cy="402336"/>
          </a:xfrm>
          <a:prstGeom prst="rect">
            <a:avLst/>
          </a:prstGeom>
          <a:noFill/>
          <a:ln/>
        </p:spPr>
        <p:txBody>
          <a:bodyPr wrap="square" lIns="0" tIns="0" rIns="0" bIns="0" rtlCol="0" anchor="ctr"/>
          <a:lstStyle/>
          <a:p>
            <a:pPr marL="0" indent="0">
              <a:buNone/>
            </a:pPr>
            <a:r>
              <a:rPr lang="en-US" sz="800" dirty="0">
                <a:solidFill>
                  <a:srgbClr val="CBD5E1"/>
                </a:solidFill>
                <a:latin typeface="Calibri" pitchFamily="34" charset="0"/>
                <a:ea typeface="Calibri" pitchFamily="34" charset="-122"/>
                <a:cs typeface="Calibri" pitchFamily="34" charset="-120"/>
              </a:rPr>
              <a:t>Create the following tables: students (id, </a:t>
            </a:r>
            <a:r>
              <a:rPr lang="en-US" sz="800" dirty="0" err="1">
                <a:solidFill>
                  <a:srgbClr val="CBD5E1"/>
                </a:solidFill>
                <a:latin typeface="Calibri" pitchFamily="34" charset="0"/>
                <a:ea typeface="Calibri" pitchFamily="34" charset="-122"/>
                <a:cs typeface="Calibri" pitchFamily="34" charset="-120"/>
              </a:rPr>
              <a:t>first_name</a:t>
            </a:r>
            <a:r>
              <a:rPr lang="en-US" sz="800" dirty="0">
                <a:solidFill>
                  <a:srgbClr val="CBD5E1"/>
                </a:solidFill>
                <a:latin typeface="Calibri" pitchFamily="34" charset="0"/>
                <a:ea typeface="Calibri" pitchFamily="34" charset="-122"/>
                <a:cs typeface="Calibri" pitchFamily="34" charset="-120"/>
              </a:rPr>
              <a:t>, </a:t>
            </a:r>
            <a:r>
              <a:rPr lang="en-US" sz="800" dirty="0" err="1">
                <a:solidFill>
                  <a:srgbClr val="CBD5E1"/>
                </a:solidFill>
                <a:latin typeface="Calibri" pitchFamily="34" charset="0"/>
                <a:ea typeface="Calibri" pitchFamily="34" charset="-122"/>
                <a:cs typeface="Calibri" pitchFamily="34" charset="-120"/>
              </a:rPr>
              <a:t>last_name</a:t>
            </a:r>
            <a:r>
              <a:rPr lang="en-US" sz="800" dirty="0">
                <a:solidFill>
                  <a:srgbClr val="CBD5E1"/>
                </a:solidFill>
                <a:latin typeface="Calibri" pitchFamily="34" charset="0"/>
                <a:ea typeface="Calibri" pitchFamily="34" charset="-122"/>
                <a:cs typeface="Calibri" pitchFamily="34" charset="-120"/>
              </a:rPr>
              <a:t>, year CHECK between 1 and 4, gender, enrolled DEFAULT true, </a:t>
            </a:r>
            <a:r>
              <a:rPr lang="en-US" sz="800" dirty="0" err="1">
                <a:solidFill>
                  <a:srgbClr val="CBD5E1"/>
                </a:solidFill>
                <a:latin typeface="Calibri" pitchFamily="34" charset="0"/>
                <a:ea typeface="Calibri" pitchFamily="34" charset="-122"/>
                <a:cs typeface="Calibri" pitchFamily="34" charset="-120"/>
              </a:rPr>
              <a:t>created_at</a:t>
            </a:r>
            <a:r>
              <a:rPr lang="en-US" sz="800" dirty="0">
                <a:solidFill>
                  <a:srgbClr val="CBD5E1"/>
                </a:solidFill>
                <a:latin typeface="Calibri" pitchFamily="34" charset="0"/>
                <a:ea typeface="Calibri" pitchFamily="34" charset="-122"/>
                <a:cs typeface="Calibri" pitchFamily="34" charset="-120"/>
              </a:rPr>
              <a:t>), programs (id, </a:t>
            </a:r>
            <a:r>
              <a:rPr lang="en-US" sz="800" dirty="0" err="1">
                <a:solidFill>
                  <a:srgbClr val="CBD5E1"/>
                </a:solidFill>
                <a:latin typeface="Calibri" pitchFamily="34" charset="0"/>
                <a:ea typeface="Calibri" pitchFamily="34" charset="-122"/>
                <a:cs typeface="Calibri" pitchFamily="34" charset="-120"/>
              </a:rPr>
              <a:t>program_name</a:t>
            </a:r>
            <a:r>
              <a:rPr lang="en-US" sz="800" dirty="0">
                <a:solidFill>
                  <a:srgbClr val="CBD5E1"/>
                </a:solidFill>
                <a:latin typeface="Calibri" pitchFamily="34" charset="0"/>
                <a:ea typeface="Calibri" pitchFamily="34" charset="-122"/>
                <a:cs typeface="Calibri" pitchFamily="34" charset="-120"/>
              </a:rPr>
              <a:t> UNIQUE), sections (id, code UNIQUE, year, </a:t>
            </a:r>
            <a:r>
              <a:rPr lang="en-US" sz="800" dirty="0" err="1">
                <a:solidFill>
                  <a:srgbClr val="CBD5E1"/>
                </a:solidFill>
                <a:latin typeface="Calibri" pitchFamily="34" charset="0"/>
                <a:ea typeface="Calibri" pitchFamily="34" charset="-122"/>
                <a:cs typeface="Calibri" pitchFamily="34" charset="-120"/>
              </a:rPr>
              <a:t>program_id</a:t>
            </a:r>
            <a:r>
              <a:rPr lang="en-US" sz="800" dirty="0">
                <a:solidFill>
                  <a:srgbClr val="CBD5E1"/>
                </a:solidFill>
                <a:latin typeface="Calibri" pitchFamily="34" charset="0"/>
                <a:ea typeface="Calibri" pitchFamily="34" charset="-122"/>
                <a:cs typeface="Calibri" pitchFamily="34" charset="-120"/>
              </a:rPr>
              <a:t> FK), </a:t>
            </a:r>
            <a:r>
              <a:rPr lang="en-US" sz="800" dirty="0" err="1">
                <a:solidFill>
                  <a:srgbClr val="CBD5E1"/>
                </a:solidFill>
                <a:latin typeface="Calibri" pitchFamily="34" charset="0"/>
                <a:ea typeface="Calibri" pitchFamily="34" charset="-122"/>
                <a:cs typeface="Calibri" pitchFamily="34" charset="-120"/>
              </a:rPr>
              <a:t>student_sections</a:t>
            </a:r>
            <a:r>
              <a:rPr lang="en-US" sz="800" dirty="0">
                <a:solidFill>
                  <a:srgbClr val="CBD5E1"/>
                </a:solidFill>
                <a:latin typeface="Calibri" pitchFamily="34" charset="0"/>
                <a:ea typeface="Calibri" pitchFamily="34" charset="-122"/>
                <a:cs typeface="Calibri" pitchFamily="34" charset="-120"/>
              </a:rPr>
              <a:t> (id, </a:t>
            </a:r>
            <a:r>
              <a:rPr lang="en-US" sz="800" dirty="0" err="1">
                <a:solidFill>
                  <a:srgbClr val="CBD5E1"/>
                </a:solidFill>
                <a:latin typeface="Calibri" pitchFamily="34" charset="0"/>
                <a:ea typeface="Calibri" pitchFamily="34" charset="-122"/>
                <a:cs typeface="Calibri" pitchFamily="34" charset="-120"/>
              </a:rPr>
              <a:t>student_id</a:t>
            </a:r>
            <a:r>
              <a:rPr lang="en-US" sz="800" dirty="0">
                <a:solidFill>
                  <a:srgbClr val="CBD5E1"/>
                </a:solidFill>
                <a:latin typeface="Calibri" pitchFamily="34" charset="0"/>
                <a:ea typeface="Calibri" pitchFamily="34" charset="-122"/>
                <a:cs typeface="Calibri" pitchFamily="34" charset="-120"/>
              </a:rPr>
              <a:t> FK, </a:t>
            </a:r>
            <a:r>
              <a:rPr lang="en-US" sz="800" dirty="0" err="1">
                <a:solidFill>
                  <a:srgbClr val="CBD5E1"/>
                </a:solidFill>
                <a:latin typeface="Calibri" pitchFamily="34" charset="0"/>
                <a:ea typeface="Calibri" pitchFamily="34" charset="-122"/>
                <a:cs typeface="Calibri" pitchFamily="34" charset="-120"/>
              </a:rPr>
              <a:t>section_id</a:t>
            </a:r>
            <a:r>
              <a:rPr lang="en-US" sz="800" dirty="0">
                <a:solidFill>
                  <a:srgbClr val="CBD5E1"/>
                </a:solidFill>
                <a:latin typeface="Calibri" pitchFamily="34" charset="0"/>
                <a:ea typeface="Calibri" pitchFamily="34" charset="-122"/>
                <a:cs typeface="Calibri" pitchFamily="34" charset="-120"/>
              </a:rPr>
              <a:t> FK, </a:t>
            </a:r>
            <a:r>
              <a:rPr lang="en-US" sz="800" dirty="0" err="1">
                <a:solidFill>
                  <a:srgbClr val="CBD5E1"/>
                </a:solidFill>
                <a:latin typeface="Calibri" pitchFamily="34" charset="0"/>
                <a:ea typeface="Calibri" pitchFamily="34" charset="-122"/>
                <a:cs typeface="Calibri" pitchFamily="34" charset="-120"/>
              </a:rPr>
              <a:t>enrolled_at</a:t>
            </a:r>
            <a:r>
              <a:rPr lang="en-US" sz="800" dirty="0">
                <a:solidFill>
                  <a:srgbClr val="CBD5E1"/>
                </a:solidFill>
                <a:latin typeface="Calibri" pitchFamily="34" charset="0"/>
                <a:ea typeface="Calibri" pitchFamily="34" charset="-122"/>
                <a:cs typeface="Calibri" pitchFamily="34" charset="-120"/>
              </a:rPr>
              <a:t> DEFAULT NOW()), and </a:t>
            </a:r>
            <a:r>
              <a:rPr lang="en-US" sz="800" dirty="0" err="1">
                <a:solidFill>
                  <a:srgbClr val="CBD5E1"/>
                </a:solidFill>
                <a:latin typeface="Calibri" pitchFamily="34" charset="0"/>
                <a:ea typeface="Calibri" pitchFamily="34" charset="-122"/>
                <a:cs typeface="Calibri" pitchFamily="34" charset="-120"/>
              </a:rPr>
              <a:t>student_grades</a:t>
            </a:r>
            <a:r>
              <a:rPr lang="en-US" sz="800" dirty="0">
                <a:solidFill>
                  <a:srgbClr val="CBD5E1"/>
                </a:solidFill>
                <a:latin typeface="Calibri" pitchFamily="34" charset="0"/>
                <a:ea typeface="Calibri" pitchFamily="34" charset="-122"/>
                <a:cs typeface="Calibri" pitchFamily="34" charset="-120"/>
              </a:rPr>
              <a:t> (id, </a:t>
            </a:r>
            <a:r>
              <a:rPr lang="en-US" sz="800" dirty="0" err="1">
                <a:solidFill>
                  <a:srgbClr val="CBD5E1"/>
                </a:solidFill>
                <a:latin typeface="Calibri" pitchFamily="34" charset="0"/>
                <a:ea typeface="Calibri" pitchFamily="34" charset="-122"/>
                <a:cs typeface="Calibri" pitchFamily="34" charset="-120"/>
              </a:rPr>
              <a:t>student_id</a:t>
            </a:r>
            <a:r>
              <a:rPr lang="en-US" sz="800" dirty="0">
                <a:solidFill>
                  <a:srgbClr val="CBD5E1"/>
                </a:solidFill>
                <a:latin typeface="Calibri" pitchFamily="34" charset="0"/>
                <a:ea typeface="Calibri" pitchFamily="34" charset="-122"/>
                <a:cs typeface="Calibri" pitchFamily="34" charset="-120"/>
              </a:rPr>
              <a:t> FK, grade CHECK between 0 and 100). Ensure that programs are separated into their own table, grades are not stored as arrays or lists, and student-to-section relationships are normalized using a junction table. Add all necessary PRIMARY KEY, FOREIGN KEY, UNIQUE, DEFAULT, and CHECK constraints to maintain data integrity and ensure the database is in 3NF.</a:t>
            </a:r>
            <a:endParaRPr lang="en-US" sz="800" dirty="0"/>
          </a:p>
        </p:txBody>
      </p:sp>
      <p:sp>
        <p:nvSpPr>
          <p:cNvPr id="15" name="Shape 13"/>
          <p:cNvSpPr/>
          <p:nvPr/>
        </p:nvSpPr>
        <p:spPr>
          <a:xfrm>
            <a:off x="228600" y="1810512"/>
            <a:ext cx="8686800" cy="877824"/>
          </a:xfrm>
          <a:prstGeom prst="rect">
            <a:avLst/>
          </a:prstGeom>
          <a:solidFill>
            <a:srgbClr val="0D1F35"/>
          </a:solidFill>
          <a:ln/>
        </p:spPr>
        <p:txBody>
          <a:bodyPr/>
          <a:lstStyle/>
          <a:p>
            <a:endParaRPr lang="en-PH"/>
          </a:p>
        </p:txBody>
      </p:sp>
      <p:sp>
        <p:nvSpPr>
          <p:cNvPr id="16" name="Shape 14"/>
          <p:cNvSpPr/>
          <p:nvPr/>
        </p:nvSpPr>
        <p:spPr>
          <a:xfrm>
            <a:off x="228600" y="1810512"/>
            <a:ext cx="457200" cy="877824"/>
          </a:xfrm>
          <a:prstGeom prst="rect">
            <a:avLst/>
          </a:prstGeom>
          <a:solidFill>
            <a:srgbClr val="CD172D"/>
          </a:solidFill>
          <a:ln/>
        </p:spPr>
        <p:txBody>
          <a:bodyPr/>
          <a:lstStyle/>
          <a:p>
            <a:endParaRPr lang="en-PH"/>
          </a:p>
        </p:txBody>
      </p:sp>
      <p:sp>
        <p:nvSpPr>
          <p:cNvPr id="17" name="Text 15"/>
          <p:cNvSpPr/>
          <p:nvPr/>
        </p:nvSpPr>
        <p:spPr>
          <a:xfrm>
            <a:off x="228600" y="1810512"/>
            <a:ext cx="457200" cy="87782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Black" pitchFamily="34" charset="0"/>
                <a:ea typeface="Calibri Black" pitchFamily="34" charset="-122"/>
                <a:cs typeface="Calibri Black" pitchFamily="34" charset="-120"/>
              </a:rPr>
              <a:t>2</a:t>
            </a:r>
            <a:endParaRPr lang="en-US" sz="1800" dirty="0"/>
          </a:p>
        </p:txBody>
      </p:sp>
      <p:sp>
        <p:nvSpPr>
          <p:cNvPr id="18" name="Text 16"/>
          <p:cNvSpPr/>
          <p:nvPr/>
        </p:nvSpPr>
        <p:spPr>
          <a:xfrm>
            <a:off x="804672" y="1901952"/>
            <a:ext cx="7955280" cy="256032"/>
          </a:xfrm>
          <a:prstGeom prst="rect">
            <a:avLst/>
          </a:prstGeom>
          <a:noFill/>
          <a:ln/>
        </p:spPr>
        <p:txBody>
          <a:bodyPr wrap="square" lIns="0" tIns="0" rIns="0" bIns="0" rtlCol="0" anchor="ctr"/>
          <a:lstStyle/>
          <a:p>
            <a:pPr marL="0" indent="0">
              <a:buNone/>
            </a:pPr>
            <a:r>
              <a:rPr lang="en-US" sz="1200" b="1" dirty="0">
                <a:solidFill>
                  <a:srgbClr val="CD172D"/>
                </a:solidFill>
                <a:latin typeface="Calibri" pitchFamily="34" charset="0"/>
                <a:ea typeface="Calibri" pitchFamily="34" charset="-122"/>
                <a:cs typeface="Calibri" pitchFamily="34" charset="-120"/>
              </a:rPr>
              <a:t>Part 2 — Seed Data &amp; INSERT (20 min)</a:t>
            </a:r>
            <a:endParaRPr lang="en-US" sz="1200" dirty="0"/>
          </a:p>
        </p:txBody>
      </p:sp>
      <p:sp>
        <p:nvSpPr>
          <p:cNvPr id="19" name="Text 17"/>
          <p:cNvSpPr/>
          <p:nvPr/>
        </p:nvSpPr>
        <p:spPr>
          <a:xfrm>
            <a:off x="804672" y="2212848"/>
            <a:ext cx="7955280" cy="402336"/>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INSERT 4 students, 3 programs, 4 sections, and assign students to sections using the </a:t>
            </a:r>
            <a:r>
              <a:rPr lang="en-US" sz="1050" dirty="0" err="1">
                <a:solidFill>
                  <a:srgbClr val="CBD5E1"/>
                </a:solidFill>
                <a:latin typeface="Calibri" pitchFamily="34" charset="0"/>
                <a:ea typeface="Calibri" pitchFamily="34" charset="-122"/>
                <a:cs typeface="Calibri" pitchFamily="34" charset="-120"/>
              </a:rPr>
              <a:t>student_sections</a:t>
            </a:r>
            <a:r>
              <a:rPr lang="en-US" sz="1050" dirty="0">
                <a:solidFill>
                  <a:srgbClr val="CBD5E1"/>
                </a:solidFill>
                <a:latin typeface="Calibri" pitchFamily="34" charset="0"/>
                <a:ea typeface="Calibri" pitchFamily="34" charset="-122"/>
                <a:cs typeface="Calibri" pitchFamily="34" charset="-120"/>
              </a:rPr>
              <a:t> table. Add at least 2–3 grades per student using the </a:t>
            </a:r>
            <a:r>
              <a:rPr lang="en-US" sz="1050" dirty="0" err="1">
                <a:solidFill>
                  <a:srgbClr val="CBD5E1"/>
                </a:solidFill>
                <a:latin typeface="Calibri" pitchFamily="34" charset="0"/>
                <a:ea typeface="Calibri" pitchFamily="34" charset="-122"/>
                <a:cs typeface="Calibri" pitchFamily="34" charset="-120"/>
              </a:rPr>
              <a:t>student_grades</a:t>
            </a:r>
            <a:r>
              <a:rPr lang="en-US" sz="1050" dirty="0">
                <a:solidFill>
                  <a:srgbClr val="CBD5E1"/>
                </a:solidFill>
                <a:latin typeface="Calibri" pitchFamily="34" charset="0"/>
                <a:ea typeface="Calibri" pitchFamily="34" charset="-122"/>
                <a:cs typeface="Calibri" pitchFamily="34" charset="-120"/>
              </a:rPr>
              <a:t> table. Use RETURNING to capture generated ids during insertion. After inserting all records, verify the data using SELECT COUNT(*) queries on each table including students, programs, sections, </a:t>
            </a:r>
            <a:r>
              <a:rPr lang="en-US" sz="1050" dirty="0" err="1">
                <a:solidFill>
                  <a:srgbClr val="CBD5E1"/>
                </a:solidFill>
                <a:latin typeface="Calibri" pitchFamily="34" charset="0"/>
                <a:ea typeface="Calibri" pitchFamily="34" charset="-122"/>
                <a:cs typeface="Calibri" pitchFamily="34" charset="-120"/>
              </a:rPr>
              <a:t>student_sections</a:t>
            </a:r>
            <a:r>
              <a:rPr lang="en-US" sz="1050" dirty="0">
                <a:solidFill>
                  <a:srgbClr val="CBD5E1"/>
                </a:solidFill>
                <a:latin typeface="Calibri" pitchFamily="34" charset="0"/>
                <a:ea typeface="Calibri" pitchFamily="34" charset="-122"/>
                <a:cs typeface="Calibri" pitchFamily="34" charset="-120"/>
              </a:rPr>
              <a:t>, and </a:t>
            </a:r>
            <a:r>
              <a:rPr lang="en-US" sz="1050" dirty="0" err="1">
                <a:solidFill>
                  <a:srgbClr val="CBD5E1"/>
                </a:solidFill>
                <a:latin typeface="Calibri" pitchFamily="34" charset="0"/>
                <a:ea typeface="Calibri" pitchFamily="34" charset="-122"/>
                <a:cs typeface="Calibri" pitchFamily="34" charset="-120"/>
              </a:rPr>
              <a:t>student_grades</a:t>
            </a:r>
            <a:r>
              <a:rPr lang="en-US" sz="1050" dirty="0">
                <a:solidFill>
                  <a:srgbClr val="CBD5E1"/>
                </a:solidFill>
                <a:latin typeface="Calibri" pitchFamily="34" charset="0"/>
                <a:ea typeface="Calibri" pitchFamily="34" charset="-122"/>
                <a:cs typeface="Calibri" pitchFamily="34" charset="-120"/>
              </a:rPr>
              <a:t>.</a:t>
            </a:r>
            <a:endParaRPr lang="en-US" sz="1050" dirty="0"/>
          </a:p>
        </p:txBody>
      </p:sp>
      <p:sp>
        <p:nvSpPr>
          <p:cNvPr id="20" name="Shape 18"/>
          <p:cNvSpPr/>
          <p:nvPr/>
        </p:nvSpPr>
        <p:spPr>
          <a:xfrm>
            <a:off x="228600" y="2798064"/>
            <a:ext cx="8686800" cy="877824"/>
          </a:xfrm>
          <a:prstGeom prst="rect">
            <a:avLst/>
          </a:prstGeom>
          <a:solidFill>
            <a:srgbClr val="0D1F35"/>
          </a:solidFill>
          <a:ln/>
        </p:spPr>
        <p:txBody>
          <a:bodyPr/>
          <a:lstStyle/>
          <a:p>
            <a:endParaRPr lang="en-PH"/>
          </a:p>
        </p:txBody>
      </p:sp>
      <p:sp>
        <p:nvSpPr>
          <p:cNvPr id="21" name="Shape 19"/>
          <p:cNvSpPr/>
          <p:nvPr/>
        </p:nvSpPr>
        <p:spPr>
          <a:xfrm>
            <a:off x="228600" y="2798064"/>
            <a:ext cx="457200" cy="877824"/>
          </a:xfrm>
          <a:prstGeom prst="rect">
            <a:avLst/>
          </a:prstGeom>
          <a:solidFill>
            <a:srgbClr val="CD172D"/>
          </a:solidFill>
          <a:ln/>
        </p:spPr>
        <p:txBody>
          <a:bodyPr/>
          <a:lstStyle/>
          <a:p>
            <a:endParaRPr lang="en-PH"/>
          </a:p>
        </p:txBody>
      </p:sp>
      <p:sp>
        <p:nvSpPr>
          <p:cNvPr id="22" name="Text 20"/>
          <p:cNvSpPr/>
          <p:nvPr/>
        </p:nvSpPr>
        <p:spPr>
          <a:xfrm>
            <a:off x="228600" y="2798064"/>
            <a:ext cx="457200" cy="87782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Black" pitchFamily="34" charset="0"/>
                <a:ea typeface="Calibri Black" pitchFamily="34" charset="-122"/>
                <a:cs typeface="Calibri Black" pitchFamily="34" charset="-120"/>
              </a:rPr>
              <a:t>3</a:t>
            </a:r>
            <a:endParaRPr lang="en-US" sz="1800" dirty="0"/>
          </a:p>
        </p:txBody>
      </p:sp>
      <p:sp>
        <p:nvSpPr>
          <p:cNvPr id="23" name="Text 21"/>
          <p:cNvSpPr/>
          <p:nvPr/>
        </p:nvSpPr>
        <p:spPr>
          <a:xfrm>
            <a:off x="804672" y="2889504"/>
            <a:ext cx="7955280" cy="256032"/>
          </a:xfrm>
          <a:prstGeom prst="rect">
            <a:avLst/>
          </a:prstGeom>
          <a:noFill/>
          <a:ln/>
        </p:spPr>
        <p:txBody>
          <a:bodyPr wrap="square" lIns="0" tIns="0" rIns="0" bIns="0" rtlCol="0" anchor="ctr"/>
          <a:lstStyle/>
          <a:p>
            <a:pPr marL="0" indent="0">
              <a:buNone/>
            </a:pPr>
            <a:r>
              <a:rPr lang="en-US" sz="1200" b="1" dirty="0">
                <a:solidFill>
                  <a:srgbClr val="CD172D"/>
                </a:solidFill>
                <a:latin typeface="Calibri" pitchFamily="34" charset="0"/>
                <a:ea typeface="Calibri" pitchFamily="34" charset="-122"/>
                <a:cs typeface="Calibri" pitchFamily="34" charset="-120"/>
              </a:rPr>
              <a:t>Part 3 — Queries (40 min)</a:t>
            </a:r>
            <a:endParaRPr lang="en-US" sz="1200" dirty="0"/>
          </a:p>
        </p:txBody>
      </p:sp>
      <p:sp>
        <p:nvSpPr>
          <p:cNvPr id="24" name="Text 22"/>
          <p:cNvSpPr/>
          <p:nvPr/>
        </p:nvSpPr>
        <p:spPr>
          <a:xfrm>
            <a:off x="804672" y="3200400"/>
            <a:ext cx="7955280" cy="402336"/>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Write 8 SQL queries for the Student Enrollment System. The queries should include displaying all students with their program names using JOIN, displaying students with their assigned section codes, retrieving all currently enrolled students, counting the number of students per section using GROUP BY, counting the number of students per program, computing the average grade of each student using AVG, finding students who are not assigned to any section using LEFT JOIN with IS NULL, and finding sections with no students assigned.</a:t>
            </a:r>
            <a:endParaRPr lang="en-US" sz="900" dirty="0"/>
          </a:p>
        </p:txBody>
      </p:sp>
      <p:sp>
        <p:nvSpPr>
          <p:cNvPr id="25" name="Shape 23"/>
          <p:cNvSpPr/>
          <p:nvPr/>
        </p:nvSpPr>
        <p:spPr>
          <a:xfrm>
            <a:off x="228600" y="3785616"/>
            <a:ext cx="8686800" cy="877824"/>
          </a:xfrm>
          <a:prstGeom prst="rect">
            <a:avLst/>
          </a:prstGeom>
          <a:solidFill>
            <a:srgbClr val="0D1F35"/>
          </a:solidFill>
          <a:ln/>
        </p:spPr>
        <p:txBody>
          <a:bodyPr/>
          <a:lstStyle/>
          <a:p>
            <a:endParaRPr lang="en-PH"/>
          </a:p>
        </p:txBody>
      </p:sp>
      <p:sp>
        <p:nvSpPr>
          <p:cNvPr id="26" name="Shape 24"/>
          <p:cNvSpPr/>
          <p:nvPr/>
        </p:nvSpPr>
        <p:spPr>
          <a:xfrm>
            <a:off x="228600" y="3785616"/>
            <a:ext cx="457200" cy="877824"/>
          </a:xfrm>
          <a:prstGeom prst="rect">
            <a:avLst/>
          </a:prstGeom>
          <a:solidFill>
            <a:srgbClr val="CD172D"/>
          </a:solidFill>
          <a:ln/>
        </p:spPr>
        <p:txBody>
          <a:bodyPr/>
          <a:lstStyle/>
          <a:p>
            <a:endParaRPr lang="en-PH"/>
          </a:p>
        </p:txBody>
      </p:sp>
      <p:sp>
        <p:nvSpPr>
          <p:cNvPr id="27" name="Text 25"/>
          <p:cNvSpPr/>
          <p:nvPr/>
        </p:nvSpPr>
        <p:spPr>
          <a:xfrm>
            <a:off x="228600" y="3785616"/>
            <a:ext cx="457200" cy="87782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Black" pitchFamily="34" charset="0"/>
                <a:ea typeface="Calibri Black" pitchFamily="34" charset="-122"/>
                <a:cs typeface="Calibri Black" pitchFamily="34" charset="-120"/>
              </a:rPr>
              <a:t>4</a:t>
            </a:r>
            <a:endParaRPr lang="en-US" sz="1800" dirty="0"/>
          </a:p>
        </p:txBody>
      </p:sp>
      <p:sp>
        <p:nvSpPr>
          <p:cNvPr id="28" name="Text 26"/>
          <p:cNvSpPr/>
          <p:nvPr/>
        </p:nvSpPr>
        <p:spPr>
          <a:xfrm>
            <a:off x="804672" y="3877056"/>
            <a:ext cx="7955280" cy="256032"/>
          </a:xfrm>
          <a:prstGeom prst="rect">
            <a:avLst/>
          </a:prstGeom>
          <a:noFill/>
          <a:ln/>
        </p:spPr>
        <p:txBody>
          <a:bodyPr wrap="square" lIns="0" tIns="0" rIns="0" bIns="0" rtlCol="0" anchor="ctr"/>
          <a:lstStyle/>
          <a:p>
            <a:pPr marL="0" indent="0">
              <a:buNone/>
            </a:pPr>
            <a:r>
              <a:rPr lang="en-US" sz="1200" b="1" dirty="0">
                <a:solidFill>
                  <a:srgbClr val="CD172D"/>
                </a:solidFill>
                <a:latin typeface="Calibri" pitchFamily="34" charset="0"/>
                <a:ea typeface="Calibri" pitchFamily="34" charset="-122"/>
                <a:cs typeface="Calibri" pitchFamily="34" charset="-120"/>
              </a:rPr>
              <a:t>Part 4 — Indexes &amp; Constraints (30 min)</a:t>
            </a:r>
            <a:endParaRPr lang="en-US" sz="1200" dirty="0"/>
          </a:p>
        </p:txBody>
      </p:sp>
      <p:sp>
        <p:nvSpPr>
          <p:cNvPr id="29" name="Text 27"/>
          <p:cNvSpPr/>
          <p:nvPr/>
        </p:nvSpPr>
        <p:spPr>
          <a:xfrm>
            <a:off x="804672" y="4187952"/>
            <a:ext cx="7955280" cy="402336"/>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Add indexes on </a:t>
            </a:r>
            <a:r>
              <a:rPr lang="en-US" sz="900" dirty="0" err="1">
                <a:solidFill>
                  <a:srgbClr val="CBD5E1"/>
                </a:solidFill>
                <a:latin typeface="Calibri" pitchFamily="34" charset="0"/>
                <a:ea typeface="Calibri" pitchFamily="34" charset="-122"/>
                <a:cs typeface="Calibri" pitchFamily="34" charset="-120"/>
              </a:rPr>
              <a:t>students.program_id</a:t>
            </a:r>
            <a:r>
              <a:rPr lang="en-US" sz="900" dirty="0">
                <a:solidFill>
                  <a:srgbClr val="CBD5E1"/>
                </a:solidFill>
                <a:latin typeface="Calibri" pitchFamily="34" charset="0"/>
                <a:ea typeface="Calibri" pitchFamily="34" charset="-122"/>
                <a:cs typeface="Calibri" pitchFamily="34" charset="-120"/>
              </a:rPr>
              <a:t>, </a:t>
            </a:r>
            <a:r>
              <a:rPr lang="en-US" sz="900" dirty="0" err="1">
                <a:solidFill>
                  <a:srgbClr val="CBD5E1"/>
                </a:solidFill>
                <a:latin typeface="Calibri" pitchFamily="34" charset="0"/>
                <a:ea typeface="Calibri" pitchFamily="34" charset="-122"/>
                <a:cs typeface="Calibri" pitchFamily="34" charset="-120"/>
              </a:rPr>
              <a:t>sections.program_id</a:t>
            </a:r>
            <a:r>
              <a:rPr lang="en-US" sz="900" dirty="0">
                <a:solidFill>
                  <a:srgbClr val="CBD5E1"/>
                </a:solidFill>
                <a:latin typeface="Calibri" pitchFamily="34" charset="0"/>
                <a:ea typeface="Calibri" pitchFamily="34" charset="-122"/>
                <a:cs typeface="Calibri" pitchFamily="34" charset="-120"/>
              </a:rPr>
              <a:t>, </a:t>
            </a:r>
            <a:r>
              <a:rPr lang="en-US" sz="900" dirty="0" err="1">
                <a:solidFill>
                  <a:srgbClr val="CBD5E1"/>
                </a:solidFill>
                <a:latin typeface="Calibri" pitchFamily="34" charset="0"/>
                <a:ea typeface="Calibri" pitchFamily="34" charset="-122"/>
                <a:cs typeface="Calibri" pitchFamily="34" charset="-120"/>
              </a:rPr>
              <a:t>student_sections.student_id</a:t>
            </a:r>
            <a:r>
              <a:rPr lang="en-US" sz="900" dirty="0">
                <a:solidFill>
                  <a:srgbClr val="CBD5E1"/>
                </a:solidFill>
                <a:latin typeface="Calibri" pitchFamily="34" charset="0"/>
                <a:ea typeface="Calibri" pitchFamily="34" charset="-122"/>
                <a:cs typeface="Calibri" pitchFamily="34" charset="-120"/>
              </a:rPr>
              <a:t>, </a:t>
            </a:r>
            <a:r>
              <a:rPr lang="en-US" sz="900" dirty="0" err="1">
                <a:solidFill>
                  <a:srgbClr val="CBD5E1"/>
                </a:solidFill>
                <a:latin typeface="Calibri" pitchFamily="34" charset="0"/>
                <a:ea typeface="Calibri" pitchFamily="34" charset="-122"/>
                <a:cs typeface="Calibri" pitchFamily="34" charset="-120"/>
              </a:rPr>
              <a:t>student_sections.section_id</a:t>
            </a:r>
            <a:r>
              <a:rPr lang="en-US" sz="900" dirty="0">
                <a:solidFill>
                  <a:srgbClr val="CBD5E1"/>
                </a:solidFill>
                <a:latin typeface="Calibri" pitchFamily="34" charset="0"/>
                <a:ea typeface="Calibri" pitchFamily="34" charset="-122"/>
                <a:cs typeface="Calibri" pitchFamily="34" charset="-120"/>
              </a:rPr>
              <a:t>, and </a:t>
            </a:r>
            <a:r>
              <a:rPr lang="en-US" sz="900" dirty="0" err="1">
                <a:solidFill>
                  <a:srgbClr val="CBD5E1"/>
                </a:solidFill>
                <a:latin typeface="Calibri" pitchFamily="34" charset="0"/>
                <a:ea typeface="Calibri" pitchFamily="34" charset="-122"/>
                <a:cs typeface="Calibri" pitchFamily="34" charset="-120"/>
              </a:rPr>
              <a:t>student_grades.student_id</a:t>
            </a:r>
            <a:r>
              <a:rPr lang="en-US" sz="900" dirty="0">
                <a:solidFill>
                  <a:srgbClr val="CBD5E1"/>
                </a:solidFill>
                <a:latin typeface="Calibri" pitchFamily="34" charset="0"/>
                <a:ea typeface="Calibri" pitchFamily="34" charset="-122"/>
                <a:cs typeface="Calibri" pitchFamily="34" charset="-120"/>
              </a:rPr>
              <a:t> to improve query performance. Use EXPLAIN ANALYZE before and after creating indexes to compare query execution plans and performance improvements. Ensure that appropriate CHECK constraints are implemented, particularly for year values and grade ranges, to enforce valid and consistent data within the database.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rgbClr val="CD172D"/>
          </a:solidFill>
          <a:ln/>
        </p:spPr>
        <p:txBody>
          <a:bodyPr/>
          <a:lstStyle/>
          <a:p>
            <a:endParaRPr lang="en-PH"/>
          </a:p>
        </p:txBody>
      </p:sp>
      <p:sp>
        <p:nvSpPr>
          <p:cNvPr id="3" name="Shape 1"/>
          <p:cNvSpPr/>
          <p:nvPr/>
        </p:nvSpPr>
        <p:spPr>
          <a:xfrm>
            <a:off x="0" y="4892040"/>
            <a:ext cx="9144000" cy="251460"/>
          </a:xfrm>
          <a:prstGeom prst="rect">
            <a:avLst/>
          </a:prstGeom>
          <a:solidFill>
            <a:srgbClr val="CD172D"/>
          </a:solidFill>
          <a:ln/>
        </p:spPr>
        <p:txBody>
          <a:bodyPr/>
          <a:lstStyle/>
          <a:p>
            <a:endParaRPr lang="en-PH"/>
          </a:p>
        </p:txBody>
      </p:sp>
      <p:sp>
        <p:nvSpPr>
          <p:cNvPr id="4" name="Text 2"/>
          <p:cNvSpPr/>
          <p:nvPr/>
        </p:nvSpPr>
        <p:spPr>
          <a:xfrm>
            <a:off x="137160" y="4901184"/>
            <a:ext cx="5943600" cy="201168"/>
          </a:xfrm>
          <a:prstGeom prst="rect">
            <a:avLst/>
          </a:prstGeom>
          <a:noFill/>
          <a:ln/>
        </p:spPr>
        <p:txBody>
          <a:bodyPr wrap="square" lIns="0" tIns="0" rIns="0" bIns="0" rtlCol="0" anchor="ctr"/>
          <a:lstStyle/>
          <a:p>
            <a:pPr marL="0" indent="0">
              <a:buNone/>
            </a:pPr>
            <a:r>
              <a:rPr lang="en-US" sz="700" dirty="0">
                <a:solidFill>
                  <a:srgbClr val="FFCCCC"/>
                </a:solidFill>
                <a:latin typeface="Calibri" pitchFamily="34" charset="0"/>
                <a:ea typeface="Calibri" pitchFamily="34" charset="-122"/>
                <a:cs typeface="Calibri" pitchFamily="34" charset="-120"/>
              </a:rPr>
              <a:t>© 2026 Open iT, Inc. All rights reserved. | ISO/IEC 27001:2022 Certified</a:t>
            </a:r>
            <a:endParaRPr lang="en-US" sz="700" dirty="0"/>
          </a:p>
        </p:txBody>
      </p:sp>
      <p:sp>
        <p:nvSpPr>
          <p:cNvPr id="5" name="Text 3"/>
          <p:cNvSpPr/>
          <p:nvPr/>
        </p:nvSpPr>
        <p:spPr>
          <a:xfrm>
            <a:off x="0" y="4901184"/>
            <a:ext cx="164592" cy="201168"/>
          </a:xfrm>
          <a:prstGeom prst="rect">
            <a:avLst/>
          </a:prstGeom>
          <a:noFill/>
          <a:ln/>
        </p:spPr>
        <p:txBody>
          <a:bodyPr wrap="square" lIns="0" tIns="0" rIns="0" bIns="0" rtlCol="0" anchor="ctr"/>
          <a:lstStyle/>
          <a:p>
            <a:pPr marL="0" indent="0" algn="ctr">
              <a:buNone/>
            </a:pPr>
            <a:r>
              <a:rPr lang="en-US" sz="700" b="1" dirty="0">
                <a:solidFill>
                  <a:srgbClr val="FFCCCC"/>
                </a:solidFill>
                <a:latin typeface="Calibri" pitchFamily="34" charset="0"/>
                <a:ea typeface="Calibri" pitchFamily="34" charset="-122"/>
                <a:cs typeface="Calibri" pitchFamily="34" charset="-120"/>
              </a:rPr>
              <a:t>19</a:t>
            </a:r>
            <a:endParaRPr lang="en-US" sz="700" dirty="0"/>
          </a:p>
        </p:txBody>
      </p:sp>
      <p:sp>
        <p:nvSpPr>
          <p:cNvPr id="6" name="Text 4"/>
          <p:cNvSpPr/>
          <p:nvPr/>
        </p:nvSpPr>
        <p:spPr>
          <a:xfrm>
            <a:off x="6534443" y="4347972"/>
            <a:ext cx="1828800" cy="128016"/>
          </a:xfrm>
          <a:prstGeom prst="rect">
            <a:avLst/>
          </a:prstGeom>
          <a:noFill/>
          <a:ln/>
        </p:spPr>
        <p:txBody>
          <a:bodyPr wrap="square" lIns="0" tIns="0" rIns="0" bIns="0" rtlCol="0" anchor="ctr"/>
          <a:lstStyle/>
          <a:p>
            <a:pPr marL="0" indent="0" algn="r">
              <a:buNone/>
            </a:pPr>
            <a:r>
              <a:rPr lang="en-US" sz="600" b="1" dirty="0">
                <a:solidFill>
                  <a:srgbClr val="FFCCCC"/>
                </a:solidFill>
                <a:latin typeface="Calibri" pitchFamily="34" charset="0"/>
                <a:ea typeface="Calibri" pitchFamily="34" charset="-122"/>
                <a:cs typeface="Calibri" pitchFamily="34" charset="-120"/>
              </a:rPr>
              <a:t>OPEN IT SUMMER  BOOTCAMP</a:t>
            </a:r>
            <a:endParaRPr lang="en-US" sz="600" dirty="0"/>
          </a:p>
        </p:txBody>
      </p:sp>
      <p:sp>
        <p:nvSpPr>
          <p:cNvPr id="7" name="Shape 5"/>
          <p:cNvSpPr/>
          <p:nvPr/>
        </p:nvSpPr>
        <p:spPr>
          <a:xfrm>
            <a:off x="0" y="0"/>
            <a:ext cx="2286000" cy="5143500"/>
          </a:xfrm>
          <a:prstGeom prst="rect">
            <a:avLst/>
          </a:prstGeom>
          <a:solidFill>
            <a:srgbClr val="CD172D"/>
          </a:solidFill>
          <a:ln/>
        </p:spPr>
        <p:txBody>
          <a:bodyPr/>
          <a:lstStyle/>
          <a:p>
            <a:endParaRPr lang="en-PH"/>
          </a:p>
        </p:txBody>
      </p:sp>
      <p:sp>
        <p:nvSpPr>
          <p:cNvPr id="8" name="Shape 6"/>
          <p:cNvSpPr/>
          <p:nvPr/>
        </p:nvSpPr>
        <p:spPr>
          <a:xfrm>
            <a:off x="0" y="0"/>
            <a:ext cx="2286000" cy="9144"/>
          </a:xfrm>
          <a:prstGeom prst="rect">
            <a:avLst/>
          </a:prstGeom>
          <a:solidFill>
            <a:srgbClr val="9B1120"/>
          </a:solidFill>
          <a:ln/>
        </p:spPr>
        <p:txBody>
          <a:bodyPr/>
          <a:lstStyle/>
          <a:p>
            <a:endParaRPr lang="en-PH"/>
          </a:p>
        </p:txBody>
      </p:sp>
      <p:sp>
        <p:nvSpPr>
          <p:cNvPr id="9" name="Shape 7"/>
          <p:cNvSpPr/>
          <p:nvPr/>
        </p:nvSpPr>
        <p:spPr>
          <a:xfrm>
            <a:off x="0" y="182880"/>
            <a:ext cx="2286000" cy="9144"/>
          </a:xfrm>
          <a:prstGeom prst="rect">
            <a:avLst/>
          </a:prstGeom>
          <a:solidFill>
            <a:srgbClr val="9B1120"/>
          </a:solidFill>
          <a:ln/>
        </p:spPr>
        <p:txBody>
          <a:bodyPr/>
          <a:lstStyle/>
          <a:p>
            <a:endParaRPr lang="en-PH"/>
          </a:p>
        </p:txBody>
      </p:sp>
      <p:sp>
        <p:nvSpPr>
          <p:cNvPr id="10" name="Shape 8"/>
          <p:cNvSpPr/>
          <p:nvPr/>
        </p:nvSpPr>
        <p:spPr>
          <a:xfrm>
            <a:off x="0" y="365760"/>
            <a:ext cx="2286000" cy="9144"/>
          </a:xfrm>
          <a:prstGeom prst="rect">
            <a:avLst/>
          </a:prstGeom>
          <a:solidFill>
            <a:srgbClr val="9B1120"/>
          </a:solidFill>
          <a:ln/>
        </p:spPr>
        <p:txBody>
          <a:bodyPr/>
          <a:lstStyle/>
          <a:p>
            <a:endParaRPr lang="en-PH"/>
          </a:p>
        </p:txBody>
      </p:sp>
      <p:sp>
        <p:nvSpPr>
          <p:cNvPr id="11" name="Shape 9"/>
          <p:cNvSpPr/>
          <p:nvPr/>
        </p:nvSpPr>
        <p:spPr>
          <a:xfrm>
            <a:off x="0" y="548640"/>
            <a:ext cx="2286000" cy="9144"/>
          </a:xfrm>
          <a:prstGeom prst="rect">
            <a:avLst/>
          </a:prstGeom>
          <a:solidFill>
            <a:srgbClr val="9B1120"/>
          </a:solidFill>
          <a:ln/>
        </p:spPr>
        <p:txBody>
          <a:bodyPr/>
          <a:lstStyle/>
          <a:p>
            <a:endParaRPr lang="en-PH"/>
          </a:p>
        </p:txBody>
      </p:sp>
      <p:sp>
        <p:nvSpPr>
          <p:cNvPr id="12" name="Shape 10"/>
          <p:cNvSpPr/>
          <p:nvPr/>
        </p:nvSpPr>
        <p:spPr>
          <a:xfrm>
            <a:off x="0" y="731520"/>
            <a:ext cx="2286000" cy="9144"/>
          </a:xfrm>
          <a:prstGeom prst="rect">
            <a:avLst/>
          </a:prstGeom>
          <a:solidFill>
            <a:srgbClr val="9B1120"/>
          </a:solidFill>
          <a:ln/>
        </p:spPr>
        <p:txBody>
          <a:bodyPr/>
          <a:lstStyle/>
          <a:p>
            <a:endParaRPr lang="en-PH"/>
          </a:p>
        </p:txBody>
      </p:sp>
      <p:sp>
        <p:nvSpPr>
          <p:cNvPr id="13" name="Shape 11"/>
          <p:cNvSpPr/>
          <p:nvPr/>
        </p:nvSpPr>
        <p:spPr>
          <a:xfrm>
            <a:off x="0" y="914400"/>
            <a:ext cx="2286000" cy="9144"/>
          </a:xfrm>
          <a:prstGeom prst="rect">
            <a:avLst/>
          </a:prstGeom>
          <a:solidFill>
            <a:srgbClr val="9B1120"/>
          </a:solidFill>
          <a:ln/>
        </p:spPr>
        <p:txBody>
          <a:bodyPr/>
          <a:lstStyle/>
          <a:p>
            <a:endParaRPr lang="en-PH"/>
          </a:p>
        </p:txBody>
      </p:sp>
      <p:sp>
        <p:nvSpPr>
          <p:cNvPr id="14" name="Shape 12"/>
          <p:cNvSpPr/>
          <p:nvPr/>
        </p:nvSpPr>
        <p:spPr>
          <a:xfrm>
            <a:off x="0" y="1097280"/>
            <a:ext cx="2286000" cy="9144"/>
          </a:xfrm>
          <a:prstGeom prst="rect">
            <a:avLst/>
          </a:prstGeom>
          <a:solidFill>
            <a:srgbClr val="9B1120"/>
          </a:solidFill>
          <a:ln/>
        </p:spPr>
        <p:txBody>
          <a:bodyPr/>
          <a:lstStyle/>
          <a:p>
            <a:endParaRPr lang="en-PH"/>
          </a:p>
        </p:txBody>
      </p:sp>
      <p:sp>
        <p:nvSpPr>
          <p:cNvPr id="15" name="Shape 13"/>
          <p:cNvSpPr/>
          <p:nvPr/>
        </p:nvSpPr>
        <p:spPr>
          <a:xfrm>
            <a:off x="0" y="1280160"/>
            <a:ext cx="2286000" cy="9144"/>
          </a:xfrm>
          <a:prstGeom prst="rect">
            <a:avLst/>
          </a:prstGeom>
          <a:solidFill>
            <a:srgbClr val="9B1120"/>
          </a:solidFill>
          <a:ln/>
        </p:spPr>
        <p:txBody>
          <a:bodyPr/>
          <a:lstStyle/>
          <a:p>
            <a:endParaRPr lang="en-PH"/>
          </a:p>
        </p:txBody>
      </p:sp>
      <p:sp>
        <p:nvSpPr>
          <p:cNvPr id="16" name="Shape 14"/>
          <p:cNvSpPr/>
          <p:nvPr/>
        </p:nvSpPr>
        <p:spPr>
          <a:xfrm>
            <a:off x="0" y="1463040"/>
            <a:ext cx="2286000" cy="9144"/>
          </a:xfrm>
          <a:prstGeom prst="rect">
            <a:avLst/>
          </a:prstGeom>
          <a:solidFill>
            <a:srgbClr val="9B1120"/>
          </a:solidFill>
          <a:ln/>
        </p:spPr>
        <p:txBody>
          <a:bodyPr/>
          <a:lstStyle/>
          <a:p>
            <a:endParaRPr lang="en-PH"/>
          </a:p>
        </p:txBody>
      </p:sp>
      <p:sp>
        <p:nvSpPr>
          <p:cNvPr id="17" name="Shape 15"/>
          <p:cNvSpPr/>
          <p:nvPr/>
        </p:nvSpPr>
        <p:spPr>
          <a:xfrm>
            <a:off x="0" y="1645920"/>
            <a:ext cx="2286000" cy="9144"/>
          </a:xfrm>
          <a:prstGeom prst="rect">
            <a:avLst/>
          </a:prstGeom>
          <a:solidFill>
            <a:srgbClr val="9B1120"/>
          </a:solidFill>
          <a:ln/>
        </p:spPr>
        <p:txBody>
          <a:bodyPr/>
          <a:lstStyle/>
          <a:p>
            <a:endParaRPr lang="en-PH"/>
          </a:p>
        </p:txBody>
      </p:sp>
      <p:sp>
        <p:nvSpPr>
          <p:cNvPr id="18" name="Shape 16"/>
          <p:cNvSpPr/>
          <p:nvPr/>
        </p:nvSpPr>
        <p:spPr>
          <a:xfrm>
            <a:off x="0" y="1828800"/>
            <a:ext cx="2286000" cy="9144"/>
          </a:xfrm>
          <a:prstGeom prst="rect">
            <a:avLst/>
          </a:prstGeom>
          <a:solidFill>
            <a:srgbClr val="9B1120"/>
          </a:solidFill>
          <a:ln/>
        </p:spPr>
        <p:txBody>
          <a:bodyPr/>
          <a:lstStyle/>
          <a:p>
            <a:endParaRPr lang="en-PH"/>
          </a:p>
        </p:txBody>
      </p:sp>
      <p:sp>
        <p:nvSpPr>
          <p:cNvPr id="19" name="Shape 17"/>
          <p:cNvSpPr/>
          <p:nvPr/>
        </p:nvSpPr>
        <p:spPr>
          <a:xfrm>
            <a:off x="0" y="2011680"/>
            <a:ext cx="2286000" cy="9144"/>
          </a:xfrm>
          <a:prstGeom prst="rect">
            <a:avLst/>
          </a:prstGeom>
          <a:solidFill>
            <a:srgbClr val="9B1120"/>
          </a:solidFill>
          <a:ln/>
        </p:spPr>
        <p:txBody>
          <a:bodyPr/>
          <a:lstStyle/>
          <a:p>
            <a:endParaRPr lang="en-PH"/>
          </a:p>
        </p:txBody>
      </p:sp>
      <p:sp>
        <p:nvSpPr>
          <p:cNvPr id="20" name="Shape 18"/>
          <p:cNvSpPr/>
          <p:nvPr/>
        </p:nvSpPr>
        <p:spPr>
          <a:xfrm>
            <a:off x="0" y="2194560"/>
            <a:ext cx="2286000" cy="9144"/>
          </a:xfrm>
          <a:prstGeom prst="rect">
            <a:avLst/>
          </a:prstGeom>
          <a:solidFill>
            <a:srgbClr val="9B1120"/>
          </a:solidFill>
          <a:ln/>
        </p:spPr>
        <p:txBody>
          <a:bodyPr/>
          <a:lstStyle/>
          <a:p>
            <a:endParaRPr lang="en-PH"/>
          </a:p>
        </p:txBody>
      </p:sp>
      <p:sp>
        <p:nvSpPr>
          <p:cNvPr id="21" name="Shape 19"/>
          <p:cNvSpPr/>
          <p:nvPr/>
        </p:nvSpPr>
        <p:spPr>
          <a:xfrm>
            <a:off x="0" y="2377440"/>
            <a:ext cx="2286000" cy="9144"/>
          </a:xfrm>
          <a:prstGeom prst="rect">
            <a:avLst/>
          </a:prstGeom>
          <a:solidFill>
            <a:srgbClr val="9B1120"/>
          </a:solidFill>
          <a:ln/>
        </p:spPr>
        <p:txBody>
          <a:bodyPr/>
          <a:lstStyle/>
          <a:p>
            <a:endParaRPr lang="en-PH"/>
          </a:p>
        </p:txBody>
      </p:sp>
      <p:sp>
        <p:nvSpPr>
          <p:cNvPr id="22" name="Shape 20"/>
          <p:cNvSpPr/>
          <p:nvPr/>
        </p:nvSpPr>
        <p:spPr>
          <a:xfrm>
            <a:off x="0" y="2560320"/>
            <a:ext cx="2286000" cy="9144"/>
          </a:xfrm>
          <a:prstGeom prst="rect">
            <a:avLst/>
          </a:prstGeom>
          <a:solidFill>
            <a:srgbClr val="9B1120"/>
          </a:solidFill>
          <a:ln/>
        </p:spPr>
        <p:txBody>
          <a:bodyPr/>
          <a:lstStyle/>
          <a:p>
            <a:endParaRPr lang="en-PH"/>
          </a:p>
        </p:txBody>
      </p:sp>
      <p:sp>
        <p:nvSpPr>
          <p:cNvPr id="23" name="Shape 21"/>
          <p:cNvSpPr/>
          <p:nvPr/>
        </p:nvSpPr>
        <p:spPr>
          <a:xfrm>
            <a:off x="0" y="2743200"/>
            <a:ext cx="2286000" cy="9144"/>
          </a:xfrm>
          <a:prstGeom prst="rect">
            <a:avLst/>
          </a:prstGeom>
          <a:solidFill>
            <a:srgbClr val="9B1120"/>
          </a:solidFill>
          <a:ln/>
        </p:spPr>
        <p:txBody>
          <a:bodyPr/>
          <a:lstStyle/>
          <a:p>
            <a:endParaRPr lang="en-PH"/>
          </a:p>
        </p:txBody>
      </p:sp>
      <p:sp>
        <p:nvSpPr>
          <p:cNvPr id="24" name="Shape 22"/>
          <p:cNvSpPr/>
          <p:nvPr/>
        </p:nvSpPr>
        <p:spPr>
          <a:xfrm>
            <a:off x="0" y="2926080"/>
            <a:ext cx="2286000" cy="9144"/>
          </a:xfrm>
          <a:prstGeom prst="rect">
            <a:avLst/>
          </a:prstGeom>
          <a:solidFill>
            <a:srgbClr val="9B1120"/>
          </a:solidFill>
          <a:ln/>
        </p:spPr>
        <p:txBody>
          <a:bodyPr/>
          <a:lstStyle/>
          <a:p>
            <a:endParaRPr lang="en-PH"/>
          </a:p>
        </p:txBody>
      </p:sp>
      <p:sp>
        <p:nvSpPr>
          <p:cNvPr id="25" name="Shape 23"/>
          <p:cNvSpPr/>
          <p:nvPr/>
        </p:nvSpPr>
        <p:spPr>
          <a:xfrm>
            <a:off x="0" y="3108960"/>
            <a:ext cx="2286000" cy="9144"/>
          </a:xfrm>
          <a:prstGeom prst="rect">
            <a:avLst/>
          </a:prstGeom>
          <a:solidFill>
            <a:srgbClr val="9B1120"/>
          </a:solidFill>
          <a:ln/>
        </p:spPr>
        <p:txBody>
          <a:bodyPr/>
          <a:lstStyle/>
          <a:p>
            <a:endParaRPr lang="en-PH"/>
          </a:p>
        </p:txBody>
      </p:sp>
      <p:sp>
        <p:nvSpPr>
          <p:cNvPr id="26" name="Shape 24"/>
          <p:cNvSpPr/>
          <p:nvPr/>
        </p:nvSpPr>
        <p:spPr>
          <a:xfrm>
            <a:off x="0" y="3291840"/>
            <a:ext cx="2286000" cy="9144"/>
          </a:xfrm>
          <a:prstGeom prst="rect">
            <a:avLst/>
          </a:prstGeom>
          <a:solidFill>
            <a:srgbClr val="9B1120"/>
          </a:solidFill>
          <a:ln/>
        </p:spPr>
        <p:txBody>
          <a:bodyPr/>
          <a:lstStyle/>
          <a:p>
            <a:endParaRPr lang="en-PH"/>
          </a:p>
        </p:txBody>
      </p:sp>
      <p:sp>
        <p:nvSpPr>
          <p:cNvPr id="27" name="Shape 25"/>
          <p:cNvSpPr/>
          <p:nvPr/>
        </p:nvSpPr>
        <p:spPr>
          <a:xfrm>
            <a:off x="0" y="3474720"/>
            <a:ext cx="2286000" cy="9144"/>
          </a:xfrm>
          <a:prstGeom prst="rect">
            <a:avLst/>
          </a:prstGeom>
          <a:solidFill>
            <a:srgbClr val="9B1120"/>
          </a:solidFill>
          <a:ln/>
        </p:spPr>
        <p:txBody>
          <a:bodyPr/>
          <a:lstStyle/>
          <a:p>
            <a:endParaRPr lang="en-PH"/>
          </a:p>
        </p:txBody>
      </p:sp>
      <p:sp>
        <p:nvSpPr>
          <p:cNvPr id="28" name="Shape 26"/>
          <p:cNvSpPr/>
          <p:nvPr/>
        </p:nvSpPr>
        <p:spPr>
          <a:xfrm>
            <a:off x="0" y="3657600"/>
            <a:ext cx="2286000" cy="9144"/>
          </a:xfrm>
          <a:prstGeom prst="rect">
            <a:avLst/>
          </a:prstGeom>
          <a:solidFill>
            <a:srgbClr val="9B1120"/>
          </a:solidFill>
          <a:ln/>
        </p:spPr>
        <p:txBody>
          <a:bodyPr/>
          <a:lstStyle/>
          <a:p>
            <a:endParaRPr lang="en-PH"/>
          </a:p>
        </p:txBody>
      </p:sp>
      <p:sp>
        <p:nvSpPr>
          <p:cNvPr id="29" name="Shape 27"/>
          <p:cNvSpPr/>
          <p:nvPr/>
        </p:nvSpPr>
        <p:spPr>
          <a:xfrm>
            <a:off x="0" y="3840480"/>
            <a:ext cx="2286000" cy="9144"/>
          </a:xfrm>
          <a:prstGeom prst="rect">
            <a:avLst/>
          </a:prstGeom>
          <a:solidFill>
            <a:srgbClr val="9B1120"/>
          </a:solidFill>
          <a:ln/>
        </p:spPr>
        <p:txBody>
          <a:bodyPr/>
          <a:lstStyle/>
          <a:p>
            <a:endParaRPr lang="en-PH"/>
          </a:p>
        </p:txBody>
      </p:sp>
      <p:sp>
        <p:nvSpPr>
          <p:cNvPr id="30" name="Shape 28"/>
          <p:cNvSpPr/>
          <p:nvPr/>
        </p:nvSpPr>
        <p:spPr>
          <a:xfrm>
            <a:off x="0" y="4023360"/>
            <a:ext cx="2286000" cy="9144"/>
          </a:xfrm>
          <a:prstGeom prst="rect">
            <a:avLst/>
          </a:prstGeom>
          <a:solidFill>
            <a:srgbClr val="9B1120"/>
          </a:solidFill>
          <a:ln/>
        </p:spPr>
        <p:txBody>
          <a:bodyPr/>
          <a:lstStyle/>
          <a:p>
            <a:endParaRPr lang="en-PH"/>
          </a:p>
        </p:txBody>
      </p:sp>
      <p:sp>
        <p:nvSpPr>
          <p:cNvPr id="31" name="Shape 29"/>
          <p:cNvSpPr/>
          <p:nvPr/>
        </p:nvSpPr>
        <p:spPr>
          <a:xfrm>
            <a:off x="0" y="4206240"/>
            <a:ext cx="2286000" cy="9144"/>
          </a:xfrm>
          <a:prstGeom prst="rect">
            <a:avLst/>
          </a:prstGeom>
          <a:solidFill>
            <a:srgbClr val="9B1120"/>
          </a:solidFill>
          <a:ln/>
        </p:spPr>
        <p:txBody>
          <a:bodyPr/>
          <a:lstStyle/>
          <a:p>
            <a:endParaRPr lang="en-PH"/>
          </a:p>
        </p:txBody>
      </p:sp>
      <p:sp>
        <p:nvSpPr>
          <p:cNvPr id="32" name="Shape 30"/>
          <p:cNvSpPr/>
          <p:nvPr/>
        </p:nvSpPr>
        <p:spPr>
          <a:xfrm>
            <a:off x="0" y="4389120"/>
            <a:ext cx="2286000" cy="9144"/>
          </a:xfrm>
          <a:prstGeom prst="rect">
            <a:avLst/>
          </a:prstGeom>
          <a:solidFill>
            <a:srgbClr val="9B1120"/>
          </a:solidFill>
          <a:ln/>
        </p:spPr>
        <p:txBody>
          <a:bodyPr/>
          <a:lstStyle/>
          <a:p>
            <a:endParaRPr lang="en-PH"/>
          </a:p>
        </p:txBody>
      </p:sp>
      <p:sp>
        <p:nvSpPr>
          <p:cNvPr id="33" name="Shape 31"/>
          <p:cNvSpPr/>
          <p:nvPr/>
        </p:nvSpPr>
        <p:spPr>
          <a:xfrm>
            <a:off x="0" y="4572000"/>
            <a:ext cx="2286000" cy="9144"/>
          </a:xfrm>
          <a:prstGeom prst="rect">
            <a:avLst/>
          </a:prstGeom>
          <a:solidFill>
            <a:srgbClr val="9B1120"/>
          </a:solidFill>
          <a:ln/>
        </p:spPr>
        <p:txBody>
          <a:bodyPr/>
          <a:lstStyle/>
          <a:p>
            <a:endParaRPr lang="en-PH"/>
          </a:p>
        </p:txBody>
      </p:sp>
      <p:sp>
        <p:nvSpPr>
          <p:cNvPr id="34" name="Shape 32"/>
          <p:cNvSpPr/>
          <p:nvPr/>
        </p:nvSpPr>
        <p:spPr>
          <a:xfrm>
            <a:off x="0" y="4754880"/>
            <a:ext cx="2286000" cy="9144"/>
          </a:xfrm>
          <a:prstGeom prst="rect">
            <a:avLst/>
          </a:prstGeom>
          <a:solidFill>
            <a:srgbClr val="9B1120"/>
          </a:solidFill>
          <a:ln/>
        </p:spPr>
        <p:txBody>
          <a:bodyPr/>
          <a:lstStyle/>
          <a:p>
            <a:endParaRPr lang="en-PH"/>
          </a:p>
        </p:txBody>
      </p:sp>
      <p:sp>
        <p:nvSpPr>
          <p:cNvPr id="35" name="Shape 33"/>
          <p:cNvSpPr/>
          <p:nvPr/>
        </p:nvSpPr>
        <p:spPr>
          <a:xfrm>
            <a:off x="0" y="4937760"/>
            <a:ext cx="2286000" cy="9144"/>
          </a:xfrm>
          <a:prstGeom prst="rect">
            <a:avLst/>
          </a:prstGeom>
          <a:solidFill>
            <a:srgbClr val="9B1120"/>
          </a:solidFill>
          <a:ln/>
        </p:spPr>
        <p:txBody>
          <a:bodyPr/>
          <a:lstStyle/>
          <a:p>
            <a:endParaRPr lang="en-PH"/>
          </a:p>
        </p:txBody>
      </p:sp>
      <p:sp>
        <p:nvSpPr>
          <p:cNvPr id="36" name="Text 34"/>
          <p:cNvSpPr/>
          <p:nvPr/>
        </p:nvSpPr>
        <p:spPr>
          <a:xfrm>
            <a:off x="137160" y="914400"/>
            <a:ext cx="2029968" cy="2286000"/>
          </a:xfrm>
          <a:prstGeom prst="rect">
            <a:avLst/>
          </a:prstGeom>
          <a:noFill/>
          <a:ln/>
        </p:spPr>
        <p:txBody>
          <a:bodyPr wrap="square" lIns="0" tIns="0" rIns="0" bIns="0" rtlCol="0" anchor="ctr"/>
          <a:lstStyle/>
          <a:p>
            <a:pPr marL="0" indent="0">
              <a:buNone/>
            </a:pPr>
            <a:r>
              <a:rPr lang="en-US" sz="2200" b="1" dirty="0">
                <a:solidFill>
                  <a:srgbClr val="FFFFFF"/>
                </a:solidFill>
                <a:latin typeface="Calibri Black" pitchFamily="34" charset="0"/>
                <a:ea typeface="Calibri Black" pitchFamily="34" charset="-122"/>
                <a:cs typeface="Calibri Black" pitchFamily="34" charset="-120"/>
              </a:rPr>
              <a:t>References</a:t>
            </a:r>
            <a:endParaRPr lang="en-US" sz="2200" dirty="0"/>
          </a:p>
          <a:p>
            <a:pPr marL="0" indent="0">
              <a:buNone/>
            </a:pPr>
            <a:r>
              <a:rPr lang="en-US" sz="2200" b="1" dirty="0">
                <a:solidFill>
                  <a:srgbClr val="FFFFFF"/>
                </a:solidFill>
                <a:latin typeface="Calibri Black" pitchFamily="34" charset="0"/>
                <a:ea typeface="Calibri Black" pitchFamily="34" charset="-122"/>
                <a:cs typeface="Calibri Black" pitchFamily="34" charset="-120"/>
              </a:rPr>
              <a:t>&amp; Further</a:t>
            </a:r>
            <a:endParaRPr lang="en-US" sz="2200" dirty="0"/>
          </a:p>
          <a:p>
            <a:pPr marL="0" indent="0">
              <a:buNone/>
            </a:pPr>
            <a:r>
              <a:rPr lang="en-US" sz="2200" b="1" dirty="0">
                <a:solidFill>
                  <a:srgbClr val="FFFFFF"/>
                </a:solidFill>
                <a:latin typeface="Calibri Black" pitchFamily="34" charset="0"/>
                <a:ea typeface="Calibri Black" pitchFamily="34" charset="-122"/>
                <a:cs typeface="Calibri Black" pitchFamily="34" charset="-120"/>
              </a:rPr>
              <a:t>Reading</a:t>
            </a:r>
            <a:endParaRPr lang="en-US" sz="2200" dirty="0"/>
          </a:p>
        </p:txBody>
      </p:sp>
      <p:sp>
        <p:nvSpPr>
          <p:cNvPr id="37" name="Text 35"/>
          <p:cNvSpPr/>
          <p:nvPr/>
        </p:nvSpPr>
        <p:spPr>
          <a:xfrm>
            <a:off x="137160" y="3749040"/>
            <a:ext cx="2011680" cy="320040"/>
          </a:xfrm>
          <a:prstGeom prst="rect">
            <a:avLst/>
          </a:prstGeom>
          <a:noFill/>
          <a:ln/>
        </p:spPr>
        <p:txBody>
          <a:bodyPr wrap="square" lIns="0" tIns="0" rIns="0" bIns="0" rtlCol="0" anchor="ctr"/>
          <a:lstStyle/>
          <a:p>
            <a:pPr marL="0" indent="0">
              <a:buNone/>
            </a:pPr>
            <a:r>
              <a:rPr lang="en-US" sz="1200" i="1" dirty="0">
                <a:solidFill>
                  <a:srgbClr val="FFAAAA"/>
                </a:solidFill>
                <a:latin typeface="Calibri" pitchFamily="34" charset="0"/>
                <a:ea typeface="Calibri" pitchFamily="34" charset="-122"/>
                <a:cs typeface="Calibri" pitchFamily="34" charset="-120"/>
              </a:rPr>
              <a:t>Day 6</a:t>
            </a:r>
            <a:endParaRPr lang="en-US" sz="1200" dirty="0"/>
          </a:p>
        </p:txBody>
      </p:sp>
      <p:sp>
        <p:nvSpPr>
          <p:cNvPr id="38" name="Shape 36"/>
          <p:cNvSpPr/>
          <p:nvPr/>
        </p:nvSpPr>
        <p:spPr>
          <a:xfrm>
            <a:off x="2373923" y="411480"/>
            <a:ext cx="6492240" cy="429768"/>
          </a:xfrm>
          <a:prstGeom prst="rect">
            <a:avLst/>
          </a:prstGeom>
          <a:solidFill>
            <a:srgbClr val="FFFFFF"/>
          </a:solidFill>
          <a:ln/>
        </p:spPr>
        <p:txBody>
          <a:bodyPr/>
          <a:lstStyle/>
          <a:p>
            <a:endParaRPr lang="en-PH"/>
          </a:p>
        </p:txBody>
      </p:sp>
      <p:sp>
        <p:nvSpPr>
          <p:cNvPr id="39" name="Text 37"/>
          <p:cNvSpPr/>
          <p:nvPr/>
        </p:nvSpPr>
        <p:spPr>
          <a:xfrm>
            <a:off x="2437931" y="484632"/>
            <a:ext cx="365760" cy="237744"/>
          </a:xfrm>
          <a:prstGeom prst="rect">
            <a:avLst/>
          </a:prstGeom>
          <a:noFill/>
          <a:ln/>
        </p:spPr>
        <p:txBody>
          <a:bodyPr wrap="square" lIns="0" tIns="0" rIns="0" bIns="0" rtlCol="0" anchor="ctr"/>
          <a:lstStyle/>
          <a:p>
            <a:pPr marL="0" indent="0">
              <a:buNone/>
            </a:pPr>
            <a:r>
              <a:rPr lang="en-US" sz="1000" b="1" dirty="0">
                <a:solidFill>
                  <a:srgbClr val="CD172D"/>
                </a:solidFill>
                <a:latin typeface="Calibri" pitchFamily="34" charset="0"/>
                <a:ea typeface="Calibri" pitchFamily="34" charset="-122"/>
                <a:cs typeface="Calibri" pitchFamily="34" charset="-120"/>
              </a:rPr>
              <a:t>[1]</a:t>
            </a:r>
            <a:endParaRPr lang="en-US" sz="1000" dirty="0"/>
          </a:p>
        </p:txBody>
      </p:sp>
      <p:sp>
        <p:nvSpPr>
          <p:cNvPr id="40" name="Text 38"/>
          <p:cNvSpPr/>
          <p:nvPr/>
        </p:nvSpPr>
        <p:spPr>
          <a:xfrm>
            <a:off x="2831123" y="448056"/>
            <a:ext cx="3931920" cy="201168"/>
          </a:xfrm>
          <a:prstGeom prst="rect">
            <a:avLst/>
          </a:prstGeom>
          <a:noFill/>
          <a:ln/>
        </p:spPr>
        <p:txBody>
          <a:bodyPr wrap="square" lIns="0" tIns="0" rIns="0" bIns="0" rtlCol="0" anchor="ctr"/>
          <a:lstStyle/>
          <a:p>
            <a:pPr marL="0" indent="0">
              <a:buNone/>
            </a:pPr>
            <a:r>
              <a:rPr lang="en-US" sz="1100" b="1" dirty="0">
                <a:solidFill>
                  <a:srgbClr val="0E0F30"/>
                </a:solidFill>
                <a:latin typeface="Calibri" pitchFamily="34" charset="0"/>
                <a:ea typeface="Calibri" pitchFamily="34" charset="-122"/>
                <a:cs typeface="Calibri" pitchFamily="34" charset="-120"/>
              </a:rPr>
              <a:t>PostgreSQL 16 Documentation</a:t>
            </a:r>
            <a:endParaRPr lang="en-US" sz="1100" dirty="0"/>
          </a:p>
        </p:txBody>
      </p:sp>
      <p:sp>
        <p:nvSpPr>
          <p:cNvPr id="41" name="Text 39"/>
          <p:cNvSpPr/>
          <p:nvPr/>
        </p:nvSpPr>
        <p:spPr>
          <a:xfrm>
            <a:off x="2831123" y="649224"/>
            <a:ext cx="5943600" cy="164592"/>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postgresql.org  ·  postgresql.org/docs/16/</a:t>
            </a:r>
            <a:endParaRPr lang="en-US" sz="850" dirty="0"/>
          </a:p>
        </p:txBody>
      </p:sp>
      <p:sp>
        <p:nvSpPr>
          <p:cNvPr id="42" name="Shape 40"/>
          <p:cNvSpPr/>
          <p:nvPr/>
        </p:nvSpPr>
        <p:spPr>
          <a:xfrm>
            <a:off x="2373923" y="886968"/>
            <a:ext cx="6492240" cy="429768"/>
          </a:xfrm>
          <a:prstGeom prst="rect">
            <a:avLst/>
          </a:prstGeom>
          <a:solidFill>
            <a:srgbClr val="F5F5F5"/>
          </a:solidFill>
          <a:ln/>
        </p:spPr>
        <p:txBody>
          <a:bodyPr/>
          <a:lstStyle/>
          <a:p>
            <a:endParaRPr lang="en-PH"/>
          </a:p>
        </p:txBody>
      </p:sp>
      <p:sp>
        <p:nvSpPr>
          <p:cNvPr id="43" name="Text 41"/>
          <p:cNvSpPr/>
          <p:nvPr/>
        </p:nvSpPr>
        <p:spPr>
          <a:xfrm>
            <a:off x="2437931" y="960120"/>
            <a:ext cx="365760" cy="237744"/>
          </a:xfrm>
          <a:prstGeom prst="rect">
            <a:avLst/>
          </a:prstGeom>
          <a:noFill/>
          <a:ln/>
        </p:spPr>
        <p:txBody>
          <a:bodyPr wrap="square" lIns="0" tIns="0" rIns="0" bIns="0" rtlCol="0" anchor="ctr"/>
          <a:lstStyle/>
          <a:p>
            <a:pPr marL="0" indent="0">
              <a:buNone/>
            </a:pPr>
            <a:r>
              <a:rPr lang="en-US" sz="1000" b="1" dirty="0">
                <a:solidFill>
                  <a:srgbClr val="CD172D"/>
                </a:solidFill>
                <a:latin typeface="Calibri" pitchFamily="34" charset="0"/>
                <a:ea typeface="Calibri" pitchFamily="34" charset="-122"/>
                <a:cs typeface="Calibri" pitchFamily="34" charset="-120"/>
              </a:rPr>
              <a:t>[2]</a:t>
            </a:r>
            <a:endParaRPr lang="en-US" sz="1000" dirty="0"/>
          </a:p>
        </p:txBody>
      </p:sp>
      <p:sp>
        <p:nvSpPr>
          <p:cNvPr id="44" name="Text 42"/>
          <p:cNvSpPr/>
          <p:nvPr/>
        </p:nvSpPr>
        <p:spPr>
          <a:xfrm>
            <a:off x="2831123" y="923544"/>
            <a:ext cx="3931920" cy="201168"/>
          </a:xfrm>
          <a:prstGeom prst="rect">
            <a:avLst/>
          </a:prstGeom>
          <a:noFill/>
          <a:ln/>
        </p:spPr>
        <p:txBody>
          <a:bodyPr wrap="square" lIns="0" tIns="0" rIns="0" bIns="0" rtlCol="0" anchor="ctr"/>
          <a:lstStyle/>
          <a:p>
            <a:pPr marL="0" indent="0">
              <a:buNone/>
            </a:pPr>
            <a:r>
              <a:rPr lang="en-US" sz="1100" b="1" dirty="0">
                <a:solidFill>
                  <a:srgbClr val="0E0F30"/>
                </a:solidFill>
                <a:latin typeface="Calibri" pitchFamily="34" charset="0"/>
                <a:ea typeface="Calibri" pitchFamily="34" charset="-122"/>
                <a:cs typeface="Calibri" pitchFamily="34" charset="-120"/>
              </a:rPr>
              <a:t>pgAdmin 4 — GUI for PostgreSQL</a:t>
            </a:r>
            <a:endParaRPr lang="en-US" sz="1100" dirty="0"/>
          </a:p>
        </p:txBody>
      </p:sp>
      <p:sp>
        <p:nvSpPr>
          <p:cNvPr id="45" name="Text 43"/>
          <p:cNvSpPr/>
          <p:nvPr/>
        </p:nvSpPr>
        <p:spPr>
          <a:xfrm>
            <a:off x="2831123" y="1124712"/>
            <a:ext cx="5943600" cy="164592"/>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pgadmin.org  ·  pgadmin.org/download</a:t>
            </a:r>
            <a:endParaRPr lang="en-US" sz="850" dirty="0"/>
          </a:p>
        </p:txBody>
      </p:sp>
      <p:sp>
        <p:nvSpPr>
          <p:cNvPr id="46" name="Shape 44"/>
          <p:cNvSpPr/>
          <p:nvPr/>
        </p:nvSpPr>
        <p:spPr>
          <a:xfrm>
            <a:off x="2373923" y="1362456"/>
            <a:ext cx="6492240" cy="429768"/>
          </a:xfrm>
          <a:prstGeom prst="rect">
            <a:avLst/>
          </a:prstGeom>
          <a:solidFill>
            <a:srgbClr val="FFFFFF"/>
          </a:solidFill>
          <a:ln/>
        </p:spPr>
        <p:txBody>
          <a:bodyPr/>
          <a:lstStyle/>
          <a:p>
            <a:endParaRPr lang="en-PH"/>
          </a:p>
        </p:txBody>
      </p:sp>
      <p:sp>
        <p:nvSpPr>
          <p:cNvPr id="47" name="Text 45"/>
          <p:cNvSpPr/>
          <p:nvPr/>
        </p:nvSpPr>
        <p:spPr>
          <a:xfrm>
            <a:off x="2437931" y="1435608"/>
            <a:ext cx="365760" cy="237744"/>
          </a:xfrm>
          <a:prstGeom prst="rect">
            <a:avLst/>
          </a:prstGeom>
          <a:noFill/>
          <a:ln/>
        </p:spPr>
        <p:txBody>
          <a:bodyPr wrap="square" lIns="0" tIns="0" rIns="0" bIns="0" rtlCol="0" anchor="ctr"/>
          <a:lstStyle/>
          <a:p>
            <a:pPr marL="0" indent="0">
              <a:buNone/>
            </a:pPr>
            <a:r>
              <a:rPr lang="en-US" sz="1000" b="1" dirty="0">
                <a:solidFill>
                  <a:srgbClr val="CD172D"/>
                </a:solidFill>
                <a:latin typeface="Calibri" pitchFamily="34" charset="0"/>
                <a:ea typeface="Calibri" pitchFamily="34" charset="-122"/>
                <a:cs typeface="Calibri" pitchFamily="34" charset="-120"/>
              </a:rPr>
              <a:t>[3]</a:t>
            </a:r>
            <a:endParaRPr lang="en-US" sz="1000" dirty="0"/>
          </a:p>
        </p:txBody>
      </p:sp>
      <p:sp>
        <p:nvSpPr>
          <p:cNvPr id="48" name="Text 46"/>
          <p:cNvSpPr/>
          <p:nvPr/>
        </p:nvSpPr>
        <p:spPr>
          <a:xfrm>
            <a:off x="2831123" y="1399032"/>
            <a:ext cx="3931920" cy="201168"/>
          </a:xfrm>
          <a:prstGeom prst="rect">
            <a:avLst/>
          </a:prstGeom>
          <a:noFill/>
          <a:ln/>
        </p:spPr>
        <p:txBody>
          <a:bodyPr wrap="square" lIns="0" tIns="0" rIns="0" bIns="0" rtlCol="0" anchor="ctr"/>
          <a:lstStyle/>
          <a:p>
            <a:pPr marL="0" indent="0">
              <a:buNone/>
            </a:pPr>
            <a:r>
              <a:rPr lang="en-US" sz="1100" b="1" dirty="0">
                <a:solidFill>
                  <a:srgbClr val="0E0F30"/>
                </a:solidFill>
                <a:latin typeface="Calibri" pitchFamily="34" charset="0"/>
                <a:ea typeface="Calibri" pitchFamily="34" charset="-122"/>
                <a:cs typeface="Calibri" pitchFamily="34" charset="-120"/>
              </a:rPr>
              <a:t>SQL Tutorial — W3Schools</a:t>
            </a:r>
            <a:endParaRPr lang="en-US" sz="1100" dirty="0"/>
          </a:p>
        </p:txBody>
      </p:sp>
      <p:sp>
        <p:nvSpPr>
          <p:cNvPr id="49" name="Text 47"/>
          <p:cNvSpPr/>
          <p:nvPr/>
        </p:nvSpPr>
        <p:spPr>
          <a:xfrm>
            <a:off x="2831123" y="1600200"/>
            <a:ext cx="5943600" cy="164592"/>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w3schools.com  ·  w3schools.com/sql/</a:t>
            </a:r>
            <a:endParaRPr lang="en-US" sz="850" dirty="0"/>
          </a:p>
        </p:txBody>
      </p:sp>
      <p:sp>
        <p:nvSpPr>
          <p:cNvPr id="50" name="Shape 48"/>
          <p:cNvSpPr/>
          <p:nvPr/>
        </p:nvSpPr>
        <p:spPr>
          <a:xfrm>
            <a:off x="2373923" y="1837944"/>
            <a:ext cx="6492240" cy="429768"/>
          </a:xfrm>
          <a:prstGeom prst="rect">
            <a:avLst/>
          </a:prstGeom>
          <a:solidFill>
            <a:srgbClr val="F5F5F5"/>
          </a:solidFill>
          <a:ln/>
        </p:spPr>
        <p:txBody>
          <a:bodyPr/>
          <a:lstStyle/>
          <a:p>
            <a:endParaRPr lang="en-PH"/>
          </a:p>
        </p:txBody>
      </p:sp>
      <p:sp>
        <p:nvSpPr>
          <p:cNvPr id="51" name="Text 49"/>
          <p:cNvSpPr/>
          <p:nvPr/>
        </p:nvSpPr>
        <p:spPr>
          <a:xfrm>
            <a:off x="2437931" y="1911096"/>
            <a:ext cx="365760" cy="237744"/>
          </a:xfrm>
          <a:prstGeom prst="rect">
            <a:avLst/>
          </a:prstGeom>
          <a:noFill/>
          <a:ln/>
        </p:spPr>
        <p:txBody>
          <a:bodyPr wrap="square" lIns="0" tIns="0" rIns="0" bIns="0" rtlCol="0" anchor="ctr"/>
          <a:lstStyle/>
          <a:p>
            <a:pPr marL="0" indent="0">
              <a:buNone/>
            </a:pPr>
            <a:r>
              <a:rPr lang="en-US" sz="1000" b="1" dirty="0">
                <a:solidFill>
                  <a:srgbClr val="CD172D"/>
                </a:solidFill>
                <a:latin typeface="Calibri" pitchFamily="34" charset="0"/>
                <a:ea typeface="Calibri" pitchFamily="34" charset="-122"/>
                <a:cs typeface="Calibri" pitchFamily="34" charset="-120"/>
              </a:rPr>
              <a:t>[4]</a:t>
            </a:r>
            <a:endParaRPr lang="en-US" sz="1000" dirty="0"/>
          </a:p>
        </p:txBody>
      </p:sp>
      <p:sp>
        <p:nvSpPr>
          <p:cNvPr id="52" name="Text 50"/>
          <p:cNvSpPr/>
          <p:nvPr/>
        </p:nvSpPr>
        <p:spPr>
          <a:xfrm>
            <a:off x="2831123" y="1874520"/>
            <a:ext cx="3931920" cy="201168"/>
          </a:xfrm>
          <a:prstGeom prst="rect">
            <a:avLst/>
          </a:prstGeom>
          <a:noFill/>
          <a:ln/>
        </p:spPr>
        <p:txBody>
          <a:bodyPr wrap="square" lIns="0" tIns="0" rIns="0" bIns="0" rtlCol="0" anchor="ctr"/>
          <a:lstStyle/>
          <a:p>
            <a:pPr marL="0" indent="0">
              <a:buNone/>
            </a:pPr>
            <a:r>
              <a:rPr lang="en-US" sz="1100" b="1" dirty="0">
                <a:solidFill>
                  <a:srgbClr val="0E0F30"/>
                </a:solidFill>
                <a:latin typeface="Calibri" pitchFamily="34" charset="0"/>
                <a:ea typeface="Calibri" pitchFamily="34" charset="-122"/>
                <a:cs typeface="Calibri" pitchFamily="34" charset="-120"/>
              </a:rPr>
              <a:t>PostgreSQL Data Types</a:t>
            </a:r>
            <a:endParaRPr lang="en-US" sz="1100" dirty="0"/>
          </a:p>
        </p:txBody>
      </p:sp>
      <p:sp>
        <p:nvSpPr>
          <p:cNvPr id="53" name="Text 51"/>
          <p:cNvSpPr/>
          <p:nvPr/>
        </p:nvSpPr>
        <p:spPr>
          <a:xfrm>
            <a:off x="2831123" y="2075688"/>
            <a:ext cx="5943600" cy="164592"/>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PostgreSQL Docs  ·  postgresql.org/docs/current/datatype.html</a:t>
            </a:r>
            <a:endParaRPr lang="en-US" sz="850" dirty="0"/>
          </a:p>
        </p:txBody>
      </p:sp>
      <p:sp>
        <p:nvSpPr>
          <p:cNvPr id="54" name="Shape 52"/>
          <p:cNvSpPr/>
          <p:nvPr/>
        </p:nvSpPr>
        <p:spPr>
          <a:xfrm>
            <a:off x="2373923" y="2313432"/>
            <a:ext cx="6492240" cy="429768"/>
          </a:xfrm>
          <a:prstGeom prst="rect">
            <a:avLst/>
          </a:prstGeom>
          <a:solidFill>
            <a:srgbClr val="FFFFFF"/>
          </a:solidFill>
          <a:ln/>
        </p:spPr>
        <p:txBody>
          <a:bodyPr/>
          <a:lstStyle/>
          <a:p>
            <a:endParaRPr lang="en-PH"/>
          </a:p>
        </p:txBody>
      </p:sp>
      <p:sp>
        <p:nvSpPr>
          <p:cNvPr id="55" name="Text 53"/>
          <p:cNvSpPr/>
          <p:nvPr/>
        </p:nvSpPr>
        <p:spPr>
          <a:xfrm>
            <a:off x="2437931" y="2386584"/>
            <a:ext cx="365760" cy="237744"/>
          </a:xfrm>
          <a:prstGeom prst="rect">
            <a:avLst/>
          </a:prstGeom>
          <a:noFill/>
          <a:ln/>
        </p:spPr>
        <p:txBody>
          <a:bodyPr wrap="square" lIns="0" tIns="0" rIns="0" bIns="0" rtlCol="0" anchor="ctr"/>
          <a:lstStyle/>
          <a:p>
            <a:pPr marL="0" indent="0">
              <a:buNone/>
            </a:pPr>
            <a:r>
              <a:rPr lang="en-US" sz="1000" b="1" dirty="0">
                <a:solidFill>
                  <a:srgbClr val="CD172D"/>
                </a:solidFill>
                <a:latin typeface="Calibri" pitchFamily="34" charset="0"/>
                <a:ea typeface="Calibri" pitchFamily="34" charset="-122"/>
                <a:cs typeface="Calibri" pitchFamily="34" charset="-120"/>
              </a:rPr>
              <a:t>[5]</a:t>
            </a:r>
            <a:endParaRPr lang="en-US" sz="1000" dirty="0"/>
          </a:p>
        </p:txBody>
      </p:sp>
      <p:sp>
        <p:nvSpPr>
          <p:cNvPr id="56" name="Text 54"/>
          <p:cNvSpPr/>
          <p:nvPr/>
        </p:nvSpPr>
        <p:spPr>
          <a:xfrm>
            <a:off x="2831123" y="2350008"/>
            <a:ext cx="3931920" cy="201168"/>
          </a:xfrm>
          <a:prstGeom prst="rect">
            <a:avLst/>
          </a:prstGeom>
          <a:noFill/>
          <a:ln/>
        </p:spPr>
        <p:txBody>
          <a:bodyPr wrap="square" lIns="0" tIns="0" rIns="0" bIns="0" rtlCol="0" anchor="ctr"/>
          <a:lstStyle/>
          <a:p>
            <a:pPr marL="0" indent="0">
              <a:buNone/>
            </a:pPr>
            <a:r>
              <a:rPr lang="en-US" sz="1100" b="1" dirty="0">
                <a:solidFill>
                  <a:srgbClr val="0E0F30"/>
                </a:solidFill>
                <a:latin typeface="Calibri" pitchFamily="34" charset="0"/>
                <a:ea typeface="Calibri" pitchFamily="34" charset="-122"/>
                <a:cs typeface="Calibri" pitchFamily="34" charset="-120"/>
              </a:rPr>
              <a:t>Database Normalization Guide</a:t>
            </a:r>
            <a:endParaRPr lang="en-US" sz="1100" dirty="0"/>
          </a:p>
        </p:txBody>
      </p:sp>
      <p:sp>
        <p:nvSpPr>
          <p:cNvPr id="57" name="Text 55"/>
          <p:cNvSpPr/>
          <p:nvPr/>
        </p:nvSpPr>
        <p:spPr>
          <a:xfrm>
            <a:off x="2831123" y="2551176"/>
            <a:ext cx="5943600" cy="164592"/>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studytonight.com  ·  studytonight.com/dbms/database-normalization.php</a:t>
            </a:r>
            <a:endParaRPr lang="en-US" sz="850" dirty="0"/>
          </a:p>
        </p:txBody>
      </p:sp>
      <p:sp>
        <p:nvSpPr>
          <p:cNvPr id="58" name="Shape 56"/>
          <p:cNvSpPr/>
          <p:nvPr/>
        </p:nvSpPr>
        <p:spPr>
          <a:xfrm>
            <a:off x="2373923" y="2788920"/>
            <a:ext cx="6492240" cy="429768"/>
          </a:xfrm>
          <a:prstGeom prst="rect">
            <a:avLst/>
          </a:prstGeom>
          <a:solidFill>
            <a:srgbClr val="F5F5F5"/>
          </a:solidFill>
          <a:ln/>
        </p:spPr>
        <p:txBody>
          <a:bodyPr/>
          <a:lstStyle/>
          <a:p>
            <a:endParaRPr lang="en-PH"/>
          </a:p>
        </p:txBody>
      </p:sp>
      <p:sp>
        <p:nvSpPr>
          <p:cNvPr id="59" name="Text 57"/>
          <p:cNvSpPr/>
          <p:nvPr/>
        </p:nvSpPr>
        <p:spPr>
          <a:xfrm>
            <a:off x="2437931" y="2862072"/>
            <a:ext cx="365760" cy="237744"/>
          </a:xfrm>
          <a:prstGeom prst="rect">
            <a:avLst/>
          </a:prstGeom>
          <a:noFill/>
          <a:ln/>
        </p:spPr>
        <p:txBody>
          <a:bodyPr wrap="square" lIns="0" tIns="0" rIns="0" bIns="0" rtlCol="0" anchor="ctr"/>
          <a:lstStyle/>
          <a:p>
            <a:pPr marL="0" indent="0">
              <a:buNone/>
            </a:pPr>
            <a:r>
              <a:rPr lang="en-US" sz="1000" b="1" dirty="0">
                <a:solidFill>
                  <a:srgbClr val="CD172D"/>
                </a:solidFill>
                <a:latin typeface="Calibri" pitchFamily="34" charset="0"/>
                <a:ea typeface="Calibri" pitchFamily="34" charset="-122"/>
                <a:cs typeface="Calibri" pitchFamily="34" charset="-120"/>
              </a:rPr>
              <a:t>[6]</a:t>
            </a:r>
            <a:endParaRPr lang="en-US" sz="1000" dirty="0"/>
          </a:p>
        </p:txBody>
      </p:sp>
      <p:sp>
        <p:nvSpPr>
          <p:cNvPr id="60" name="Text 58"/>
          <p:cNvSpPr/>
          <p:nvPr/>
        </p:nvSpPr>
        <p:spPr>
          <a:xfrm>
            <a:off x="2831123" y="2825496"/>
            <a:ext cx="3931920" cy="201168"/>
          </a:xfrm>
          <a:prstGeom prst="rect">
            <a:avLst/>
          </a:prstGeom>
          <a:noFill/>
          <a:ln/>
        </p:spPr>
        <p:txBody>
          <a:bodyPr wrap="square" lIns="0" tIns="0" rIns="0" bIns="0" rtlCol="0" anchor="ctr"/>
          <a:lstStyle/>
          <a:p>
            <a:pPr marL="0" indent="0">
              <a:buNone/>
            </a:pPr>
            <a:r>
              <a:rPr lang="en-US" sz="1100" b="1" dirty="0">
                <a:solidFill>
                  <a:srgbClr val="0E0F30"/>
                </a:solidFill>
                <a:latin typeface="Calibri" pitchFamily="34" charset="0"/>
                <a:ea typeface="Calibri" pitchFamily="34" charset="-122"/>
                <a:cs typeface="Calibri" pitchFamily="34" charset="-120"/>
              </a:rPr>
              <a:t>Use The Index, Luke!</a:t>
            </a:r>
            <a:endParaRPr lang="en-US" sz="1100" dirty="0"/>
          </a:p>
        </p:txBody>
      </p:sp>
      <p:sp>
        <p:nvSpPr>
          <p:cNvPr id="61" name="Text 59"/>
          <p:cNvSpPr/>
          <p:nvPr/>
        </p:nvSpPr>
        <p:spPr>
          <a:xfrm>
            <a:off x="2831123" y="3026664"/>
            <a:ext cx="5943600" cy="164592"/>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Free SQL indexing book  ·  use-the-index-luke.com</a:t>
            </a:r>
            <a:endParaRPr lang="en-US" sz="850" dirty="0"/>
          </a:p>
        </p:txBody>
      </p:sp>
      <p:sp>
        <p:nvSpPr>
          <p:cNvPr id="62" name="Shape 60"/>
          <p:cNvSpPr/>
          <p:nvPr/>
        </p:nvSpPr>
        <p:spPr>
          <a:xfrm>
            <a:off x="2373923" y="3264408"/>
            <a:ext cx="6492240" cy="429768"/>
          </a:xfrm>
          <a:prstGeom prst="rect">
            <a:avLst/>
          </a:prstGeom>
          <a:solidFill>
            <a:srgbClr val="FFFFFF"/>
          </a:solidFill>
          <a:ln/>
        </p:spPr>
        <p:txBody>
          <a:bodyPr/>
          <a:lstStyle/>
          <a:p>
            <a:endParaRPr lang="en-PH"/>
          </a:p>
        </p:txBody>
      </p:sp>
      <p:sp>
        <p:nvSpPr>
          <p:cNvPr id="63" name="Text 61"/>
          <p:cNvSpPr/>
          <p:nvPr/>
        </p:nvSpPr>
        <p:spPr>
          <a:xfrm>
            <a:off x="2437931" y="3337560"/>
            <a:ext cx="365760" cy="237744"/>
          </a:xfrm>
          <a:prstGeom prst="rect">
            <a:avLst/>
          </a:prstGeom>
          <a:noFill/>
          <a:ln/>
        </p:spPr>
        <p:txBody>
          <a:bodyPr wrap="square" lIns="0" tIns="0" rIns="0" bIns="0" rtlCol="0" anchor="ctr"/>
          <a:lstStyle/>
          <a:p>
            <a:pPr marL="0" indent="0">
              <a:buNone/>
            </a:pPr>
            <a:r>
              <a:rPr lang="en-US" sz="1000" b="1" dirty="0">
                <a:solidFill>
                  <a:srgbClr val="CD172D"/>
                </a:solidFill>
                <a:latin typeface="Calibri" pitchFamily="34" charset="0"/>
                <a:ea typeface="Calibri" pitchFamily="34" charset="-122"/>
                <a:cs typeface="Calibri" pitchFamily="34" charset="-120"/>
              </a:rPr>
              <a:t>[7]</a:t>
            </a:r>
            <a:endParaRPr lang="en-US" sz="1000" dirty="0"/>
          </a:p>
        </p:txBody>
      </p:sp>
      <p:sp>
        <p:nvSpPr>
          <p:cNvPr id="64" name="Text 62"/>
          <p:cNvSpPr/>
          <p:nvPr/>
        </p:nvSpPr>
        <p:spPr>
          <a:xfrm>
            <a:off x="2831123" y="3300984"/>
            <a:ext cx="3931920" cy="201168"/>
          </a:xfrm>
          <a:prstGeom prst="rect">
            <a:avLst/>
          </a:prstGeom>
          <a:noFill/>
          <a:ln/>
        </p:spPr>
        <p:txBody>
          <a:bodyPr wrap="square" lIns="0" tIns="0" rIns="0" bIns="0" rtlCol="0" anchor="ctr"/>
          <a:lstStyle/>
          <a:p>
            <a:pPr marL="0" indent="0">
              <a:buNone/>
            </a:pPr>
            <a:r>
              <a:rPr lang="en-US" sz="1100" b="1" dirty="0">
                <a:solidFill>
                  <a:srgbClr val="0E0F30"/>
                </a:solidFill>
                <a:latin typeface="Calibri" pitchFamily="34" charset="0"/>
                <a:ea typeface="Calibri" pitchFamily="34" charset="-122"/>
                <a:cs typeface="Calibri" pitchFamily="34" charset="-120"/>
              </a:rPr>
              <a:t>SQL JOIN Visual Explanation</a:t>
            </a:r>
            <a:endParaRPr lang="en-US" sz="1100" dirty="0"/>
          </a:p>
        </p:txBody>
      </p:sp>
      <p:sp>
        <p:nvSpPr>
          <p:cNvPr id="65" name="Text 63"/>
          <p:cNvSpPr/>
          <p:nvPr/>
        </p:nvSpPr>
        <p:spPr>
          <a:xfrm>
            <a:off x="2831123" y="3502152"/>
            <a:ext cx="5943600" cy="164592"/>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sql-joins.leopard.in.ua  ·  sql-joins.leopard.in.ua</a:t>
            </a:r>
            <a:endParaRPr lang="en-US" sz="850" dirty="0"/>
          </a:p>
        </p:txBody>
      </p:sp>
      <p:sp>
        <p:nvSpPr>
          <p:cNvPr id="66" name="Shape 64"/>
          <p:cNvSpPr/>
          <p:nvPr/>
        </p:nvSpPr>
        <p:spPr>
          <a:xfrm>
            <a:off x="2373923" y="3739896"/>
            <a:ext cx="6492240" cy="429768"/>
          </a:xfrm>
          <a:prstGeom prst="rect">
            <a:avLst/>
          </a:prstGeom>
          <a:solidFill>
            <a:srgbClr val="F5F5F5"/>
          </a:solidFill>
          <a:ln/>
        </p:spPr>
        <p:txBody>
          <a:bodyPr/>
          <a:lstStyle/>
          <a:p>
            <a:endParaRPr lang="en-PH"/>
          </a:p>
        </p:txBody>
      </p:sp>
      <p:sp>
        <p:nvSpPr>
          <p:cNvPr id="67" name="Text 65"/>
          <p:cNvSpPr/>
          <p:nvPr/>
        </p:nvSpPr>
        <p:spPr>
          <a:xfrm>
            <a:off x="2437931" y="3813048"/>
            <a:ext cx="365760" cy="237744"/>
          </a:xfrm>
          <a:prstGeom prst="rect">
            <a:avLst/>
          </a:prstGeom>
          <a:noFill/>
          <a:ln/>
        </p:spPr>
        <p:txBody>
          <a:bodyPr wrap="square" lIns="0" tIns="0" rIns="0" bIns="0" rtlCol="0" anchor="ctr"/>
          <a:lstStyle/>
          <a:p>
            <a:pPr marL="0" indent="0">
              <a:buNone/>
            </a:pPr>
            <a:r>
              <a:rPr lang="en-US" sz="1000" b="1" dirty="0">
                <a:solidFill>
                  <a:srgbClr val="CD172D"/>
                </a:solidFill>
                <a:latin typeface="Calibri" pitchFamily="34" charset="0"/>
                <a:ea typeface="Calibri" pitchFamily="34" charset="-122"/>
                <a:cs typeface="Calibri" pitchFamily="34" charset="-120"/>
              </a:rPr>
              <a:t>[8]</a:t>
            </a:r>
            <a:endParaRPr lang="en-US" sz="1000" dirty="0"/>
          </a:p>
        </p:txBody>
      </p:sp>
      <p:sp>
        <p:nvSpPr>
          <p:cNvPr id="68" name="Text 66"/>
          <p:cNvSpPr/>
          <p:nvPr/>
        </p:nvSpPr>
        <p:spPr>
          <a:xfrm>
            <a:off x="2831123" y="3776472"/>
            <a:ext cx="3931920" cy="201168"/>
          </a:xfrm>
          <a:prstGeom prst="rect">
            <a:avLst/>
          </a:prstGeom>
          <a:noFill/>
          <a:ln/>
        </p:spPr>
        <p:txBody>
          <a:bodyPr wrap="square" lIns="0" tIns="0" rIns="0" bIns="0" rtlCol="0" anchor="ctr"/>
          <a:lstStyle/>
          <a:p>
            <a:pPr marL="0" indent="0">
              <a:buNone/>
            </a:pPr>
            <a:r>
              <a:rPr lang="en-US" sz="1100" b="1" dirty="0">
                <a:solidFill>
                  <a:srgbClr val="0E0F30"/>
                </a:solidFill>
                <a:latin typeface="Calibri" pitchFamily="34" charset="0"/>
                <a:ea typeface="Calibri" pitchFamily="34" charset="-122"/>
                <a:cs typeface="Calibri" pitchFamily="34" charset="-120"/>
              </a:rPr>
              <a:t>EXPLAIN ANALYZE Guide</a:t>
            </a:r>
            <a:endParaRPr lang="en-US" sz="1100" dirty="0"/>
          </a:p>
        </p:txBody>
      </p:sp>
      <p:sp>
        <p:nvSpPr>
          <p:cNvPr id="69" name="Text 67"/>
          <p:cNvSpPr/>
          <p:nvPr/>
        </p:nvSpPr>
        <p:spPr>
          <a:xfrm>
            <a:off x="2831123" y="3977640"/>
            <a:ext cx="5943600" cy="164592"/>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PostgreSQL Docs  ·  postgresql.org/docs/current/sql-explain.html</a:t>
            </a:r>
            <a:endParaRPr lang="en-US" sz="850" dirty="0"/>
          </a:p>
        </p:txBody>
      </p:sp>
      <p:sp>
        <p:nvSpPr>
          <p:cNvPr id="70" name="Shape 68"/>
          <p:cNvSpPr/>
          <p:nvPr/>
        </p:nvSpPr>
        <p:spPr>
          <a:xfrm>
            <a:off x="2373923" y="4215384"/>
            <a:ext cx="6492240" cy="429768"/>
          </a:xfrm>
          <a:prstGeom prst="rect">
            <a:avLst/>
          </a:prstGeom>
          <a:solidFill>
            <a:srgbClr val="FFFFFF"/>
          </a:solidFill>
          <a:ln/>
        </p:spPr>
        <p:txBody>
          <a:bodyPr/>
          <a:lstStyle/>
          <a:p>
            <a:endParaRPr lang="en-PH"/>
          </a:p>
        </p:txBody>
      </p:sp>
      <p:sp>
        <p:nvSpPr>
          <p:cNvPr id="71" name="Text 69"/>
          <p:cNvSpPr/>
          <p:nvPr/>
        </p:nvSpPr>
        <p:spPr>
          <a:xfrm>
            <a:off x="2437931" y="4288536"/>
            <a:ext cx="365760" cy="237744"/>
          </a:xfrm>
          <a:prstGeom prst="rect">
            <a:avLst/>
          </a:prstGeom>
          <a:noFill/>
          <a:ln/>
        </p:spPr>
        <p:txBody>
          <a:bodyPr wrap="square" lIns="0" tIns="0" rIns="0" bIns="0" rtlCol="0" anchor="ctr"/>
          <a:lstStyle/>
          <a:p>
            <a:pPr marL="0" indent="0">
              <a:buNone/>
            </a:pPr>
            <a:r>
              <a:rPr lang="en-US" sz="1000" b="1" dirty="0">
                <a:solidFill>
                  <a:srgbClr val="CD172D"/>
                </a:solidFill>
                <a:latin typeface="Calibri" pitchFamily="34" charset="0"/>
                <a:ea typeface="Calibri" pitchFamily="34" charset="-122"/>
                <a:cs typeface="Calibri" pitchFamily="34" charset="-120"/>
              </a:rPr>
              <a:t>[9]</a:t>
            </a:r>
            <a:endParaRPr lang="en-US" sz="1000" dirty="0"/>
          </a:p>
        </p:txBody>
      </p:sp>
      <p:sp>
        <p:nvSpPr>
          <p:cNvPr id="72" name="Text 70"/>
          <p:cNvSpPr/>
          <p:nvPr/>
        </p:nvSpPr>
        <p:spPr>
          <a:xfrm>
            <a:off x="2831123" y="4251960"/>
            <a:ext cx="3931920" cy="201168"/>
          </a:xfrm>
          <a:prstGeom prst="rect">
            <a:avLst/>
          </a:prstGeom>
          <a:noFill/>
          <a:ln/>
        </p:spPr>
        <p:txBody>
          <a:bodyPr wrap="square" lIns="0" tIns="0" rIns="0" bIns="0" rtlCol="0" anchor="ctr"/>
          <a:lstStyle/>
          <a:p>
            <a:pPr marL="0" indent="0">
              <a:buNone/>
            </a:pPr>
            <a:r>
              <a:rPr lang="en-US" sz="1100" b="1" dirty="0">
                <a:solidFill>
                  <a:srgbClr val="0E0F30"/>
                </a:solidFill>
                <a:latin typeface="Calibri" pitchFamily="34" charset="0"/>
                <a:ea typeface="Calibri" pitchFamily="34" charset="-122"/>
                <a:cs typeface="Calibri" pitchFamily="34" charset="-120"/>
              </a:rPr>
              <a:t>Npgsql — .NET PostgreSQL Driver</a:t>
            </a:r>
            <a:endParaRPr lang="en-US" sz="1100" dirty="0"/>
          </a:p>
        </p:txBody>
      </p:sp>
      <p:sp>
        <p:nvSpPr>
          <p:cNvPr id="73" name="Text 71"/>
          <p:cNvSpPr/>
          <p:nvPr/>
        </p:nvSpPr>
        <p:spPr>
          <a:xfrm>
            <a:off x="2831123" y="4453128"/>
            <a:ext cx="5943600" cy="164592"/>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npgsql.org (used Day 7)  ·  npgsql.org</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255</TotalTime>
  <Words>6732</Words>
  <Application>Microsoft Office PowerPoint</Application>
  <PresentationFormat>On-screen Show (16:9)</PresentationFormat>
  <Paragraphs>866</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Black</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Alexander Maralit</cp:lastModifiedBy>
  <cp:revision>6</cp:revision>
  <dcterms:created xsi:type="dcterms:W3CDTF">2026-05-10T06:06:24Z</dcterms:created>
  <dcterms:modified xsi:type="dcterms:W3CDTF">2026-05-11T05:29:16Z</dcterms:modified>
</cp:coreProperties>
</file>