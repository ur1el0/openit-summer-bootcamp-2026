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5" r:id="rId12"/>
    <p:sldId id="292" r:id="rId13"/>
    <p:sldId id="293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7" r:id="rId34"/>
    <p:sldId id="288" r:id="rId35"/>
    <p:sldId id="289" r:id="rId36"/>
    <p:sldId id="294" r:id="rId37"/>
    <p:sldId id="290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743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CE723-4AC7-C601-EB22-1767FB6C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226C21-CEC0-9237-8E48-5C9A25023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034FA-86C0-856E-955B-3F63EC6BA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7FCE9-4E72-5F6D-CAD3-F5AF70CD0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18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8BCB6-495D-022B-1697-489974F07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F02D0-485C-7E0E-F968-7CB97C490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521B8-0D15-44CB-707B-9F86180D1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8356C-D520-9925-35AD-BA55C2CC59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296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0040" y="201168"/>
            <a:ext cx="6858000" cy="4617720"/>
          </a:xfrm>
          <a:prstGeom prst="roundRect">
            <a:avLst>
              <a:gd name="adj" fmla="val 3564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320040" y="201168"/>
            <a:ext cx="6858000" cy="7315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548640" y="4206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D172D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BOOTCAMP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48640" y="1188720"/>
            <a:ext cx="1005840" cy="32918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548640" y="11887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627632"/>
            <a:ext cx="6217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0F30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Web Review: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E0F30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HTML • CSS • JavaScript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files • Linking them • DOM • Events • Fetch API • CORS • Toast Notifications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~3 hrs  |  Build a professional frontend connected to your Day 7 LibraryApi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62179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685800" y="3959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Roadmap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10512" y="39593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7: API + PostgreSQL  →  Day 8: Frontend UI  →  Day 9–10: React replaces plain HTML/JS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417880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with Day 6 &amp; 7 Student Enrolment schema — same concepts, applied in the browser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52360" y="118872"/>
            <a:ext cx="1691640" cy="477316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 rot="16200000">
            <a:off x="722376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0" y="18288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Shape 8"/>
          <p:cNvSpPr/>
          <p:nvPr/>
        </p:nvSpPr>
        <p:spPr>
          <a:xfrm>
            <a:off x="0" y="36576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0" y="54864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0" y="73152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0" y="91440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0" y="109728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Shape 13"/>
          <p:cNvSpPr/>
          <p:nvPr/>
        </p:nvSpPr>
        <p:spPr>
          <a:xfrm>
            <a:off x="0" y="128016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0" y="146304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0" y="164592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0" y="182880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Shape 17"/>
          <p:cNvSpPr/>
          <p:nvPr/>
        </p:nvSpPr>
        <p:spPr>
          <a:xfrm>
            <a:off x="0" y="201168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Shape 18"/>
          <p:cNvSpPr/>
          <p:nvPr/>
        </p:nvSpPr>
        <p:spPr>
          <a:xfrm>
            <a:off x="0" y="219456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0" y="237744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0" y="256032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Shape 21"/>
          <p:cNvSpPr/>
          <p:nvPr/>
        </p:nvSpPr>
        <p:spPr>
          <a:xfrm>
            <a:off x="0" y="274320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4" name="Shape 22"/>
          <p:cNvSpPr/>
          <p:nvPr/>
        </p:nvSpPr>
        <p:spPr>
          <a:xfrm>
            <a:off x="0" y="292608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5" name="Shape 23"/>
          <p:cNvSpPr/>
          <p:nvPr/>
        </p:nvSpPr>
        <p:spPr>
          <a:xfrm>
            <a:off x="0" y="310896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Shape 24"/>
          <p:cNvSpPr/>
          <p:nvPr/>
        </p:nvSpPr>
        <p:spPr>
          <a:xfrm>
            <a:off x="0" y="329184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7" name="Shape 25"/>
          <p:cNvSpPr/>
          <p:nvPr/>
        </p:nvSpPr>
        <p:spPr>
          <a:xfrm>
            <a:off x="0" y="347472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8" name="Shape 26"/>
          <p:cNvSpPr/>
          <p:nvPr/>
        </p:nvSpPr>
        <p:spPr>
          <a:xfrm>
            <a:off x="0" y="365760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9" name="Shape 27"/>
          <p:cNvSpPr/>
          <p:nvPr/>
        </p:nvSpPr>
        <p:spPr>
          <a:xfrm>
            <a:off x="0" y="384048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Shape 28"/>
          <p:cNvSpPr/>
          <p:nvPr/>
        </p:nvSpPr>
        <p:spPr>
          <a:xfrm>
            <a:off x="0" y="402336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2" name="Shape 30"/>
          <p:cNvSpPr/>
          <p:nvPr/>
        </p:nvSpPr>
        <p:spPr>
          <a:xfrm>
            <a:off x="0" y="438912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3" name="Shape 31"/>
          <p:cNvSpPr/>
          <p:nvPr/>
        </p:nvSpPr>
        <p:spPr>
          <a:xfrm>
            <a:off x="0" y="457200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292608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6" name="Text 34"/>
          <p:cNvSpPr/>
          <p:nvPr/>
        </p:nvSpPr>
        <p:spPr>
          <a:xfrm>
            <a:off x="182880" y="6400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Session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Overview</a:t>
            </a:r>
            <a:endParaRPr lang="en-US" sz="2700" dirty="0"/>
          </a:p>
        </p:txBody>
      </p:sp>
      <p:sp>
        <p:nvSpPr>
          <p:cNvPr id="37" name="Text 35"/>
          <p:cNvSpPr/>
          <p:nvPr/>
        </p:nvSpPr>
        <p:spPr>
          <a:xfrm>
            <a:off x="201168" y="4526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of 15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08960" y="256032"/>
            <a:ext cx="58064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9" name="Shape 37"/>
          <p:cNvSpPr/>
          <p:nvPr/>
        </p:nvSpPr>
        <p:spPr>
          <a:xfrm>
            <a:off x="3108960" y="256032"/>
            <a:ext cx="438912" cy="42976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0" name="Text 38"/>
          <p:cNvSpPr/>
          <p:nvPr/>
        </p:nvSpPr>
        <p:spPr>
          <a:xfrm>
            <a:off x="3108960" y="256032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75888" y="27432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The Skeleton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75888" y="484632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tags, attributes, structure, how browser reads HTML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108960" y="735178"/>
            <a:ext cx="5806440" cy="4297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4" name="Shape 42"/>
          <p:cNvSpPr/>
          <p:nvPr/>
        </p:nvSpPr>
        <p:spPr>
          <a:xfrm>
            <a:off x="3108960" y="735178"/>
            <a:ext cx="438912" cy="42976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5" name="Text 43"/>
          <p:cNvSpPr/>
          <p:nvPr/>
        </p:nvSpPr>
        <p:spPr>
          <a:xfrm>
            <a:off x="3108960" y="735178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75888" y="753466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Styling &amp; Layout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75888" y="963778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Selectors, box model, Flexbox, Grid, variables, media queries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108960" y="1214323"/>
            <a:ext cx="58064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9" name="Shape 47"/>
          <p:cNvSpPr/>
          <p:nvPr/>
        </p:nvSpPr>
        <p:spPr>
          <a:xfrm>
            <a:off x="3108960" y="1214323"/>
            <a:ext cx="438912" cy="42976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0" name="Text 48"/>
          <p:cNvSpPr/>
          <p:nvPr/>
        </p:nvSpPr>
        <p:spPr>
          <a:xfrm>
            <a:off x="3108960" y="1214323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75888" y="1232611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Behaviour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675888" y="1442923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functions, scope, arrays, objects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108960" y="1693469"/>
            <a:ext cx="5806440" cy="4297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4" name="Shape 52"/>
          <p:cNvSpPr/>
          <p:nvPr/>
        </p:nvSpPr>
        <p:spPr>
          <a:xfrm>
            <a:off x="3108960" y="1693469"/>
            <a:ext cx="438912" cy="42976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5" name="Text 53"/>
          <p:cNvSpPr/>
          <p:nvPr/>
        </p:nvSpPr>
        <p:spPr>
          <a:xfrm>
            <a:off x="3108960" y="1693469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675888" y="1711757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Files &amp; Linking All Three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75888" y="1922069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style.css + app.js — how they connect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108960" y="2172614"/>
            <a:ext cx="58064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9" name="Shape 57"/>
          <p:cNvSpPr/>
          <p:nvPr/>
        </p:nvSpPr>
        <p:spPr>
          <a:xfrm>
            <a:off x="3108960" y="2172614"/>
            <a:ext cx="438912" cy="42976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0" name="Text 58"/>
          <p:cNvSpPr/>
          <p:nvPr/>
        </p:nvSpPr>
        <p:spPr>
          <a:xfrm>
            <a:off x="3108960" y="2172614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675888" y="219090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 In-Depth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675888" y="2401214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querySelector, createElement, classList, dataset, events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108960" y="2651760"/>
            <a:ext cx="5806440" cy="4297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4" name="Shape 62"/>
          <p:cNvSpPr/>
          <p:nvPr/>
        </p:nvSpPr>
        <p:spPr>
          <a:xfrm>
            <a:off x="3108960" y="2651760"/>
            <a:ext cx="438912" cy="42976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5" name="Text 63"/>
          <p:cNvSpPr/>
          <p:nvPr/>
        </p:nvSpPr>
        <p:spPr>
          <a:xfrm>
            <a:off x="3108960" y="2651760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675888" y="2670048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675888" y="2880360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addEventListener, form submit, input events, delegation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108960" y="3130906"/>
            <a:ext cx="58064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9" name="Shape 67"/>
          <p:cNvSpPr/>
          <p:nvPr/>
        </p:nvSpPr>
        <p:spPr>
          <a:xfrm>
            <a:off x="3108960" y="3130906"/>
            <a:ext cx="438912" cy="42976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0" name="Text 68"/>
          <p:cNvSpPr/>
          <p:nvPr/>
        </p:nvSpPr>
        <p:spPr>
          <a:xfrm>
            <a:off x="3108960" y="3130906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675888" y="314919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— HTTP from JavaScript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675888" y="3359506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PATCH, DELETE — calling your LibraryApi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108960" y="3610051"/>
            <a:ext cx="5806440" cy="4297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4" name="Shape 72"/>
          <p:cNvSpPr/>
          <p:nvPr/>
        </p:nvSpPr>
        <p:spPr>
          <a:xfrm>
            <a:off x="3108960" y="3610051"/>
            <a:ext cx="438912" cy="42976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5" name="Text 73"/>
          <p:cNvSpPr/>
          <p:nvPr/>
        </p:nvSpPr>
        <p:spPr>
          <a:xfrm>
            <a:off x="3108960" y="3610051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675888" y="3628339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3675888" y="3838651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reusable user feedback from scratch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108960" y="4089197"/>
            <a:ext cx="58064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9" name="Shape 77"/>
          <p:cNvSpPr/>
          <p:nvPr/>
        </p:nvSpPr>
        <p:spPr>
          <a:xfrm>
            <a:off x="3108960" y="4089197"/>
            <a:ext cx="438912" cy="42976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0" name="Text 78"/>
          <p:cNvSpPr/>
          <p:nvPr/>
        </p:nvSpPr>
        <p:spPr>
          <a:xfrm>
            <a:off x="3108960" y="4089197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3675888" y="4107485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3675888" y="4317797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blocks, how Program.cs fixes it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108960" y="4568342"/>
            <a:ext cx="5806440" cy="4297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4" name="Shape 82"/>
          <p:cNvSpPr/>
          <p:nvPr/>
        </p:nvSpPr>
        <p:spPr>
          <a:xfrm>
            <a:off x="3108960" y="4568342"/>
            <a:ext cx="438912" cy="42976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5" name="Text 83"/>
          <p:cNvSpPr/>
          <p:nvPr/>
        </p:nvSpPr>
        <p:spPr>
          <a:xfrm>
            <a:off x="3108960" y="4568342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3675888" y="458663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Activities + 2-Hour Lab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3675888" y="4796942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6/7 Enrolment schema → frontend demo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8580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— HTML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The Skeleton of Every Web Page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• Attributes • Semantic Elements • Head vs Body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How the Browser Reads Your File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is parsed top-to-bottom. Every tag opens a node in the DOM tree.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98348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98348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98348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Anatomy of an HTML Document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118872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↑ Declaration — tells browser: "this is HTML5"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Must be the VERY FIRST line. Not a tag, just a hint. --&gt;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↑ Root element — wraps EVERYTHING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lang="en" tells screen readers the language --&gt;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↑ Invisible to users. Contains metadata, links,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title, character encoding, viewport settings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↑ Character encoding. UTF-8 supports ALL languages.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Without this, special chars (é ñ ♥ 日) break. --&gt;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name="viewport" content="width=device-width, initial-scale=1.0"&gt;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↑ CRITICAL for mobile. Without this: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• Phone shows desktop layout zoomed out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• CSS media queries DO NOT WORK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Include this on every page you ever build. --&gt;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&lt;title&gt;LibraryApp&lt;/title&gt;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↑ Shows in browser tab and search results --&gt;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&lt;link rel="stylesheet" href="style.css"&gt;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↑ Loads your CSS file. href = path to the file.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Goes in &lt;head&gt; so CSS loads BEFORE the body renders.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This prevents flash of unstyled content.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↑ Everything visible to the user goes here --&gt;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Your page content here --&gt;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&lt;script src="app.js"&gt;&lt;/script&gt;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↑ Load JavaScript LAST — at the bottom of &lt;body&gt;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Why? JS runs immediately when the browser hits it.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If it's in &lt;head&gt;, the DOM doesn't exist yet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and querySelector() returns null.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500" dirty="0"/>
          </a:p>
        </p:txBody>
      </p:sp>
      <p:sp>
        <p:nvSpPr>
          <p:cNvPr id="15" name="Shape 13"/>
          <p:cNvSpPr/>
          <p:nvPr/>
        </p:nvSpPr>
        <p:spPr>
          <a:xfrm>
            <a:off x="5486400" y="987552"/>
            <a:ext cx="34290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5614416" y="1033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14416" y="13898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lang="en"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14416" y="1609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screen readers + SEO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14416" y="19293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charset UTF-8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14416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all languages/emoji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14416" y="2468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viewport meta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14416" y="26883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mobile + media queries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14416" y="30083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&lt;link&gt; in head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14416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before body = no flash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14416" y="35478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 last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14416" y="3767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exists before JS runs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14416" y="4087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&lt;html&gt;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14416" y="4306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root. Only one &lt;head&gt;, one &lt;body&gt;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347472" y="45902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&lt;head&gt; = instructions for the browser (invisible). &lt;body&gt; = instructions for the user (visible).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— Use the Right Tag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= the tag describes its PURPOSE, not just how it looks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98348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98348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98348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After: Semantic HTML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BEFORE — all divs, no meaning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class="top"&gt;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class="nav"&gt;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class="link"&gt;Home&lt;/div&gt;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class="content"&gt;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class="article"&gt;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class="heading"&gt;Latest Books&lt;/div&gt;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class="para"&gt;Clean Code is a must-read...&lt;/div&gt;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class="bottom"&gt;© 2026&lt;/div&gt;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AFTER — semantic HTML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href="/"&gt;Home&lt;/a&gt;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&lt;/nav&gt;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&lt;article&gt;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&lt;h1&gt;Latest Books&lt;/h1&gt;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&lt;p&gt;Clean Code is a must-read...&lt;/p&gt;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&lt;/article&gt;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&lt;footer&gt;© 2026&lt;/footer&gt;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Same visual result. But the second version: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✓ Screen readers can navigate it correctly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✓ Search engines understand importance of content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✓ Other developers understand your intent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✓ Browser applies default styling intelligently --&gt;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5486400" y="987552"/>
            <a:ext cx="34290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5614416" y="10332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 Reference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14416" y="1325880"/>
            <a:ext cx="32004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5650992" y="13624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784848" y="13624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area — logo, navigation, hero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14416" y="1600200"/>
            <a:ext cx="3200400" cy="25603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5650992" y="16367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84848" y="163677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of navigation links (can appear anywhere)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14416" y="1874520"/>
            <a:ext cx="32004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5650992" y="19110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784848" y="19110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content. Only ONE per page.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14416" y="2148840"/>
            <a:ext cx="3200400" cy="25603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5650992" y="21854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84848" y="21854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thematic grouping with a heading. Like a chapter.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14416" y="2423160"/>
            <a:ext cx="32004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5650992" y="24597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84848" y="245973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content (a blog post, a book card)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14416" y="2697480"/>
            <a:ext cx="3200400" cy="25603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3" name="Text 31"/>
          <p:cNvSpPr/>
          <p:nvPr/>
        </p:nvSpPr>
        <p:spPr>
          <a:xfrm>
            <a:off x="5650992" y="27340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84848" y="27340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but secondary — sidebar, callout boxes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614416" y="2971800"/>
            <a:ext cx="32004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6" name="Text 34"/>
          <p:cNvSpPr/>
          <p:nvPr/>
        </p:nvSpPr>
        <p:spPr>
          <a:xfrm>
            <a:off x="5650992" y="30083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84848" y="300837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of page or section — copyright, links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614416" y="3246120"/>
            <a:ext cx="3200400" cy="25603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9" name="Text 37"/>
          <p:cNvSpPr/>
          <p:nvPr/>
        </p:nvSpPr>
        <p:spPr>
          <a:xfrm>
            <a:off x="5650992" y="32826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&lt;figure&gt;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784848" y="32826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optional &lt;figcaption&gt; label below it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614416" y="3520440"/>
            <a:ext cx="32004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2" name="Text 40"/>
          <p:cNvSpPr/>
          <p:nvPr/>
        </p:nvSpPr>
        <p:spPr>
          <a:xfrm>
            <a:off x="5650992" y="35570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&lt;h1&gt;–&lt;h6&gt;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84848" y="35570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Headings. h1 = most important. ONE h1 per page.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614416" y="3794760"/>
            <a:ext cx="3200400" cy="25603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5" name="Text 43"/>
          <p:cNvSpPr/>
          <p:nvPr/>
        </p:nvSpPr>
        <p:spPr>
          <a:xfrm>
            <a:off x="5650992" y="3831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784848" y="383133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of text. Block-level.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14416" y="4069080"/>
            <a:ext cx="32004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8" name="Text 46"/>
          <p:cNvSpPr/>
          <p:nvPr/>
        </p:nvSpPr>
        <p:spPr>
          <a:xfrm>
            <a:off x="5650992" y="41056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&lt;span&gt;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784848" y="41056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container. No semantic meaning — for styling.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614416" y="4343400"/>
            <a:ext cx="3200400" cy="25603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1" name="Text 49"/>
          <p:cNvSpPr/>
          <p:nvPr/>
        </p:nvSpPr>
        <p:spPr>
          <a:xfrm>
            <a:off x="5650992" y="43799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0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784848" y="437997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block container. Use when nothing else fits.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Forms &amp; Common Attributes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are how users send data. Attributes configure element behaviour.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Forms — Every Input Type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1204898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FORM — contains input elements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action: where to send data (we override with JS)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method: GET or POST (we override with fetch())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id="add-book-form"&gt;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TEXT — single line of text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    name="title"  placeholder="Book title"  required&gt;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NUMBER — only allows numeric input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type="number"   name="year"   placeholder="Year"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min="1000" max="2030"&gt;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EMAIL — validates email format automatically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type="email"    name="email"  placeholder="your@email.com"&gt;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PASSWORD — hides characters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type="password" name="pass"   placeholder="Password"&gt;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SEARCH — shows clear button on some browsers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type="search"   id="search"   placeholder="Search books..."&gt;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DROPDOWN — predefined options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&lt;select name="genre"&gt;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&lt;option value=""&gt;-- Select Genre --&lt;/option&gt;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&lt;option value="Programming"&gt;Programming&lt;/option&gt;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&lt;option value="Fiction"&gt;Fiction&lt;/option&gt;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&lt;/select&gt;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MULTI-LINE TEXT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&lt;textarea name="description" rows="4"&gt;&lt;/textarea&gt;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CHECKBOX — true/false toggle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type="checkbox" name="available" checked&gt;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&lt;label&gt;Available&lt;/label&gt;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SUBMIT — triggers the submit event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type="submit"&gt;Add Book&lt;/button&gt;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RESET — clears all fields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type="reset"&gt;Clear&lt;/button&gt;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50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HTML Attributes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36592" y="121158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ID — unique identifier. One per page.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Used by: getElementById, querySelector, CSS #id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id="books-grid"&gt;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CLASS — reusable group label. Multiple allowed.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Used by: querySelectorAll, CSS .class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class="book-card featured"&gt;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href — where a link goes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href="https://example.com"&gt;External link&lt;/a&gt;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href="/books"&gt;Internal link&lt;/a&gt;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href="#section-id"&gt;Same-page anchor&lt;/a&gt;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src — source file for media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 src="cover.jpg"   alt="Book cover"&gt;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src="app.js"&gt;&lt;/script&gt;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alt — fallback text for images (accessibility)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src="cover.jpg" alt="Clean Code book cover"&gt;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data-* — custom data attributes (used by JavaScript)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class="book-card" data-id="42" data-genre="Fiction"&gt;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Access in JS: element.dataset.id  → "42"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element.dataset.genre → "Fiction" --&gt;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disabled — prevents interaction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disabled&gt;Loading...&lt;/button&gt;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placeholder — hint text inside input (disappears on focus)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placeholder="Search books..."&gt;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required — browser validates this field is not empty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 name="title" required&gt;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readonly — shows value but user cannot edit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 value="Robert Martin" readonly&gt;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347472" y="45902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must be unique on the page. class can be shared. Use id for JS targeting, class for styling multiple elements.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8580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— CSS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Styling &amp; Layout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 • Selectors • Flexbox • Grid • Variables • Animations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Selectors &amp; The Box Model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target elements. The box model defines how space is calculated.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256032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4069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ELEMENT — all &lt;p&gt; tags */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#333; }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CLASS — elements with class="book-card" */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.book-card { border-radius: 12px; }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ID — element with id="books-grid" */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#books-grid { display: grid; }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DESCENDANT — &lt;h3&gt; inside .book-card */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.book-card h3 { font-size: 1.1rem; }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DIRECT CHILD — only immediate children */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.navbar &gt; ul { list-style: none; }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PSEUDO-CLASS — on hover */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.book-card:hover { transform: translateY(-6px); }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PSEUDO-CLASS — first/last child */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li:first-child { border-top: none; }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li:last-child  { border-bottom: none; }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PSEUDO-CLASS — nth child */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tr:nth-child(even) { background: #F5F5F5; }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ATTRIBUTE — input with type="text" */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input[type="text"] { border: 2px solid #E0E0E0; }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MULTIPLE — applies to ALL listed */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h1, h2, h3 { font-family: 'Calibri Black'; }</a:t>
            </a:r>
            <a:endParaRPr lang="en-US" sz="48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256032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Model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1280160"/>
            <a:ext cx="4069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Every element is a rectangular box with 4 layers: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content → padding → border → margin               */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.book-card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CONTENT — width/height of the actual content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300px;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auto;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PADDING — space INSIDE the border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1.5rem;           /* all 4 sides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1rem 2rem;        /* top/bottom | left/right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1rem 2rem 1.5rem 2rem; /* top right bottom left */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BORDER — the visible line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2px solid #CD172D;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border-top: 4px solid #CD172D; /* only top side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12px;           /* rounded corners */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MARGIN — space OUTSIDE the border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1.5rem;            /* pushes away from siblings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 auto;            /* center horizontally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CRITICAL: box-sizing fix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Default: width = content only. Padding ADDS to width.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Fix:     width = content + padding + border combined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*, *::before, *::after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box-sizing: border-box; /* ALWAYS add this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228600" y="3630168"/>
            <a:ext cx="8686800" cy="1078992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228600" y="3630168"/>
            <a:ext cx="868680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228600" y="3758184"/>
            <a:ext cx="868680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338328" y="3648456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— Which CSS Rule Wins?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" y="3922776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When two rules target the same element, the MORE SPECIFIC one wins.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Specificity order (lowest → highest):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element (p, div)  →  class (.card)  →  id (#main)  →  inline style  →  !important */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          { color: black; }   /* specificity: 0,0,1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.book-card p { color: navy; }    /* specificity: 0,1,1 ← wins (more specific)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#hero p      { color: red; }     /* specificity: 1,0,1 ← wins over class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          { color: blue !important; } /* ← nuclear option. Avoid. Breaks maintenance. */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&amp; Flexbox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let you define your design system once. Flexbox handles 1-dimensional layouts.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(Variables)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" y="122811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Custom properties are defined in :root — available everywhere */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COLOURS */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--red:        #CD172D;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--navy:       #0E0F30;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--bg:         #F1F5F9;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--white:      #FFFFFF;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--text:       #1A1A2E;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--muted:      #6B7280;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--border:     #E0E0E0;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DESIGN TOKENS */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--radius:     12px;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--shadow:     0 4px 24px rgba(0,0,0,0.08);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--shadow-lg:  0 12px 40px rgba(0,0,0,0.15);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--transition: all 0.25s ease;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SPACING SCALE */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--space-sm: 0.5rem;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--space-md: 1rem;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--space-lg: 1.5rem;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--space-xl: 2rem;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 variables with var() */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.book-card {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   var(--white);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var(--radius);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    var(--shadow);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border-top:    4px solid var(--red);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      var(--space-lg);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   var(--transition);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OVERRIDE in a specific scope */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.dark-theme {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--bg:   #0F172A;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--white: #1E293B;  /* elements using var(--white) auto-update */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— 1D Layout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1207008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Flexbox: for layouts that go in ONE direction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(either a row OR a column, not both at once) */</a:t>
            </a:r>
            <a:endParaRPr lang="en-US" sz="530" dirty="0"/>
          </a:p>
          <a:p>
            <a:pPr marL="0" indent="0">
              <a:buNone/>
            </a:pP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CONTAINER properties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.navbar {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                   /* activate flexbox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flex-direction: row;             /* row (default) | column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  /* horizontal spacing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other values: flex-start | flex-end | center |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space-around | space-evenly 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             /* vertical alignment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other values: flex-start | flex-end | stretch | baseline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1rem;                       /* space between items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flex-wrap: wrap;                 /* allow wrapping to next line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30" dirty="0"/>
          </a:p>
          <a:p>
            <a:pPr marL="0" indent="0">
              <a:buNone/>
            </a:pP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ITEM properties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.nav-link {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flex: 1;        /* grow to fill remaining space equally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flex-grow: 1;   /* how much to grow (relative)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flex-shrink: 0; /* don't shrink below natural size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flex-basis: 200px; /* starting size before growing/shrinking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align-self: flex-end; /* override container's align-items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30" dirty="0"/>
          </a:p>
          <a:p>
            <a:pPr marL="0" indent="0">
              <a:buNone/>
            </a:pP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CENTERING TRICK — the most common use of flexbox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.centered {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center;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30" dirty="0"/>
          </a:p>
          <a:p>
            <a:pPr marL="0" indent="0">
              <a:buNone/>
            </a:pP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COLUMN LAYOUT — stack children vertically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.book-card {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flex-direction: column;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0.5rem;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Push last element to bottom */</a:t>
            </a:r>
            <a:endParaRPr lang="en-US" sz="530" dirty="0"/>
          </a:p>
          <a:p>
            <a:pPr marL="0" indent="0">
              <a:buNone/>
            </a:pPr>
            <a:r>
              <a:rPr lang="en-US" sz="5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.book-card .btn-delete { margin-top: auto; }</a:t>
            </a:r>
            <a:endParaRPr lang="en-US" sz="530" dirty="0"/>
          </a:p>
        </p:txBody>
      </p:sp>
      <p:sp>
        <p:nvSpPr>
          <p:cNvPr id="20" name="Shape 18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347472" y="45902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rule: justify-content controls the MAIN axis (flex-direction). align-items controls the CROSS axis. In row: main=horizontal, cross=vertical. In column: main=vertical, cross=horizontal.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&amp; Responsive Design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handles 2-dimensional layouts. Media queries adapt to screen size.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228600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— 2D Layout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CONTAINER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.books-grid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EXPLICIT columns — 3 equal columns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1fr 1fr 1fr;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repeat(3, 1fr);  /* same thing */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AUTO-RESPONSIVE — the magic one-liner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repeat(auto-fill, minmax(260px, 1fr));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auto-fill: create as many columns as fit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minmax(260px, 1fr): each column min 260px, max 1 equal share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Result: 1 col on phone, 2 on tablet, 3+ on desktop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NO MEDIA QUERIES NEEDED */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1.5rem;         /* space between cells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row-gap: 1rem;       /* space between rows only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column-gap: 2rem;    /* space between columns only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ITEM spanning multiple columns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.featured-card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grid-column: span 2;  /* takes up 2 columns wide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grid-row: span 2;     /* takes up 2 rows tall */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0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228600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— Mobile First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36592" y="1298448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MOBILE FIRST: write base styles for phones.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Add @media rules to ENHANCE for larger screens. */</a:t>
            </a:r>
            <a:endParaRPr lang="en-US" sz="330" dirty="0"/>
          </a:p>
          <a:p>
            <a:pPr marL="0" indent="0">
              <a:buNone/>
            </a:pP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BASE — phones (no @media needed) */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.books-grid {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1fr;  /* 1 column */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1rem;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330" dirty="0"/>
          </a:p>
          <a:p>
            <a:pPr marL="0" indent="0">
              <a:buNone/>
            </a:pP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.navbar { padding: 0 1rem; }</a:t>
            </a:r>
            <a:endParaRPr lang="en-US" sz="330" dirty="0"/>
          </a:p>
          <a:p>
            <a:pPr marL="0" indent="0">
              <a:buNone/>
            </a:pP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TABLET — 600px and up */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600px) {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.books-grid {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grid-template-columns: repeat(2, 1fr);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.navbar { padding: 0 1.5rem; }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330" dirty="0"/>
          </a:p>
          <a:p>
            <a:pPr marL="0" indent="0">
              <a:buNone/>
            </a:pP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DESKTOP — 1024px and up */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1024px) {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.books-grid {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grid-template-columns: repeat(3, 1fr);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330" dirty="0"/>
          </a:p>
          <a:p>
            <a:pPr marL="0" indent="0">
              <a:buNone/>
            </a:pP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WIDE DESKTOP — 1400px+ */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1400px) {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.books-grid {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grid-template-columns: repeat(4, 1fr);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.container { max-width: 1400px; }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330" dirty="0"/>
          </a:p>
          <a:p>
            <a:pPr marL="0" indent="0">
              <a:buNone/>
            </a:pP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DARK MODE — respects OS setting */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(prefers-color-scheme: dark) {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:root { --bg: #0F172A; --white: #1E293B; }</a:t>
            </a:r>
            <a:endParaRPr lang="en-US" sz="330" dirty="0"/>
          </a:p>
          <a:p>
            <a:pPr marL="0" indent="0">
              <a:buNone/>
            </a:pPr>
            <a:r>
              <a:rPr lang="en-US" sz="3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330" dirty="0"/>
          </a:p>
        </p:txBody>
      </p:sp>
      <p:sp>
        <p:nvSpPr>
          <p:cNvPr id="20" name="Shape 18"/>
          <p:cNvSpPr/>
          <p:nvPr/>
        </p:nvSpPr>
        <p:spPr>
          <a:xfrm>
            <a:off x="228600" y="3355848"/>
            <a:ext cx="8686800" cy="1353312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228600" y="3355848"/>
            <a:ext cx="868680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228600" y="3483864"/>
            <a:ext cx="868680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338328" y="3374136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&amp; Keyframe Animations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" y="3648456"/>
            <a:ext cx="8503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.book-card { transition: transform 0.25s ease, box-shadow 0.25s ease;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.book-card:hover { transform: translateY(-6px); box-shadow: var(--shadow-lg);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↑ GPU-accelerated. NEVER animate top/left/width/height — those force layout recalc */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fadeInUp {                          @keyframes spin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{ opacity: 0; transform: translateY(16px); }   to { transform: rotate(360deg);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  { opacity: 1; transform: translateY(0); }  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                                           .spinner { animation: spin 0.8s linear infinite;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.book-card { animation: fadeInUp 0.3s ease forwards; }   /* linear = constant speed */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28600" y="164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🎨  LIVE DEMO — Library App UI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0" y="164592"/>
            <a:ext cx="2057400" cy="3474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858000" y="1645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→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603504"/>
            <a:ext cx="8686800" cy="4114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603504"/>
            <a:ext cx="8686800" cy="34747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749808"/>
            <a:ext cx="8686800" cy="20116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411480" y="694944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667512" y="69494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Shape 13"/>
          <p:cNvSpPr/>
          <p:nvPr/>
        </p:nvSpPr>
        <p:spPr>
          <a:xfrm>
            <a:off x="923544" y="694944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1280160" y="676656"/>
            <a:ext cx="5029200" cy="20116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1325880" y="68580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http://127.0.0.1:5500/index.html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950976"/>
            <a:ext cx="8686800" cy="402336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411480" y="996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📚  LibraryApp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1033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75120" y="1033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Book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80960" y="1033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1353312"/>
            <a:ext cx="8686800" cy="336499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502920" y="1426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F30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Book Catalog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0" y="1444752"/>
            <a:ext cx="20116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5084064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books...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132320" y="1444752"/>
            <a:ext cx="1554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/>
          <p:nvPr/>
        </p:nvSpPr>
        <p:spPr>
          <a:xfrm>
            <a:off x="7187184" y="14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Genres ▾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7472" y="1828800"/>
            <a:ext cx="2697480" cy="2798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Shape 28"/>
          <p:cNvSpPr/>
          <p:nvPr/>
        </p:nvSpPr>
        <p:spPr>
          <a:xfrm>
            <a:off x="347472" y="1828800"/>
            <a:ext cx="2697480" cy="6400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1" name="Shape 29"/>
          <p:cNvSpPr/>
          <p:nvPr/>
        </p:nvSpPr>
        <p:spPr>
          <a:xfrm>
            <a:off x="475488" y="1975104"/>
            <a:ext cx="1229868" cy="201168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2" name="Text 30"/>
          <p:cNvSpPr/>
          <p:nvPr/>
        </p:nvSpPr>
        <p:spPr>
          <a:xfrm>
            <a:off x="512064" y="200253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5488" y="2249424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F30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Clean Code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" y="2633472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Robert Martin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" y="283464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" y="3108960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7" name="Text 35"/>
          <p:cNvSpPr/>
          <p:nvPr/>
        </p:nvSpPr>
        <p:spPr>
          <a:xfrm>
            <a:off x="640080" y="3081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" y="3383280"/>
            <a:ext cx="1143000" cy="25603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9" name="Text 37"/>
          <p:cNvSpPr/>
          <p:nvPr/>
        </p:nvSpPr>
        <p:spPr>
          <a:xfrm>
            <a:off x="475488" y="34015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Lend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682496" y="3383280"/>
            <a:ext cx="1234440" cy="256032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1" name="Text 39"/>
          <p:cNvSpPr/>
          <p:nvPr/>
        </p:nvSpPr>
        <p:spPr>
          <a:xfrm>
            <a:off x="1682496" y="3401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Delete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0" y="1828800"/>
            <a:ext cx="2697480" cy="2798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3" name="Shape 41"/>
          <p:cNvSpPr/>
          <p:nvPr/>
        </p:nvSpPr>
        <p:spPr>
          <a:xfrm>
            <a:off x="3200400" y="1828800"/>
            <a:ext cx="2697480" cy="6400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4" name="Shape 42"/>
          <p:cNvSpPr/>
          <p:nvPr/>
        </p:nvSpPr>
        <p:spPr>
          <a:xfrm>
            <a:off x="3328416" y="1975104"/>
            <a:ext cx="882396" cy="201168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5" name="Text 43"/>
          <p:cNvSpPr/>
          <p:nvPr/>
        </p:nvSpPr>
        <p:spPr>
          <a:xfrm>
            <a:off x="3364992" y="200253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328416" y="2249424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F30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Dune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328416" y="2633472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Frank Herbert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28416" y="283464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28416" y="3108960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0" name="Text 48"/>
          <p:cNvSpPr/>
          <p:nvPr/>
        </p:nvSpPr>
        <p:spPr>
          <a:xfrm>
            <a:off x="3493008" y="3081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328416" y="3383280"/>
            <a:ext cx="1143000" cy="25603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2" name="Text 50"/>
          <p:cNvSpPr/>
          <p:nvPr/>
        </p:nvSpPr>
        <p:spPr>
          <a:xfrm>
            <a:off x="3328416" y="34015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Lend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35424" y="3383280"/>
            <a:ext cx="1234440" cy="256032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4" name="Text 52"/>
          <p:cNvSpPr/>
          <p:nvPr/>
        </p:nvSpPr>
        <p:spPr>
          <a:xfrm>
            <a:off x="4535424" y="3401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Delete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53328" y="1828800"/>
            <a:ext cx="2697480" cy="2798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6" name="Shape 54"/>
          <p:cNvSpPr/>
          <p:nvPr/>
        </p:nvSpPr>
        <p:spPr>
          <a:xfrm>
            <a:off x="6053328" y="1828800"/>
            <a:ext cx="2697480" cy="6400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7" name="Shape 55"/>
          <p:cNvSpPr/>
          <p:nvPr/>
        </p:nvSpPr>
        <p:spPr>
          <a:xfrm>
            <a:off x="6181344" y="1975104"/>
            <a:ext cx="882396" cy="201168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8" name="Text 56"/>
          <p:cNvSpPr/>
          <p:nvPr/>
        </p:nvSpPr>
        <p:spPr>
          <a:xfrm>
            <a:off x="6217920" y="200253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181344" y="2249424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F30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Sapiens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181344" y="2633472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Yuval Harari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181344" y="283464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81344" y="310896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3" name="Text 61"/>
          <p:cNvSpPr/>
          <p:nvPr/>
        </p:nvSpPr>
        <p:spPr>
          <a:xfrm>
            <a:off x="6345936" y="3081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81344" y="3383280"/>
            <a:ext cx="1143000" cy="25603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5" name="Text 63"/>
          <p:cNvSpPr/>
          <p:nvPr/>
        </p:nvSpPr>
        <p:spPr>
          <a:xfrm>
            <a:off x="6181344" y="34015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Lend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388352" y="3383280"/>
            <a:ext cx="1234440" cy="256032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7" name="Text 65"/>
          <p:cNvSpPr/>
          <p:nvPr/>
        </p:nvSpPr>
        <p:spPr>
          <a:xfrm>
            <a:off x="7388352" y="3401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Delete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766560" y="4434840"/>
            <a:ext cx="210312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9" name="Text 67"/>
          <p:cNvSpPr/>
          <p:nvPr/>
        </p:nvSpPr>
        <p:spPr>
          <a:xfrm>
            <a:off x="6812280" y="4453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Book added!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937760" y="44531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Toast notification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56032" y="460857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CSS Grid: 3 columns on desktop, 1 on mobile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118872"/>
            <a:ext cx="9144000" cy="566928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274320" y="155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ACTIVITY  —  20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93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Library App HTML &amp; CSS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822960"/>
            <a:ext cx="8686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Recreate the UI shown in the demo slide — static HTML/CSS only (no JavaScript yet)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Create a new folder called LibraryFrontend → open in VS Code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files: index.html and style.css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index.html: build the semantic skeleton: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&lt;header&gt; with &lt;nav class="navbar"&gt; containing brand + links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&lt;main class="container"&gt; with two &lt;section&gt; tags: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- #books: h1, search input, genre select, &lt;div id="books-grid" class="books-grid"&gt;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- #add-book: h2, form with inputs (title, author, genre, year) + submit button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&lt;footer&gt; with copyright text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&lt;script src="app.js"&gt;&lt;/script&gt; at the bottom of body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style.css: add these styles in order: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:root { --red: #CD172D; --navy: #0E0F30; } custom properties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box-sizing reset + body font/color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.navbar: display:flex + sticky + navy background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.books-grid: display:grid + repeat(auto-fill, minmax(260px,1fr))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.book-card: white bg + border-radius:12px + border-top:4px solid var(--red) + hover lift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.genre-badge pill + .status-available / .status-unavailable colors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Media queries: 1 col mobile → 2 col 600px → 3 col 1024px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Hardcode 3 book cards directly in HTML with different genres and statuses</a:t>
            </a:r>
          </a:p>
          <a:p>
            <a:pPr marL="0" indent="0">
              <a:buNone/>
            </a:pPr>
            <a:endParaRPr lang="en-US" sz="9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C1C5E-4199-468D-2349-766DF5D8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3DE1AB-8E16-E0F9-7DEC-71BCB6D186E8}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D7018E5-E97B-09D3-DADE-E5BC3DC45F3D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A37821-AA12-6B29-0251-34BC5342B73E}"/>
              </a:ext>
            </a:extLst>
          </p:cNvPr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F68D45-D743-73AB-6DF6-8F09D4EBCB58}"/>
              </a:ext>
            </a:extLst>
          </p:cNvPr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F481AD-73FD-6A1B-774C-A218D8E3FB73}"/>
              </a:ext>
            </a:extLst>
          </p:cNvPr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2CF77EA-870D-8561-23C7-31D4368E941C}"/>
              </a:ext>
            </a:extLst>
          </p:cNvPr>
          <p:cNvSpPr/>
          <p:nvPr/>
        </p:nvSpPr>
        <p:spPr>
          <a:xfrm>
            <a:off x="0" y="118872"/>
            <a:ext cx="9144000" cy="566928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36E7111-CA7C-9A05-FD61-C5431C36B29B}"/>
              </a:ext>
            </a:extLst>
          </p:cNvPr>
          <p:cNvSpPr/>
          <p:nvPr/>
        </p:nvSpPr>
        <p:spPr>
          <a:xfrm>
            <a:off x="274320" y="155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ACTIVITY  —  20 MIN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6654E7C-1447-1DEB-A6C5-461C1F910BA6}"/>
              </a:ext>
            </a:extLst>
          </p:cNvPr>
          <p:cNvSpPr/>
          <p:nvPr/>
        </p:nvSpPr>
        <p:spPr>
          <a:xfrm>
            <a:off x="274320" y="393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Library App HTML &amp; CSS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3D79672-C72E-5539-332D-CB93A0D3732A}"/>
              </a:ext>
            </a:extLst>
          </p:cNvPr>
          <p:cNvSpPr/>
          <p:nvPr/>
        </p:nvSpPr>
        <p:spPr>
          <a:xfrm>
            <a:off x="228600" y="822960"/>
            <a:ext cx="8686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D305597-6BCE-7BF0-5094-A84F733A2A1C}"/>
              </a:ext>
            </a:extLst>
          </p:cNvPr>
          <p:cNvSpPr/>
          <p:nvPr/>
        </p:nvSpPr>
        <p:spPr>
          <a:xfrm>
            <a:off x="411480" y="896112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drop your frontend files into the </a:t>
            </a: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wwwroot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folder and dotnet run serves them automatically.</a:t>
            </a:r>
          </a:p>
          <a:p>
            <a:endParaRPr lang="en-US" sz="9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LibraryApi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</a:p>
          <a:p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Controllers/</a:t>
            </a:r>
          </a:p>
          <a:p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Models/</a:t>
            </a:r>
          </a:p>
          <a:p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</a:t>
            </a: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wwwroot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        ← create this folder</a:t>
            </a:r>
          </a:p>
          <a:p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├── index.html    ← create here</a:t>
            </a:r>
          </a:p>
          <a:p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├── style.css     ← create here</a:t>
            </a:r>
          </a:p>
          <a:p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└── app.js        ← create here</a:t>
            </a:r>
          </a:p>
          <a:p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</a:t>
            </a: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9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 </a:t>
            </a: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LibraryApi.csproj</a:t>
            </a:r>
            <a:endParaRPr lang="en-US" sz="9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9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Add this line after </a:t>
            </a: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builder.Build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(), before </a:t>
            </a: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app.MapControllers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():</a:t>
            </a:r>
          </a:p>
          <a:p>
            <a:endParaRPr lang="en-US" sz="9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 look like this:</a:t>
            </a:r>
            <a:b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app = </a:t>
            </a: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builder.Build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();</a:t>
            </a:r>
          </a:p>
          <a:p>
            <a:endParaRPr lang="en-US" sz="9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app.UseStaticFiles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();   // ← ADD THIS</a:t>
            </a:r>
          </a:p>
          <a:p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app.UseCors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("AllowFrontend");</a:t>
            </a:r>
          </a:p>
          <a:p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app.MapControllers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();</a:t>
            </a:r>
          </a:p>
          <a:p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app.Run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();</a:t>
            </a:r>
          </a:p>
          <a:p>
            <a:endParaRPr lang="en-US" sz="9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</a:t>
            </a: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LibraryApi</a:t>
            </a:r>
            <a:endParaRPr lang="en-US" sz="9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run</a:t>
            </a:r>
          </a:p>
        </p:txBody>
      </p:sp>
    </p:spTree>
    <p:extLst>
      <p:ext uri="{BB962C8B-B14F-4D97-AF65-F5344CB8AC3E}">
        <p14:creationId xmlns:p14="http://schemas.microsoft.com/office/powerpoint/2010/main" val="3540611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8580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— JAVASCRIPT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Behaviour &amp; Interactivity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• Functions • Arrays • Objects • Scope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7162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Core Fundamentals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runs in the browser and controls everything interactive on the page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Types &amp; Functions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VARIABLES ─────────────────────────────────────────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let  — can be reassigned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count = 0;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1;  // fine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 — cannot be reassigned (use this by default)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API_BASE = 'http://localhost:5000/api';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API_BASE = other;  // TypeError if reassigned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 — old, avoid. Has function scope (not block scope).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TYPES ──────────────────────────────────────────────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fullName = "Ana Reyes";  // string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year     = 2008;         // number (int AND float are both "number")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active   = true;         // boolean — true or false (lowercase)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empty    = null;         // null — intentionally empty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  missing;                 // undefined — declared but not set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TEMPLATE LITERALS ───────────────────────────────────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Backtick ( ` ) + dollar-sign + curly brace = embed JS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msg = `Hello ${fullName}, year: ${year}`;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'Hello Ana Reyes, year: 2008'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Any JS expression works inside the curly braces: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calc = `Sum: ${2 + 2}`;   // "Sum: 4"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FUNCTIONS ──────────────────────────────────────────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greet(name) {          // declaration — hoisted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`Hello, ${name}!`;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greet2 = (name) =&gt; `Hello, ${name}!`; // arrow function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square = n =&gt; n * n;      // single param, no parens needed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    = (a, b) =&gt; a + b; // implicit return (no braces)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fn = (x) =&gt; {             // block body — explicit return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doubled = x * 2;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doubled;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greet3 = (name, title = 'Ms.') =&gt; `Hello, ${title} ${name}!`;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greet3('Ana')         → 'Hello, Ms. Ana!'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greet3('Ana', 'Dr.')  → 'Hello, Dr. Ana!'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Objects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128016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ARRAYS ────────────────────────────────────────────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books = ['Clean Code', 'Dune', 'Sapiens'];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Access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books[0]           // 'Clean Code'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books.length       // 3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books[books.length - 1]  // 'Sapiens' (last item)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/ Remove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books.push('Pragmatic Programmer');   // add to end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books.pop();                          // remove from end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books.unshift('New First');           // add to start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books.shift();                        // remove from start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books.splice(1, 1);                   // remove 1 item at index 1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Iterate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books.forEach((book, index) =&gt; {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console.log(index, book);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Transform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upper = books.map(b =&gt; b.toUpperCase());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long  = books.filter(b =&gt; b.length &gt; 5);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found = books.find(b =&gt; b.includes('Code'));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OBJECTS ────────────────────────────────────────────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book = {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    1,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 'Clean Code',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author: { fullName: 'Robert Martin' },  // nested object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available: true,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Access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book.title            // 'Clean Code'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book['title']         // same — bracket notation for dynamic keys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book.author.fullName  // 'Robert Martin' (chained access)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Optional chaining — safe if author is null/undefined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book.author?.fullName  // 'Robert Martin' or undefined (no crash)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Destructuring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title, author } = book;     // same as: const title = book.title;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[first, second] = books;      // array destructuring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Spread operator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updated = { ...book, available: false }; // copy + override</a:t>
            </a:r>
            <a:endParaRPr lang="en-US" sz="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8580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— THREE SEPARATE FILES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How HTML, CSS &amp; JavaScript Work Together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style.css + app.js — one directory, three roles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HTML, CSS &amp; JavaScript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has ONE job. They communicate through the HTML file.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274320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274320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274320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LibraryFrontend/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      ← Structure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(The skeleton and entry point)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style.css       ← Presentation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(All colours, fonts, layout)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app.js          ← Behaviour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(All interactivity, API calls)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assets/         ← Optional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logo.png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favicon.ico</a:t>
            </a:r>
            <a:endParaRPr lang="en-US" sz="690" dirty="0"/>
          </a:p>
          <a:p>
            <a:pPr marL="0" indent="0">
              <a:buNone/>
            </a:pP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WHY SEPARATE? */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1. Single Responsibility — each file does one thing */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2. Maintainability — change CSS without touching HTML */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3. Caching — browser caches CSS and JS separately */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4. Team work — designer edits CSS, dev edits JS */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5. Readability — files stay small and focused */</a:t>
            </a:r>
            <a:endParaRPr lang="en-US" sz="690" dirty="0"/>
          </a:p>
          <a:p>
            <a:pPr marL="0" indent="0">
              <a:buNone/>
            </a:pP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NEVER mix all three in one file on a real project */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(We started that way to learn, now we separate) */</a:t>
            </a:r>
            <a:endParaRPr lang="en-US" sz="690" dirty="0"/>
          </a:p>
        </p:txBody>
      </p:sp>
      <p:sp>
        <p:nvSpPr>
          <p:cNvPr id="15" name="Shape 13"/>
          <p:cNvSpPr/>
          <p:nvPr/>
        </p:nvSpPr>
        <p:spPr>
          <a:xfrm>
            <a:off x="3108960" y="987552"/>
            <a:ext cx="274320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3108960" y="987552"/>
            <a:ext cx="274320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3108960" y="1115568"/>
            <a:ext cx="274320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3218688" y="10058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Links Both Files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18688" y="1207008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content="width=device-width, initial-scale=1.0"&gt;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&lt;title&gt;LibraryApp&lt;/title&gt;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LINK CSS — in &lt;head&gt;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rel="stylesheet" tells browser this is CSS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href is the PATH from index.html to style.css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Same folder: href="style.css"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Subfolder:   href="css/style.css"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Parent:      href="../style.css"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href="style.css"&gt;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All your HTML content here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&lt;header&gt;...&lt;/header&gt;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&lt;main&gt;...&lt;/main&gt;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&lt;footer&gt;...&lt;/footer&gt;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SCRIPT JS — at bottom of &lt;body&gt;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src is PATH from index.html to app.js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Bottom of body = DOM exists when JS runs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type="module" enables ES modules (import/export) --&gt;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&lt;script src="app.js"&gt;&lt;/script&gt;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style.css and app.js DO NOT reference each other.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They both connect through index.html only. */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989320" y="987552"/>
            <a:ext cx="292608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5989320" y="987552"/>
            <a:ext cx="292608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5989320" y="1115568"/>
            <a:ext cx="292608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6099048" y="100584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File Contains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1223772"/>
            <a:ext cx="2743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style.css — ONLY styles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 --red: #CD172D; 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.navbar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var(--navy);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.book-card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12px;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 var(--shadow);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NO &lt;style&gt; tags in this file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NO JavaScript in this file 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NO HTML in this file        */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─────────────────────── */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app.js — ONLY behaviour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API_BASE = 'http://localhost:5000/api';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loadBooks()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`${API_BASE}/books`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books = await res.json();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renderBooks(books);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NO &lt;script&gt; tags  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NO CSS in this file*/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NO HTML in this file*/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loadBooks();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347472" y="45902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it looks like something → CSS. If it IS something (structure) → HTML. If it DOES something (interactivity) → JavaScript. Keep the roles separate.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8580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— DOM MANIPULATION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Document Object Mode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• Creating • Modifying • Removing • Reading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DOM?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browser loads HTML, it builds a tree of JavaScript objects — one per element. That tree IS the DOM.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2606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→ DOM Tree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4069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Your HTML file --&gt;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&lt;header&gt;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&lt;h1&gt;LibraryApp&lt;/h1&gt;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&lt;/header&gt;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&lt;section id="books"&gt;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class="book-card"&gt;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&lt;h3&gt;Clean Code&lt;/h3&gt;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&lt;p&gt;Robert Martin&lt;/p&gt;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&lt;/section&gt;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&lt;/main&gt;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The browser parses this and builds a tree: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Window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└── document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└── &lt;html&gt;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├── &lt;head&gt;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└── &lt;body&gt;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├── &lt;header&gt;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│   └── &lt;h1&gt;  text: "LibraryApp"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└── &lt;main&gt;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└── &lt;section id="books"&gt;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└── &lt;div class="book-card"&gt;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├── &lt;h3&gt; text: "Clean Code"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└── &lt;p&gt;  text: "Robert Martin"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Every box is a JavaScript OBJECT.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JavaScript can read, create, modify, and delete any node. */</a:t>
            </a:r>
            <a:endParaRPr lang="en-US" sz="50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2606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the DOM from JavaScript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1280160"/>
            <a:ext cx="4069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DOM is accessed via the global "document" object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document = the entire HTML page as a JS object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console.log(document.title);    // "LibraryApp"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console.log(document.URL);      // current page URL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window = the browser window (parent of document)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console.log(window.innerWidth);  // browser width in px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console.log(window.location.href); // current URL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 you read a value: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title = document.title;  // reads from DOM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 you WRITE a value, the page UPDATES LIVE: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document.title = "New Title";   // browser tab changes instantly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is what makes web apps "dynamic" — JavaScript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reads and writes the DOM, and the browser re-renders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only the affected parts automatically.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page reload needed. No server round trip.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is different from traditional web pages where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interaction reloads the entire HTML from the server.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228600" y="3675888"/>
            <a:ext cx="8686800" cy="105156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228600" y="3675888"/>
            <a:ext cx="868680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228600" y="3803904"/>
            <a:ext cx="868680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338328" y="3694176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Layers Working Together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" y="3968496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builds the DOM nodes.   →   CSS styles the DOM nodes.   →   JavaScript manipulates the DOM nodes.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class="book-card"            .book-card {                    const card = document.querySelector('.book-card');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id="card-1"&gt;                   background: white;            card.style.borderColor = 'red';      // JS overrides CSS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&lt;h3&gt;Clean Code&lt;/h3&gt;               border: 2px solid navy;       card.classList.add('featured');      // JS adds CSS class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                            }                               card.querySelector('h3').textContent = 'Updated Title'; // JS changes content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— Selecting Elements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 operation starts by selecting the element you want to work with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Methods — All Variants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getElementById ──────────────────────────────────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Fastest. Returns ONE element or null.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grid = document.getElementById('books-grid');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Returns: HTMLDivElement or null (if id not found)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Does NOT include the # symbol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querySelector ─────────────────────────────────────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 FIRST matching element or null.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Uses CSS selector syntax — most flexible.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grid    = document.querySelector('#books-grid');  // by id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first   = document.querySelector('.book-card');   // by class (first match)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nav     = document.querySelector('nav');          // by tag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search  = document.querySelector('input[type="search"]'); // attribute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addBtn  = document.querySelector('button[type="submit"]');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inside  = document.querySelector('#form .title-input'); // nested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querySelectorAll ──────────────────────────────────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 NodeList of ALL matches (like an array).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 empty NodeList (not null) if nothing found.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allCards = document.querySelectorAll('.book-card');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headings = document.querySelectorAll('h1, h2, h3');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Iterate a NodeList: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allCards.forEach(card =&gt;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card.style.opacity = '0.5';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Convert to real array for all array methods: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cardsArray = Array.from(allCards);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cardsArray.filter(c =&gt; c.dataset.genre === 'Fiction');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the DOM Tree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128016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Once you have an element, you can navigate to relatives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card = document.querySelector('.book-card');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PARENT — the element that contains this one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card.parentElement          // the .books-grid div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card.closest('.container')  // nearest ancestor matching selector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CHILDREN — elements directly inside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card.children               // HTMLCollection of child elements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card.firstElementChild      // first child element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card.lastElementChild       // last child element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card.childElementCount      // number of children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SIBLINGS — same level in the tree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card.nextElementSibling     // next sibling element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card.previousElementSibling // previous sibling element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QUERYING WITHIN an element (scoped search)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Searches only inside that element — faster, more precise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title  = card.querySelector('h3');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badges = card.querySelectorAll('.badge');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↑ Much better than document.querySelector when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you know you're looking inside a specific card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if something exists before using it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btn = document.querySelector('#missing-btn');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(btn)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btn.addEventListener('click', handleClick);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null check: btn.addEventListener → TypeError: Cannot read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 properties of null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347472" y="45902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 vs getElementById: querySelector is more flexible (any CSS selector). getElementById is faster (O(1) lookup). For ids: use getElementById. For anything else: use querySelector.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— Creating &amp; Modifying Elements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content to the page, reading user input, changing existing content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 &amp; appendChild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CREATE an element ────────────────────────────────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card = document.createElement('div');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Creates a &lt;div&gt; in memory. Not yet on the page.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SET properties ────────────────────────────────────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card.className      = 'book-card';  // sets class attribute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card.id             = 'card-1';     // sets id attribute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card.dataset.bookId = '42';         // sets data-book-id="42"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card.textContent    = 'Clean Code'; // sets text (safe, no HTML)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innerHTML — set HTML content ──────────────────────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Powerful: can set nested HTML in one shot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Danger: if you include unsanitized user input,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attackers can inject malicious scripts (XSS)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card.innerHTML = \`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&lt;span class="genre-badge"&gt;Programming&lt;/span&gt;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&lt;h3&gt;\\${escapeHtml(book.title)}&lt;/h3&gt;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&lt;p&gt;\\${escapeHtml(book.author)}&lt;/p&gt;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\`;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 escape user-provided data with escapeHtml()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ADD to the page ────────────────────────────────────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grid = document.getElementById('books-grid');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grid.appendChild(card);    // add as LAST child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grid.prepend(card);        // add as FIRST child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grid.before(card);         // add BEFORE the grid (sibling)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grid.after(card);          // add AFTER the grid (sibling)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insertBefore — add before a specific child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existingCard = grid.firstElementChild;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grid.insertBefore(card, existingCard);  // insert before first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REMOVE from the page ──────────────────────────────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card.remove();             // remove the element itself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grid.removeChild(card);    // remove a specific child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Modifying Content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128016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textContent vs innerHTML ─────────────────────────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h3 = document.querySelector('h3');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h3.textContent   // "Clean Code" — plain text, no HTML tags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h3.innerHTML     // "Clean Code" — includes any HTML tags inside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WRITE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h3.textContent = '&lt;b&gt;Bold?&lt;/b&gt;';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↑ Shows literally as "&lt;b&gt;Bold?&lt;/b&gt;" — tags are escaped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SAFE for user input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h3.innerHTML = '&lt;b&gt;Bold!&lt;/b&gt;';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↑ Renders as bold text — interprets HTML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UNSAFE for user input (XSS risk)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style — direct inline styles ─────────────────────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card.style.backgroundColor = 'red';    // camelCase!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card.style.display         = 'none';   // hide element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card.style.display         = 'block';  // show element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card.style.opacity         = '0.5';    // semi-transparent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card.style.transform       = 'translateY(-8px)'; // lift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classList — working with CSS classes ─────────────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card.classList.add('featured');      // add a class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card.classList.remove('featured');   // remove a class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card.classList.toggle('active');     // add if absent, remove if present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card.classList.contains('featured'); // true or false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card.classList.replace('old', 'new'); // swap classes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attributes ────────────────────────────────────────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card.getAttribute('data-id')         // get attribute value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card.setAttribute('data-id', '42')   // set attribute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card.removeAttribute('disabled')     // remove attribute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card.hasAttribute('disabled')        // check existence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Form input values ─────────────────────────────────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input = document.querySelector('#search');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input.value           // current text in the input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input.value = '';     // clear the input field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input.focus();        // move cursor to this input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347472" y="45902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innerHTML with user-provided data without escaping first. Always use textContent when setting plain text — it is automatically safe.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8580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— EVENT HANDLING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Responding to User Actions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• Event Object • Form Events • Delegation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 — Responding to Users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is anything that happens in the browser. You "listen" for it and run code in response.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242316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— The Standard Way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4069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Syntax: element.addEventListener(event, handler)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event   = name of the event (string)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handler = function to run when event fires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btn = document.querySelector('#load-btn');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 1 — inline arrow function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() =&gt; {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loadBooks();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 2 — named function reference (cleaner)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loadBooks);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 3 — with the event object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(event) =&gt; {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console.log(event.target);   // the element clicked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console.log(event.type);     // "click"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loadBooks();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REMOVE a listener (must use named function)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btn.removeEventListener('click', loadBooks);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Common event names: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Mouse:    click, dblclick, mouseenter, mouseleave, mousemove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Keyboard: keydown, keyup, keypress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Form:     submit, input, change, focus, blur, reset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Window:   load, resize, scroll, DOMContentLoaded</a:t>
            </a:r>
            <a:endParaRPr lang="en-US" sz="45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242316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Object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1280160"/>
            <a:ext cx="4069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handler receives an EVENT OBJECT automatically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It contains information about what happened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document.querySelector('#search')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.addEventListener('input', (event) =&gt; {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event.target — the element that fired the event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input = event.target;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console.log(input.value);  // what user typed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event.type — what kind of event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console.log(event.type);   // "input"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For keyboard events: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event.key      // "Enter", "a", "Backspace" etc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event.code     // "Enter", "KeyA", "Backspace"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event.ctrlKey  // true if Ctrl was held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event.shiftKey // true if Shift was held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For mouse events: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event.clientX  // X position on screen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event.clientY  // Y position on screen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event.button   // 0=left, 1=middle, 2=right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450" dirty="0"/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for Enter key: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input.addEventListener('keydown', (e) =&gt; {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(e.key === 'Enter') {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e.preventDefault();  // stop form submit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doSearch(e.target.value);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450" dirty="0"/>
          </a:p>
          <a:p>
            <a:pPr marL="0" indent="0">
              <a:buNone/>
            </a:pPr>
            <a:r>
              <a:rPr lang="en-US" sz="4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450" dirty="0"/>
          </a:p>
        </p:txBody>
      </p:sp>
      <p:sp>
        <p:nvSpPr>
          <p:cNvPr id="20" name="Shape 18"/>
          <p:cNvSpPr/>
          <p:nvPr/>
        </p:nvSpPr>
        <p:spPr>
          <a:xfrm>
            <a:off x="228600" y="3493008"/>
            <a:ext cx="8686800" cy="12344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228600" y="3493008"/>
            <a:ext cx="868680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228600" y="3621024"/>
            <a:ext cx="868680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338328" y="3511296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Submit — The Critical Pattern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" y="3785616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CRITICAL: Always call e.preventDefault() FIRST in form submit handlers */</a:t>
            </a:r>
            <a:endParaRPr lang="en-US" sz="350" dirty="0"/>
          </a:p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Without it: the browser submits the form via HTTP → page reloads → all your JS state and DOM content is wiped */</a:t>
            </a:r>
            <a:endParaRPr lang="en-US" sz="350" dirty="0"/>
          </a:p>
          <a:p>
            <a:pPr marL="0" indent="0">
              <a:buNone/>
            </a:pPr>
            <a:endParaRPr lang="en-US" sz="350" dirty="0"/>
          </a:p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document.querySelector('#add-book-form').addEventListener('submit', async (event) =&gt; {</a:t>
            </a:r>
            <a:endParaRPr lang="en-US" sz="350" dirty="0"/>
          </a:p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event.preventDefault();     // ← MUST BE FIRST. Stops the default HTTP form submission.</a:t>
            </a:r>
            <a:endParaRPr lang="en-US" sz="350" dirty="0"/>
          </a:p>
          <a:p>
            <a:pPr marL="0" indent="0">
              <a:buNone/>
            </a:pPr>
            <a:endParaRPr lang="en-US" sz="350" dirty="0"/>
          </a:p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Now safely read the form values:</a:t>
            </a:r>
            <a:endParaRPr lang="en-US" sz="350" dirty="0"/>
          </a:p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formData = new FormData(event.target);   // event.target = the form element</a:t>
            </a:r>
            <a:endParaRPr lang="en-US" sz="350" dirty="0"/>
          </a:p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title    = formData.get('title');        // reads input[name="title"]</a:t>
            </a:r>
            <a:endParaRPr lang="en-US" sz="350" dirty="0"/>
          </a:p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year     = parseInt(formData.get('year')); // parseInt converts "2008" string to number 2008</a:t>
            </a:r>
            <a:endParaRPr lang="en-US" sz="350" dirty="0"/>
          </a:p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author   = formData.get('author');</a:t>
            </a:r>
            <a:endParaRPr lang="en-US" sz="350" dirty="0"/>
          </a:p>
          <a:p>
            <a:pPr marL="0" indent="0">
              <a:buNone/>
            </a:pPr>
            <a:endParaRPr lang="en-US" sz="350" dirty="0"/>
          </a:p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Or read directly from DOM:</a:t>
            </a:r>
            <a:endParaRPr lang="en-US" sz="350" dirty="0"/>
          </a:p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title2 = document.querySelector('#input-title').value;</a:t>
            </a:r>
            <a:endParaRPr lang="en-US" sz="350" dirty="0"/>
          </a:p>
          <a:p>
            <a:pPr marL="0" indent="0">
              <a:buNone/>
            </a:pPr>
            <a:endParaRPr lang="en-US" sz="350" dirty="0"/>
          </a:p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createBook({ title, year, author });</a:t>
            </a:r>
            <a:endParaRPr lang="en-US" sz="350" dirty="0"/>
          </a:p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event.target.reset();  // clears all form fields after submission</a:t>
            </a:r>
            <a:endParaRPr lang="en-US" sz="350" dirty="0"/>
          </a:p>
          <a:p>
            <a:pPr marL="0" indent="0">
              <a:buNone/>
            </a:pPr>
            <a:r>
              <a:rPr lang="en-US" sz="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 — Handling Dynamic Elements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on a parent element to handle events from children that may not exist yet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Dynamic Content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PROBLEM: You add event listeners to book cards,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but new cards are added by JavaScript AFTER the listener is set.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THIS DOES NOT WORK for dynamically added cards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cards = document.querySelectorAll('.book-card');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cards.forEach(card =&gt;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card.addEventListener('click', handleClick);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querySelectorAll captures elements that exist RIGHT NOW.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 you add a new card later, it has NO listener attached.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SOLUTION: Event Delegation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ONE listener to the PARENT (the grid).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Events BUBBLE UP from child to parent.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inside the handler which child was clicked.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grid = document.getElementById('books-grid');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grid.addEventListener('click', (event) =&gt;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event.target = the element that was actually clicked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It might be the grid, a card, a button, an h3...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Use .closest() to find the card ancestor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card = event.target.closest('.book-card');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(!card) return;  // clicked somewhere outside a card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bookId = card.dataset.bookId;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Check what was clicked inside the card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(event.target.closest('.btn-delete'))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deleteBook(bookId);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if (event.target.closest('.btn-toggle'))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isAvailable = card.dataset.available === 'true';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toggleAvailability(bookId, isAvailable);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50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&amp; Other Input Events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164336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LIVE SEARCH — filter as user types ───────────────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allBooks = [];  // cache full list here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document.querySelector('#search')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.addEventListener('input', (event) =&gt;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term = event.target.value.toLowerCase().trim();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(!term)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renderBooks(allBooks);  // empty search = show all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filtered = allBooks.filter(book =&gt;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book.title.toLowerCase().includes(term) ||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book.genre.toLowerCase().includes(term) ||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(book.author?.fullName ?? '').toLowerCase().includes(term)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renderBooks(filtered);  // re-render with matches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GENRE DROPDOWN ────────────────────────────────────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document.querySelector('#genre-filter')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.addEventListener('change', (event) =&gt;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genre = event.target.value;  // selected option value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filtered = genre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? allBooks.filter(b =&gt; b.genre === genre)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: allBooks;  // empty string = "All Genres"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renderBooks(filtered);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DEBOUNCE — wait for user to stop typing ───────────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debounce: fires on EVERY keystroke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debounce: fires only after 300ms of no typing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searchTimeout;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searchInput.addEventListener('input', (e) =&gt;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clearTimeout(searchTimeout);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searchTimeout = setTimeout(() =&gt;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fetchBooksFromAPI(e.target.value);  // API call, not local filter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300);  // 300ms delay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347472" y="45902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bubbling: click fires on the element clicked, then on its parent, then grandparent, all the way to document. Delegation uses this. event.stopPropagation() stops the bubble if needed.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0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8580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 — FETCH 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HTTP Requests from JavaScript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• POST • PATCH • DELETE • Error Handling • Async/Await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— Making HTTP Requests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is JavaScript's built-in way to send HTTP requests — same verbs as Postman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fetch() Works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fetch() is Promise-based and non-blocking.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 you call fetch(), JavaScript: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Sends the HTTP request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Returns a Promise immediately (not the response yet)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When response arrives, the Promise resolves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GET REQUEST ─────────────────────────────────────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loadBooks()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await fetch('http://localhost:5000/api/books');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await pauses until HTTP response arrives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response = a Response object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response.ok    — true if status 200-299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response.status — the HTTP status code (200, 404, 500)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CRITICAL: fetch() does NOT throw on 404 or 500!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(!response.ok)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Error(`HTTP ${response.status}`);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Parse the JSON body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books = await response.json();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books is now a JS array: [{id:1, title:"Clean Code",...}]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books;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response.json()     — parse as JSON (most common)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response.text()     — parse as plain text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response.blob()     — parse as binary (images)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CRUD Operations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204722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 = 'http://localhost:5000/api';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GET — read data ───────────────────────────────────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   = await fetch(`${API}/books`);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books = await res.json();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with query params: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res2 = await fetch(`${API}/books/search?genre=Fiction`);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POST — create new resource ────────────────────────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res3 = await fetch(`${API}/books`, {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method:  'POST',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'Content-Type': 'application/json',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REQUIRED — tells server the body is JSON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Without this: ASP.NET Core gets a null body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JSON.stringify({   // JS object → JSON string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    'Dune',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author:    'Frank Herbert',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genre:     'Fiction',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year:      1965,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available: true,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res3.status === 201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res3.headers.get("Location") has new resource URL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PUT — full replace ────────────────────────────────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fetch(`${API}/books/1`, {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method:  'PUT',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 'Content-Type': 'application/json' },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JSON.stringify({ title: "New Title", ...allFields }),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PATCH — partial update ────────────────────────────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fetch(`${API}/books/1`, {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method:  'PATCH',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 'Content-Type': 'application/json' },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JSON.stringify({ available: false }),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DELETE — remove ───────────────────────────────────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fetch(`${API}/books/1`, { method: 'DELETE' });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body needed. Expect 204 No Content.</a:t>
            </a:r>
            <a:endParaRPr lang="en-US" sz="480" dirty="0"/>
          </a:p>
        </p:txBody>
      </p:sp>
      <p:sp>
        <p:nvSpPr>
          <p:cNvPr id="20" name="Shape 18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347472" y="45902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JSON.stringify() the body for POST/PUT/PATCH. Always set Content-Type: application/json. Without these, ASP.NET Core receives a null body.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— Error Handling &amp; Complete Pattern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only throws on network failure. You must check res.ok for HTTP errors.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Error Handling Pattern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WHAT CAN GO WRONG ────────────────────────────────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Network error  — server unreachable → fetch() THROWS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HTTP error     — 400/404/500 → fetch() RESOLVES (res.ok = false)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JSON parse err — body is not JSON → res.json() THROWS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loadBooks() {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showLoading(true);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response = await fetch(`${API_BASE}/books`);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MUST check manually — fetch does not throw on 4xx/5xx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(!response.ok) {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errBody = await response.json().catch(() =&gt; null);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msg = errBody?.title ?? `HTTP Error ${response.status}`;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throw new Error(msg);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books = await response.json();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allBooks = books;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renderBooks(books);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updateStats(books);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showSuccess(`${books.length} books loaded`);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(error) {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(error.name === "TypeError") {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TypeError = network error (server not running)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showError('Cannot connect. Is dotnet run active?');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showError(`Error: ${error.message}`);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console.error("loadBooks failed:", error);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finally {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showLoading(false); // ALWAYS runs — even on error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With Validation Errors + Loading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128016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POST WITH VALIDATION ERRORS ──────────────────────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createBook(data) {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fetch(`${API_BASE}/books`, {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'POST',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{ 'Content-Type': 'application/json' },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JSON.stringify(data),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(res.status === 400) {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ASP.NET returns: { errors: { Title: ["required"] } }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body = await res.json();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msgs = Object.values(body.errors ?? {}).flat();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showError(msgs.join(" | "));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(!res.ok) throw new Error(`HTTP ${res.status}`);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DISABLE BUTTON DURING REQUEST ────────────────────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createBook(data) {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btn = document.querySelector('#add-btn');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btn.disabled    = true;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btn.textContent = 'Adding...';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submitData(data);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finally {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btn.disabled    = false;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btn.textContent = 'Add Book';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finally ensures button re-enables even if error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480" dirty="0"/>
          </a:p>
          <a:p>
            <a:pPr marL="0" indent="0">
              <a:buNone/>
            </a:pP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LOADING SPINNER ──────────────────────────────────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showLoading(show) {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spinner = document.getElementById('spinner');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grid    = document.getElementById('books-grid');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(show) {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grid.innerHTML = "";        // clear old cards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spinner.style.display = "flex";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spinner.style.display = "none";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480" dirty="0"/>
          </a:p>
          <a:p>
            <a:pPr marL="0" indent="0">
              <a:buNone/>
            </a:pPr>
            <a:r>
              <a:rPr lang="en-US" sz="4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480" dirty="0"/>
          </a:p>
        </p:txBody>
      </p:sp>
      <p:sp>
        <p:nvSpPr>
          <p:cNvPr id="20" name="Shape 18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347472" y="45902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res.ok before calling res.json(). A 400/404/500 response resolves the fetch() promise — it does NOT throw. Only actual network failures throw.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0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8580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 — TOAST NOTIFICATIONS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User Feedback Without Alert()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reusable, animated notification system from scratch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 — Why &amp; What They Are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"toast" is a small pop-up that slides in, shows a message, then auto-dismisses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Use alert()?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alert("Book added!") — the browser built-in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alert("Book added!");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Blocks ALL JavaScript execution until dismissed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User MUST click OK before anything else happens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Looks terrible — plain system dialog, ugly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Cannot be styled at all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Cannot auto-dismiss after a timeout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Cannot show multiple notifications at once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Annoying on mobile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console.log() — only shows in DevTools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console.log("Book added!");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Users never see this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SOLUTION: Build a toast notification system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Slides in from the corner with animation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Colour-coded (green=success, red=error, blue=info)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Auto-dismisses after 3 seconds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Multiple toasts can appear and stack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User can click to dismiss early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Fully styled — part of your brand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 once built: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showSuccess('Book added successfully!');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showError('Cannot connect to API.');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showInfo('3 books loaded from database.');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Anatomy &amp; CSS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45736" y="115824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.toast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fixed;   /* stays in place while scrolling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bottom: 1.5rem;    /* distance from bottom          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right:  1.5rem;    /* distance from right           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0.85rem 1.25rem;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10px;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font-weight: 600;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white;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min-width: 220px; max-width: 360px;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 0 8px 24px rgba(0,0,0,0.2);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z-index: 9999; /* on top of everything */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START STATE: off-screen to the right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translateX(calc(100% + 2rem));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CSS transition for the slide animation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transform 0.35s cubic-bezier(0.34,1.56,0.64,1);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cubic-bezier(0.34,1.56,0.64,1) = bounce effect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VISIBLE STATE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.toast.show { transform: translateX(0); 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COLOUR-CODED TYPES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.toast-success { background: #16A34A; } /* green 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.toast-error   { background: #DC2626; } /* red   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.toast-info    { background: #1D4ED8; } /* blue  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.toast-warning { background: #D97706; } /* amber  */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Toast HTML (created by JS — NOT in index.html):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&lt;div class="toast toast-success show"&gt;         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  Book added successfully!                      */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&lt;/div&gt;                                          */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347472" y="45902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toast element is created entirely by JavaScript — it is not in your HTML file. JavaScript creates it, adds it to the page, animates it, then removes it after 3 seconds.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 — JavaScript Implementation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create → add to page → animate → auto-dismiss → remove from DOM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showToast() — Full Implementation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118872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showToast(message, type = "success", duration = 3000) {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STEP 1: CREATE the div element in memory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toast = document.createElement("div");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toast.className = `toast toast-${type}`;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className = "toast toast-success" OR "toast toast-error" etc.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toast.textContent = message;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Optional: add an X button to close early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closeBtn = document.createElement("button");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closeBtn.textContent = "×";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closeBtn.style.cssText =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"background:none;border:none;color:white;cursor:pointer;margin-left:0.5rem;font-size:1.1rem;";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closeBtn.onclick = () =&gt; dismissToast(toast);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toast.appendChild(closeBtn);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STEP 2: ADD to the page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At this point, CSS puts it off-screen (translateX 100%+)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document.body.appendChild(toast);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STEP 3: TRIGGER the slide-in animation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We need a tiny delay (10ms) so the browser has registered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the initial off-screen position before we change it.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Without this delay: both states render in the same frame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and the animation never plays — toast just appears instantly.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 =&gt; toast.classList.add("show"), 10);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STEP 4: AUTO-DISMISS after "duration" ms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timer = setTimeout(() =&gt; dismissToast(toast), duration);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STEP 5: Allow clicking the toast to dismiss early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toast.addEventListener("click", () =&gt;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clearTimeout(timer);  // cancel the auto-dismiss timer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dismissToast(toast);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dismissToast(toast) {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toast.classList.remove("show"); // triggers slide-out CSS transition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Wait for the transition (350ms) to finish before removing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 =&gt; toast.remove(), 400);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0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Wrappers &amp; Usage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4588" y="1210056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CONVENIENCE WRAPPERS ─────────────────────────────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 these from anywhere in your code: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showSuccess = (msg) =&gt; showToast(msg, "success");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showError   = (msg) =&gt; showToast(msg, "error");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showInfo    = (msg) =&gt; showToast(msg, "info");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showWarning = (msg) =&gt; showToast(msg, "warning");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USAGE IN YOUR FETCH FUNCTIONS ────────────────────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createBook(data)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fetch(`${API_BASE}/books`,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method: "POST",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headers: { "Content-Type": "application/json"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JSON.stringify(data)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(!res.ok) throw new Error(`HTTP ${res.status}`);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showSuccess('Book added successfully!');  // ← green toast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loadBooks();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showError('Failed to add book. Is the API running?'); // ← red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deleteBook(id)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(!confirm("Delete this book?")) return;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fetch(`${API_BASE}/books/${id}`, { method: "DELETE" });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showSuccess('Book deleted.');              // ← green toast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loadBooks();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WHERE TO PUT THE CODE ─────────────────────────────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showToast() and dismissToast() go in app.js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.toast CSS goes in style.css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changes needed in index.html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Toasts are created and destroyed by JS only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347472" y="45902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10ms delay in setTimeout(() =&gt; toast.classList.add("show"), 10) is the most important line. The browser needs one frame to register the starting position before animating to the end position.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0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8580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09 — CORS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Cross-Origin Resource Sharing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browser blocks, how ASP.NET Core allows it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— Why It Blocks &amp; How to Fix It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is a BROWSER security feature — not a bug. Postman ignores it because Postman is not a browser.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987552"/>
            <a:ext cx="4251960" cy="233172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22860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3832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CORS Is &amp; Why It Exists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4069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SAME-ORIGIN POLICY (SOP):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 browser security rule: JavaScript running on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http://127.0.0.1:5500 (your HTML frontend)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CANNOT make requests to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http://localhost:5000 (your API)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unless the SERVER explicitly allows it.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An "origin" = scheme + host + port: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http://127.0.0.1:5500  ← origin of your HTML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http://localhost:5000   ← different origin (different host+port)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WHY? Without SOP, any website you visit could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make API calls to your bank using your cookies.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e.g., evil.com → fetch("bank.com/transfer?to=hacker")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CORS = a mechanism for servers to GRANT EXCEPTIONS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 the Same-Origin Policy.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 server adds a response header: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Access-Control-Allow-Origin: http://127.0.0.1:5500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 browser sees this and ALLOWS the request.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Without this header → CORS ERROR in browser console. */</a:t>
            </a:r>
            <a:endParaRPr lang="en-US" sz="50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51960" cy="233172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5196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5196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773168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Preflight Works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1280160"/>
            <a:ext cx="4069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For "non-simple" requests (POST with JSON body),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 browser sends an OPTIONS request FIRST (preflight).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It asks: "Hey server, can I send this?"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If server says yes → actual request is sent.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PREFLIGHT REQUEST: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OPTIONS /api/books HTTP/1.1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Origin: http://127.0.0.1:5500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Access-Control-Request-Method: POST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Access-Control-Request-Headers: Content-Type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PREFLIGHT RESPONSE (ASP.NET Core handles this):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HTTP/1.1 204 No Content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Access-Control-Allow-Origin: http://127.0.0.1:5500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Access-Control-Allow-Methods: POST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Access-Control-Allow-Headers: Content-Type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Then the ACTUAL POST is sent.</a:t>
            </a:r>
            <a:endParaRPr lang="en-US" sz="550" dirty="0"/>
          </a:p>
          <a:p>
            <a:pPr marL="0" indent="0">
              <a:buNone/>
            </a:pP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You can SEE this in Chrome DevTools Network tab: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First request: OPTIONS (method column)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Second request: POST (the real one)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If OPTIONS returns 404 or has no CORS headers → error. */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228600" y="3401568"/>
            <a:ext cx="8686800" cy="132588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228600" y="3401568"/>
            <a:ext cx="868680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228600" y="3529584"/>
            <a:ext cx="868680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338328" y="3419856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— Complete CORS Setup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605022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Register the CORS policy (before builder.Build())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builder.Services.AddCors(options =&gt; {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options.AddPolicy("AllowFrontend", policy =&gt; {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policy.WithOrigins(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"http://127.0.0.1:5500",   // VS Code Live Server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"http://localhost:5500",    // alternate Live Server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"http://localhost:3000"     // React (Day 9-10)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)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.AllowAnyHeader()             // Content-Type, Authorization, etc.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.AllowAnyMethod();            // GET, POST, PUT, PATCH, DELETE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300" dirty="0"/>
          </a:p>
          <a:p>
            <a:pPr marL="0" indent="0">
              <a:buNone/>
            </a:pP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Apply the middleware (after builder.Build(), BEFORE app.MapControllers())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app.UseCors("AllowFrontend");   // ← ORDER MATTERS. Before UseAuthorization().</a:t>
            </a:r>
            <a:endParaRPr lang="en-US" sz="300" dirty="0"/>
          </a:p>
          <a:p>
            <a:pPr marL="0" indent="0">
              <a:buNone/>
            </a:pP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 in Chrome DevTools Console: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fetch('http://localhost:5000/api/books').then(r =&gt; r.json()).then(console.log)</a:t>
            </a:r>
            <a:endParaRPr lang="en-US" sz="300" dirty="0"/>
          </a:p>
          <a:p>
            <a:pPr marL="0" indent="0">
              <a:buNone/>
            </a:pPr>
            <a:r>
              <a:rPr lang="en-US" sz="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you see data → CORS works. If you see "blocked by CORS" → check step 2.</a:t>
            </a:r>
            <a:endParaRPr lang="en-US" sz="300" dirty="0"/>
          </a:p>
        </p:txBody>
      </p:sp>
      <p:sp>
        <p:nvSpPr>
          <p:cNvPr id="25" name="Shape 23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347472" y="45902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works without CORS because Postman is not a browser — it has no Same-Origin Policy. Always test the browser too, not just Postman.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118872"/>
            <a:ext cx="9144000" cy="566928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274320" y="155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ACTIVITY  —  25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93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Frontend to LibraryApi — Full DOM + Fetch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822960"/>
            <a:ext cx="8686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Replace hardcoded cards with real PostgreSQL data. Wire up all interactions.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PRE-CHECK: dotnet run is active in a separate terminal (LibraryApi from Day 7)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CORS is configured in Program.cs for http://127.0.0.1:5500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— write these functions: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const API_BASE = 'http://localhost:5000/api';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let allBooks = [];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async function loadBooks() {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showLoading(true);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try {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const res = await fetch(API_BASE + '/books');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if (!res.ok) throw new Error('HTTP ' + res.status);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allBooks = await res.json();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renderBooks(allBooks);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} catch { showError('Cannot connect to API'); }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finally { showLoading(false); }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}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function createBookCard(book) — create a div.book-card with innerHTML using template literals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Include: genre badge, title, author, year, status, Lend button, Delete button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function renderBooks(books) — clear the grid, then forEach → appendChild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async function deleteBook(id) — confirm() + DELETE fetch + loadBooks()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 form submit event — e.preventDefault() + POST fetch with JSON body + form.reset() + loadBooks()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 search input event — filter allBooks array → renderBooks(filtered)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8. loadBooks();  ← at the bottom of app.js — runs on page load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Books load automatically. Add → appears. Delete → disappears.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Restart dotnet run → refresh browser → data still there (PostgreSQL!)</a:t>
            </a:r>
            <a:endParaRPr lang="en-US" sz="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Activity — Student Enrolment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40080"/>
            <a:ext cx="1645920" cy="3657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2743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your Day 6 PostgreSQL schema into C# EF Core entities with a console menu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0" y="164592"/>
            <a:ext cx="192024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967728" y="18288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Connects Days 6, 7 &amp; 8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987552"/>
            <a:ext cx="498348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228600" y="987552"/>
            <a:ext cx="498348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228600" y="1115568"/>
            <a:ext cx="498348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338328" y="10058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Activity Requirements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" y="128016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FROM DAY 6: You created these PostgreSQL tables: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students, programs, sections, student_sections, student_grades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And ran JOIN queries to display enrolment data.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DAY 7 TASK — Convert to C# EF Core: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1. MODEL CLASSES (convert each table to a C# class):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Student    → Models/Student.cs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Program    → Models/Program.cs  (rename: AcademicProgram)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Section    → Models/Section.cs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StudentSection → Models/StudentSection.cs  (junction table)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StudentGrade   → Models/StudentGrade.cs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2. DBCONTEXT: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Create EnrolmentContext.cs with: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• DbSet for each entity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• Fluent API for all FK relationships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• HasData() seed with 4 students, 3 programs, 4 sections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3. MENU PROGRAM (Program.cs console):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Console.WriteLine("1. Seed Data");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Console.WriteLine("2. Show Student Enrolment");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var choice = Console.ReadLine();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Option 1: Run seeding (EnsureCreated or migrations)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Option 2: Query and display student → section → program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4. SEED FUNCTION: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Replicates the Day 6 INSERT statements using HasData()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 by manually calling context.Students.Add() etc.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5. QUERY FUNCTION: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Replicates the Day 6 JOIN query: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SELECT students.*, sections.code, programs.program_name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FROM students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JOIN student_sections ON ...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JOIN sections ON ...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JOIN programs ON ...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WHERE students.enrolled = true  */</a:t>
            </a:r>
            <a:endParaRPr lang="en-US" sz="500" dirty="0"/>
          </a:p>
        </p:txBody>
      </p:sp>
      <p:sp>
        <p:nvSpPr>
          <p:cNvPr id="17" name="Shape 15"/>
          <p:cNvSpPr/>
          <p:nvPr/>
        </p:nvSpPr>
        <p:spPr>
          <a:xfrm>
            <a:off x="5394960" y="987552"/>
            <a:ext cx="3520440" cy="3749040"/>
          </a:xfrm>
          <a:prstGeom prst="rect">
            <a:avLst/>
          </a:prstGeom>
          <a:solidFill>
            <a:srgbClr val="0E0F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5394960" y="987552"/>
            <a:ext cx="3520440" cy="25603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Shape 17"/>
          <p:cNvSpPr/>
          <p:nvPr/>
        </p:nvSpPr>
        <p:spPr>
          <a:xfrm>
            <a:off x="5394960" y="1115568"/>
            <a:ext cx="3520440" cy="128016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5504688" y="1005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Classes Quick Reference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1280160"/>
            <a:ext cx="3337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Models/Student.cs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Student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   Id         { get; set;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[Required][MaxLength(50)]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FirstName  { get; set; } = "";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[Required][MaxLength(50)]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LastName   { get; set; } = "";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[Range(1,4)]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   Year       { get; set;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Gender     { get; set; } = "";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   Enrolled   { get; set; } = true;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DateTime CreatedAt { get; set;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DateTime.UtcNow;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int? ProgramId    { get; set;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AcademicProgram? Program { get; set;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ICollection&lt;StudentSection&gt;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StudentSections { get; set; } = new List&lt;StudentSection&gt;();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ICollection&lt;StudentGrade&gt;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Grades { get; set; } = new List&lt;StudentGrade&gt;();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Models/StudentGrade.cs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StudentGrade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   Id        { get; set;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   StudentId { get; set;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Student Student  { get; set; } = null!;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[Range(0, 100)]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Grade     { get; set;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See reviewer for: AcademicProgram,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Section, StudentSection, EnrolmentContext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347472" y="45902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"Program" is a reserved keyword in C#. Name the class AcademicProgram or SchoolProgram to avoid conflicts with the Program.cs startup file.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0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118872"/>
            <a:ext cx="9144000" cy="56692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27432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2-HOUR HANDS-ON LAB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93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Day 6 (PostgreSQL schema) → Day 7 (EF Core console app) → Day 8 (Browser frontend)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822960"/>
            <a:ext cx="8686800" cy="877824"/>
          </a:xfrm>
          <a:prstGeom prst="rect">
            <a:avLst/>
          </a:prstGeom>
          <a:solidFill>
            <a:srgbClr val="0D1F3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228600" y="822960"/>
            <a:ext cx="457200" cy="87782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228600" y="822960"/>
            <a:ext cx="457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" y="9144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HTML Structure (30 minutes)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122529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wwwroot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/index.html — the student enrolment dashboard. The page needs: Sticky navbar with the school/system name. A stats bar showing: Total Students, Enrolled, Programs. A search input to filter by name. A program filter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dropdownA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year filter dropdown (Year 1 / 2 / 3 / 4). A table (not cards this time — tabular data fits a table better) showing each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studentEach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row: Full Name, Year, Gender, Program, Section, Avg Grade, Status badge  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810512"/>
            <a:ext cx="8686800" cy="877824"/>
          </a:xfrm>
          <a:prstGeom prst="rect">
            <a:avLst/>
          </a:prstGeom>
          <a:solidFill>
            <a:srgbClr val="0D1F3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228600" y="1810512"/>
            <a:ext cx="457200" cy="87782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228600" y="1810512"/>
            <a:ext cx="457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" y="19019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CSS Styling (25 minutes)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221284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wwwroot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/style.css. The main difference from the Library App: this uses a table layout instead of a card grid. Everything else uses the same design system. :root {  --red:    #CD172D;  --navy:   #0E0F30;  --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   #F1F5F9;  --white:  #FFFFFF;  --text:   #1A1A2E;  --muted:  #6B7280;  --border: #E0E0E0;  --radius: 10px;  --shadow: 0 4px 24px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(0,0,0,0.08);} 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798064"/>
            <a:ext cx="8686800" cy="877824"/>
          </a:xfrm>
          <a:prstGeom prst="rect">
            <a:avLst/>
          </a:prstGeom>
          <a:solidFill>
            <a:srgbClr val="0D1F3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228600" y="2798064"/>
            <a:ext cx="457200" cy="87782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228600" y="2798064"/>
            <a:ext cx="457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72" y="28895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JavaScript: Fetch + Render + Filter (35 minutes)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20040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wwwroot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/app.js — fetches from /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/students (relative URL, no CORS needed) and renders the table.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785616"/>
            <a:ext cx="8686800" cy="877824"/>
          </a:xfrm>
          <a:prstGeom prst="rect">
            <a:avLst/>
          </a:prstGeom>
          <a:solidFill>
            <a:srgbClr val="0D1F3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Shape 24"/>
          <p:cNvSpPr/>
          <p:nvPr/>
        </p:nvSpPr>
        <p:spPr>
          <a:xfrm>
            <a:off x="228600" y="3785616"/>
            <a:ext cx="457200" cy="87782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228600" y="3785616"/>
            <a:ext cx="457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4672" y="387705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Full Stack Verification (30 min)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" y="418795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 Network tab. Watch every fetch call. Do the persistence test: Add book → stop API → restart → still there. Open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verify data in PostgreSQL. Test all 4 parts of Day 7 activity menu from browser.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F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13F03-6380-EC4D-788D-1838904EB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C940E6-676A-0BD6-4DF6-058CADC5954D}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0648BB-E80A-AA42-8439-87D4B185AB13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EF5B6B-B12C-7374-A34D-A463CFB78C8C}"/>
              </a:ext>
            </a:extLst>
          </p:cNvPr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6AC8AC-B2AC-62FA-1DF5-32560D0A74B3}"/>
              </a:ext>
            </a:extLst>
          </p:cNvPr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70A9A3-9DF8-322F-0F43-EA975BDC5B93}"/>
              </a:ext>
            </a:extLst>
          </p:cNvPr>
          <p:cNvSpPr/>
          <p:nvPr/>
        </p:nvSpPr>
        <p:spPr>
          <a:xfrm>
            <a:off x="6583680" y="48966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AC16E3D-5AC0-5982-D8A6-4F2653D5F076}"/>
              </a:ext>
            </a:extLst>
          </p:cNvPr>
          <p:cNvSpPr/>
          <p:nvPr/>
        </p:nvSpPr>
        <p:spPr>
          <a:xfrm>
            <a:off x="0" y="118872"/>
            <a:ext cx="9144000" cy="566928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BAB69B-AD84-1C1B-2760-CC7C6A49D76D}"/>
              </a:ext>
            </a:extLst>
          </p:cNvPr>
          <p:cNvSpPr/>
          <p:nvPr/>
        </p:nvSpPr>
        <p:spPr>
          <a:xfrm>
            <a:off x="27432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2-HOUR HANDS-ON LAB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140BF50-800C-2951-0872-54C1E0654DF4}"/>
              </a:ext>
            </a:extLst>
          </p:cNvPr>
          <p:cNvSpPr/>
          <p:nvPr/>
        </p:nvSpPr>
        <p:spPr>
          <a:xfrm>
            <a:off x="274320" y="393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Day 6 (PostgreSQL schema) → Day 7 (EF Core console app) → Day 8 (Browser frontend)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902544C-A10D-172B-1CBE-64EBFA68539D}"/>
              </a:ext>
            </a:extLst>
          </p:cNvPr>
          <p:cNvSpPr/>
          <p:nvPr/>
        </p:nvSpPr>
        <p:spPr>
          <a:xfrm>
            <a:off x="73152" y="810299"/>
            <a:ext cx="8965340" cy="4040593"/>
          </a:xfrm>
          <a:prstGeom prst="rect">
            <a:avLst/>
          </a:prstGeom>
          <a:solidFill>
            <a:srgbClr val="0D1F3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6EA69E5-00B7-3BC1-81C7-0DD2C7CEEFCF}"/>
              </a:ext>
            </a:extLst>
          </p:cNvPr>
          <p:cNvSpPr/>
          <p:nvPr/>
        </p:nvSpPr>
        <p:spPr>
          <a:xfrm>
            <a:off x="73152" y="804672"/>
            <a:ext cx="471860" cy="1085494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D08C28C-809F-C74C-B756-3E0ABDA6F676}"/>
              </a:ext>
            </a:extLst>
          </p:cNvPr>
          <p:cNvSpPr/>
          <p:nvPr/>
        </p:nvSpPr>
        <p:spPr>
          <a:xfrm>
            <a:off x="73152" y="804672"/>
            <a:ext cx="471860" cy="1085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90B57D4-E790-2E82-AAC8-085858679245}"/>
              </a:ext>
            </a:extLst>
          </p:cNvPr>
          <p:cNvSpPr/>
          <p:nvPr/>
        </p:nvSpPr>
        <p:spPr>
          <a:xfrm>
            <a:off x="649224" y="896112"/>
            <a:ext cx="8210364" cy="316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Full Stack Verification (30 min)</a:t>
            </a:r>
            <a:endParaRPr lang="en-US" sz="1200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FC20A1FD-7988-4F72-07D1-60D02CB89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509348"/>
              </p:ext>
            </p:extLst>
          </p:nvPr>
        </p:nvGraphicFramePr>
        <p:xfrm>
          <a:off x="1800664" y="1212714"/>
          <a:ext cx="5242632" cy="3631223"/>
        </p:xfrm>
        <a:graphic>
          <a:graphicData uri="http://schemas.openxmlformats.org/drawingml/2006/table">
            <a:tbl>
              <a:tblPr/>
              <a:tblGrid>
                <a:gridCol w="2621316">
                  <a:extLst>
                    <a:ext uri="{9D8B030D-6E8A-4147-A177-3AD203B41FA5}">
                      <a16:colId xmlns:a16="http://schemas.microsoft.com/office/drawing/2014/main" val="2983643708"/>
                    </a:ext>
                  </a:extLst>
                </a:gridCol>
                <a:gridCol w="2621316">
                  <a:extLst>
                    <a:ext uri="{9D8B030D-6E8A-4147-A177-3AD203B41FA5}">
                      <a16:colId xmlns:a16="http://schemas.microsoft.com/office/drawing/2014/main" val="3055875735"/>
                    </a:ext>
                  </a:extLst>
                </a:gridCol>
              </a:tblGrid>
              <a:tr h="22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000" dirty="0">
                          <a:solidFill>
                            <a:schemeClr val="bg1"/>
                          </a:solidFill>
                        </a:rPr>
                        <a:t>Test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000">
                          <a:solidFill>
                            <a:schemeClr val="bg1"/>
                          </a:solidFill>
                        </a:rPr>
                        <a:t>Expected result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00374"/>
                  </a:ext>
                </a:extLst>
              </a:tr>
              <a:tr h="39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0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http://localhost:5000/index.html</a:t>
                      </a:r>
                      <a:endParaRPr lang="en-PH" sz="1000" dirty="0">
                        <a:solidFill>
                          <a:schemeClr val="bg1"/>
                        </a:solidFill>
                      </a:endParaRP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Page loads, spinner shows briefly, table populates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540743"/>
                  </a:ext>
                </a:extLst>
              </a:tr>
              <a:tr h="39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000">
                          <a:solidFill>
                            <a:schemeClr val="bg1"/>
                          </a:solidFill>
                        </a:rPr>
                        <a:t>Stats bar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Total = 4, Enrolled = 4, Programs = 3, Avg Grade = average of all grades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329000"/>
                  </a:ext>
                </a:extLst>
              </a:tr>
              <a:tr h="22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000">
                          <a:solidFill>
                            <a:schemeClr val="bg1"/>
                          </a:solidFill>
                        </a:rPr>
                        <a:t>Type "ana" in search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Only Ana Reyes row shows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438122"/>
                  </a:ext>
                </a:extLst>
              </a:tr>
              <a:tr h="39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Select "Computer Science" in program filter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000">
                          <a:solidFill>
                            <a:schemeClr val="bg1"/>
                          </a:solidFill>
                        </a:rPr>
                        <a:t>Only CS students show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283464"/>
                  </a:ext>
                </a:extLst>
              </a:tr>
              <a:tr h="22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Select "Year 2" in year filter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Only Year 2 students show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521594"/>
                  </a:ext>
                </a:extLst>
              </a:tr>
              <a:tr h="22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000">
                          <a:solidFill>
                            <a:schemeClr val="bg1"/>
                          </a:solidFill>
                        </a:rPr>
                        <a:t>Combine search + program filter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Both filters apply at the same time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644393"/>
                  </a:ext>
                </a:extLst>
              </a:tr>
              <a:tr h="22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000">
                          <a:solidFill>
                            <a:schemeClr val="bg1"/>
                          </a:solidFill>
                        </a:rPr>
                        <a:t>Clear all filters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000">
                          <a:solidFill>
                            <a:schemeClr val="bg1"/>
                          </a:solidFill>
                        </a:rPr>
                        <a:t>All 4 students return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406985"/>
                  </a:ext>
                </a:extLst>
              </a:tr>
              <a:tr h="39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000">
                          <a:solidFill>
                            <a:schemeClr val="bg1"/>
                          </a:solidFill>
                        </a:rPr>
                        <a:t>Grade badges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85+ = green, 75–84 = amber, below 75 = red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638395"/>
                  </a:ext>
                </a:extLst>
              </a:tr>
              <a:tr h="22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Resize browser to narrow width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Table switches to stacked card layout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426091"/>
                  </a:ext>
                </a:extLst>
              </a:tr>
              <a:tr h="724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Database verification: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Open </a:t>
                      </a:r>
                      <a:r>
                        <a:rPr lang="en-US" sz="1000" dirty="0" err="1">
                          <a:solidFill>
                            <a:schemeClr val="bg1"/>
                          </a:solidFill>
                        </a:rPr>
                        <a:t>pgAdmin</a:t>
                      </a: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 → </a:t>
                      </a:r>
                      <a:r>
                        <a:rPr lang="en-US" sz="1000" dirty="0" err="1">
                          <a:solidFill>
                            <a:schemeClr val="bg1"/>
                          </a:solidFill>
                        </a:rPr>
                        <a:t>enrollmentdb</a:t>
                      </a: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 → run these queries and confirm they match what the browser shows</a:t>
                      </a:r>
                    </a:p>
                  </a:txBody>
                  <a:tcPr marL="62737" marR="62737" marT="31368" marB="31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280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14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371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Open iT, Inc. All rights reserved. | ISO/IEC 27001:2022 Certified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629400" y="4312803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SUMMER  BOOTCAMP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CD172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0" y="18288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Shape 8"/>
          <p:cNvSpPr/>
          <p:nvPr/>
        </p:nvSpPr>
        <p:spPr>
          <a:xfrm>
            <a:off x="0" y="36576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0" y="54864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0" y="73152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0" y="91440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0" y="109728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Shape 13"/>
          <p:cNvSpPr/>
          <p:nvPr/>
        </p:nvSpPr>
        <p:spPr>
          <a:xfrm>
            <a:off x="0" y="128016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0" y="146304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0" y="164592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0" y="182880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Shape 17"/>
          <p:cNvSpPr/>
          <p:nvPr/>
        </p:nvSpPr>
        <p:spPr>
          <a:xfrm>
            <a:off x="0" y="201168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Shape 18"/>
          <p:cNvSpPr/>
          <p:nvPr/>
        </p:nvSpPr>
        <p:spPr>
          <a:xfrm>
            <a:off x="0" y="219456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0" y="237744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0" y="256032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Shape 21"/>
          <p:cNvSpPr/>
          <p:nvPr/>
        </p:nvSpPr>
        <p:spPr>
          <a:xfrm>
            <a:off x="0" y="274320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4" name="Shape 22"/>
          <p:cNvSpPr/>
          <p:nvPr/>
        </p:nvSpPr>
        <p:spPr>
          <a:xfrm>
            <a:off x="0" y="292608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5" name="Shape 23"/>
          <p:cNvSpPr/>
          <p:nvPr/>
        </p:nvSpPr>
        <p:spPr>
          <a:xfrm>
            <a:off x="0" y="310896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Shape 24"/>
          <p:cNvSpPr/>
          <p:nvPr/>
        </p:nvSpPr>
        <p:spPr>
          <a:xfrm>
            <a:off x="0" y="329184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7" name="Shape 25"/>
          <p:cNvSpPr/>
          <p:nvPr/>
        </p:nvSpPr>
        <p:spPr>
          <a:xfrm>
            <a:off x="0" y="347472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8" name="Shape 26"/>
          <p:cNvSpPr/>
          <p:nvPr/>
        </p:nvSpPr>
        <p:spPr>
          <a:xfrm>
            <a:off x="0" y="365760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9" name="Shape 27"/>
          <p:cNvSpPr/>
          <p:nvPr/>
        </p:nvSpPr>
        <p:spPr>
          <a:xfrm>
            <a:off x="0" y="384048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Shape 28"/>
          <p:cNvSpPr/>
          <p:nvPr/>
        </p:nvSpPr>
        <p:spPr>
          <a:xfrm>
            <a:off x="0" y="402336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1" name="Shape 29"/>
          <p:cNvSpPr/>
          <p:nvPr/>
        </p:nvSpPr>
        <p:spPr>
          <a:xfrm>
            <a:off x="0" y="420624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2" name="Shape 30"/>
          <p:cNvSpPr/>
          <p:nvPr/>
        </p:nvSpPr>
        <p:spPr>
          <a:xfrm>
            <a:off x="0" y="438912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3" name="Shape 31"/>
          <p:cNvSpPr/>
          <p:nvPr/>
        </p:nvSpPr>
        <p:spPr>
          <a:xfrm>
            <a:off x="0" y="457200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2286000" cy="9144"/>
          </a:xfrm>
          <a:prstGeom prst="rect">
            <a:avLst/>
          </a:prstGeom>
          <a:solidFill>
            <a:srgbClr val="9B112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6" name="Text 34"/>
          <p:cNvSpPr/>
          <p:nvPr/>
        </p:nvSpPr>
        <p:spPr>
          <a:xfrm>
            <a:off x="137160" y="914400"/>
            <a:ext cx="20299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References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&amp; Further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Reading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3716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68880" y="376311"/>
            <a:ext cx="64922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9" name="Text 37"/>
          <p:cNvSpPr/>
          <p:nvPr/>
        </p:nvSpPr>
        <p:spPr>
          <a:xfrm>
            <a:off x="2532888" y="449463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26080" y="412887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Living Standard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26080" y="614055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WHATWG  ·  html.spec.whatwg.org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468880" y="851799"/>
            <a:ext cx="6492240" cy="4297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3" name="Text 41"/>
          <p:cNvSpPr/>
          <p:nvPr/>
        </p:nvSpPr>
        <p:spPr>
          <a:xfrm>
            <a:off x="2532888" y="924951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926080" y="88837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Reference — MDN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926080" y="1089543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developer.mozilla.org  ·  developer.mozilla.org/en-US/docs/Web/CSS/Reference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468880" y="1327287"/>
            <a:ext cx="64922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7" name="Text 45"/>
          <p:cNvSpPr/>
          <p:nvPr/>
        </p:nvSpPr>
        <p:spPr>
          <a:xfrm>
            <a:off x="2532888" y="1400439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926080" y="1363863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API — MDN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926080" y="1565031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developer.mozilla.org  ·  developer.mozilla.org/en-US/docs/Web/API/Document_Object_Model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468880" y="1802775"/>
            <a:ext cx="6492240" cy="4297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1" name="Text 49"/>
          <p:cNvSpPr/>
          <p:nvPr/>
        </p:nvSpPr>
        <p:spPr>
          <a:xfrm>
            <a:off x="2532888" y="1875927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926080" y="1839351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— MDN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926080" y="2040519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developer.mozilla.org  ·  developer.mozilla.org/en-US/docs/Web/API/Fetch_API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468880" y="2278263"/>
            <a:ext cx="64922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5" name="Text 53"/>
          <p:cNvSpPr/>
          <p:nvPr/>
        </p:nvSpPr>
        <p:spPr>
          <a:xfrm>
            <a:off x="2532888" y="2351415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926080" y="2314839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— Complete Guide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926080" y="2516007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CSS-Tricks  ·  css-tricks.com/snippets/css/complete-guide-grid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468880" y="2753751"/>
            <a:ext cx="6492240" cy="4297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9" name="Text 57"/>
          <p:cNvSpPr/>
          <p:nvPr/>
        </p:nvSpPr>
        <p:spPr>
          <a:xfrm>
            <a:off x="2532888" y="2826903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926080" y="2790327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 — Complete Guide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926080" y="2991495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CSS-Tricks  ·  css-tricks.com/snippets/css/a-guide-to-flexbox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468880" y="3229239"/>
            <a:ext cx="64922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3" name="Text 61"/>
          <p:cNvSpPr/>
          <p:nvPr/>
        </p:nvSpPr>
        <p:spPr>
          <a:xfrm>
            <a:off x="2532888" y="3302391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926080" y="32658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in ASP.NET Core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926080" y="3466983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Docs  ·  learn.microsoft.com/aspnet/core/security/cors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468880" y="3704727"/>
            <a:ext cx="6492240" cy="4297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7" name="Text 65"/>
          <p:cNvSpPr/>
          <p:nvPr/>
        </p:nvSpPr>
        <p:spPr>
          <a:xfrm>
            <a:off x="2532888" y="3777879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926080" y="3741303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— MDN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2926080" y="3942471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developer.mozilla.org  ·  developer.mozilla.org/en-US/docs/Web/API/EventTarget/addEventListener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468880" y="4180215"/>
            <a:ext cx="64922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1" name="Text 69"/>
          <p:cNvSpPr/>
          <p:nvPr/>
        </p:nvSpPr>
        <p:spPr>
          <a:xfrm>
            <a:off x="2532888" y="4253367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D1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926080" y="4216791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0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Live Server Extension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926080" y="4417959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marketplace.visualstudio.com  ·  Ritwick Dey — right-click index.html → Open with Live Server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14054</Words>
  <Application>Microsoft Office PowerPoint</Application>
  <PresentationFormat>On-screen Show (16:9)</PresentationFormat>
  <Paragraphs>1873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Black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Alexander Maralit</cp:lastModifiedBy>
  <cp:revision>7</cp:revision>
  <dcterms:created xsi:type="dcterms:W3CDTF">2026-05-12T19:22:11Z</dcterms:created>
  <dcterms:modified xsi:type="dcterms:W3CDTF">2026-05-13T05:02:47Z</dcterms:modified>
</cp:coreProperties>
</file>